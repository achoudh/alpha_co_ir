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11" r:id="rId50"/>
    <p:sldId id="307" r:id="rId51"/>
    <p:sldId id="30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0E470E7-932E-4312-B43D-6B1A3023FDD4}">
          <p14:sldIdLst>
            <p14:sldId id="256"/>
            <p14:sldId id="257"/>
            <p14:sldId id="258"/>
            <p14:sldId id="259"/>
            <p14:sldId id="260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onvergence test periodic boundary" id="{C4E8E7E6-8AC1-44A3-AE0D-1B64905C0DEA}">
          <p14:sldIdLst>
            <p14:sldId id="280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Interaction cut off radius" id="{3413A47D-7F2B-463C-8D74-DE9B7704671C}">
          <p14:sldIdLst>
            <p14:sldId id="293"/>
          </p14:sldIdLst>
        </p14:section>
        <p14:section name="Testing of time of force calculation" id="{A4FCF94F-9D4C-4911-8C5F-A3764E8CB44D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11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 autoAdjust="0"/>
    <p:restoredTop sz="92885" autoAdjust="0"/>
  </p:normalViewPr>
  <p:slideViewPr>
    <p:cSldViewPr snapToGrid="0" showGuides="1">
      <p:cViewPr>
        <p:scale>
          <a:sx n="66" d="100"/>
          <a:sy n="66" d="100"/>
        </p:scale>
        <p:origin x="484" y="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1min 16s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85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6B2A-FA9D-961D-F182-96A4D8FB5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4336C-0FF0-C39F-2797-2A0AB805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8BCBD-3916-CE67-CFDD-369768221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6 min 51s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D482-8D21-87DF-D7B6-061596ED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757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CB16-EA5A-FF36-2FBD-39AD253A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F4B89-1681-CB25-5ECF-C0627D6D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5C598-783A-F748-2B2A-69D348948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12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B768A-97BD-444F-7E24-6C294BE26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347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2CFE9-9F5C-4CCE-9E95-E1E8A56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64A8A-BC63-DDB8-4BC0-B705592C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B13A-DFFB-A6ED-8E77-B968C2B3D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34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CC0A0-8EF7-2F9E-E454-20C7E462C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12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46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5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51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449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226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677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laptop: takes about 1 min to calc.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If r12 &gt;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interaction_cut_off_radius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interaction is switched off -&gt; ( [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(dot(eu[n1][:], eu[n2][:]) - 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*dot(en, eu[n1][:])*dot(en, eu[n2][:])) / r12^</a:t>
            </a:r>
            <a:r>
              <a:rPr lang="pt-B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is set to 0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en-US" dirty="0"/>
              <a:t>Does not make sense, as the periodic boundary conditions anyhow gives a maximum interaction radius of box-length / 2.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632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1075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for</a:t>
            </a:r>
            <a:r>
              <a:rPr lang="de-DE" dirty="0"/>
              <a:t> 40x40x10 large </a:t>
            </a:r>
            <a:r>
              <a:rPr lang="de-DE" dirty="0" err="1"/>
              <a:t>sim</a:t>
            </a:r>
            <a:r>
              <a:rPr lang="de-DE" dirty="0"/>
              <a:t> box: t=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972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Does</a:t>
            </a:r>
            <a:r>
              <a:rPr lang="de-DE" dirty="0"/>
              <a:t>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difference</a:t>
            </a:r>
            <a:r>
              <a:rPr lang="de-DE" dirty="0"/>
              <a:t> in </a:t>
            </a:r>
            <a:r>
              <a:rPr lang="de-DE" dirty="0" err="1"/>
              <a:t>ir_spectra_centre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29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749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17-01-2025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tmp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tmp"/><Relationship Id="rId3" Type="http://schemas.openxmlformats.org/officeDocument/2006/relationships/image" Target="../media/image57.tmp"/><Relationship Id="rId7" Type="http://schemas.openxmlformats.org/officeDocument/2006/relationships/image" Target="../media/image61.tmp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tmp"/><Relationship Id="rId5" Type="http://schemas.openxmlformats.org/officeDocument/2006/relationships/image" Target="../media/image59.tmp"/><Relationship Id="rId4" Type="http://schemas.openxmlformats.org/officeDocument/2006/relationships/image" Target="../media/image58.tmp"/><Relationship Id="rId9" Type="http://schemas.openxmlformats.org/officeDocument/2006/relationships/image" Target="../media/image63.tmp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tmp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6.tmp"/><Relationship Id="rId4" Type="http://schemas.openxmlformats.org/officeDocument/2006/relationships/image" Target="../media/image65.tmp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tmp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tm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tmp"/><Relationship Id="rId7" Type="http://schemas.openxmlformats.org/officeDocument/2006/relationships/image" Target="../media/image74.tmp"/><Relationship Id="rId2" Type="http://schemas.openxmlformats.org/officeDocument/2006/relationships/image" Target="../media/image70.tmp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tmp"/><Relationship Id="rId5" Type="http://schemas.openxmlformats.org/officeDocument/2006/relationships/image" Target="../media/image69.tmp"/><Relationship Id="rId4" Type="http://schemas.openxmlformats.org/officeDocument/2006/relationships/image" Target="../media/image72.tmp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tmp"/><Relationship Id="rId2" Type="http://schemas.openxmlformats.org/officeDocument/2006/relationships/image" Target="../media/image75.tmp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tmp"/><Relationship Id="rId5" Type="http://schemas.openxmlformats.org/officeDocument/2006/relationships/image" Target="../media/image69.tmp"/><Relationship Id="rId4" Type="http://schemas.openxmlformats.org/officeDocument/2006/relationships/image" Target="../media/image77.tmp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tmp"/><Relationship Id="rId3" Type="http://schemas.openxmlformats.org/officeDocument/2006/relationships/image" Target="../media/image79.tmp"/><Relationship Id="rId7" Type="http://schemas.openxmlformats.org/officeDocument/2006/relationships/image" Target="../media/image83.tmp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tmp"/><Relationship Id="rId5" Type="http://schemas.openxmlformats.org/officeDocument/2006/relationships/image" Target="../media/image81.tmp"/><Relationship Id="rId10" Type="http://schemas.openxmlformats.org/officeDocument/2006/relationships/image" Target="../media/image86.tmp"/><Relationship Id="rId4" Type="http://schemas.openxmlformats.org/officeDocument/2006/relationships/image" Target="../media/image80.tmp"/><Relationship Id="rId9" Type="http://schemas.openxmlformats.org/officeDocument/2006/relationships/image" Target="../media/image85.tmp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tmp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7.tmp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tmp"/><Relationship Id="rId2" Type="http://schemas.openxmlformats.org/officeDocument/2006/relationships/image" Target="../media/image88.tmp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tmp"/><Relationship Id="rId2" Type="http://schemas.openxmlformats.org/officeDocument/2006/relationships/image" Target="../media/image90.tmp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8.tmp"/><Relationship Id="rId4" Type="http://schemas.openxmlformats.org/officeDocument/2006/relationships/image" Target="../media/image97.tmp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tmp"/><Relationship Id="rId3" Type="http://schemas.openxmlformats.org/officeDocument/2006/relationships/image" Target="../media/image99.tmp"/><Relationship Id="rId7" Type="http://schemas.openxmlformats.org/officeDocument/2006/relationships/image" Target="../media/image103.tmp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tmp"/><Relationship Id="rId5" Type="http://schemas.openxmlformats.org/officeDocument/2006/relationships/image" Target="../media/image101.tmp"/><Relationship Id="rId4" Type="http://schemas.openxmlformats.org/officeDocument/2006/relationships/image" Target="../media/image100.tm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7" Type="http://schemas.openxmlformats.org/officeDocument/2006/relationships/image" Target="../media/image128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0137-DC67-9E6F-8602-3B57C6F949B9}"/>
              </a:ext>
            </a:extLst>
          </p:cNvPr>
          <p:cNvSpPr txBox="1"/>
          <p:nvPr/>
        </p:nvSpPr>
        <p:spPr>
          <a:xfrm>
            <a:off x="267129" y="186892"/>
            <a:ext cx="77364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  <a:p>
            <a:br>
              <a:rPr lang="en-US" dirty="0"/>
            </a:br>
            <a:r>
              <a:rPr lang="el-GR" dirty="0"/>
              <a:t>ν0 = 2136.97</a:t>
            </a:r>
            <a:endParaRPr lang="en-US" dirty="0"/>
          </a:p>
          <a:p>
            <a:r>
              <a:rPr lang="en-US" dirty="0"/>
              <a:t>43° </a:t>
            </a:r>
            <a:r>
              <a:rPr lang="en-US" dirty="0" err="1"/>
              <a:t>inc</a:t>
            </a:r>
            <a:br>
              <a:rPr lang="en-US" dirty="0"/>
            </a:br>
            <a:r>
              <a:rPr lang="el-GR" dirty="0"/>
              <a:t>α = 0*</a:t>
            </a:r>
            <a:r>
              <a:rPr lang="en-US" dirty="0"/>
              <a:t>degrees </a:t>
            </a:r>
          </a:p>
          <a:p>
            <a:endParaRPr lang="en-US" dirty="0"/>
          </a:p>
        </p:txBody>
      </p:sp>
      <p:pic>
        <p:nvPicPr>
          <p:cNvPr id="6" name="Picture 5" descr="A graph of a graph&#10;&#10;Description automatically generated">
            <a:extLst>
              <a:ext uri="{FF2B5EF4-FFF2-40B4-BE49-F238E27FC236}">
                <a16:creationId xmlns:a16="http://schemas.microsoft.com/office/drawing/2014/main" id="{3CC08F09-43EA-D5E8-564D-0D84DF7CC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829" y="498320"/>
            <a:ext cx="8598342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601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6FA3-D855-B3C2-DC5E-4EA053AE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019E1-7EB8-788F-DBE9-76A9B1F5F21E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4x4x4: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F4CB8-890B-7D93-3EDB-C5457F9E1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AC95-15B2-FF6A-91BA-F109D2928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C44AC-D60E-312F-BE2F-DEB120A01AD9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6x6x6: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1C5D7-FE94-4AFC-773E-B3FFEBB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6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FAE4-B7EB-351F-CEB2-C048B719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C55C8-58CE-8C73-E378-89A05F1B904F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8x8x8: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59667F-70DE-3C8B-FBE1-63C58350B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238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19F3-69E6-4D51-2BAB-2AC2FFC0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E0C7A-97F6-3544-C2A3-1B4812377492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87531E-CB97-BAFB-C259-38EA788C8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8309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6D0B-E0D4-5F8D-8CB5-F6941C35E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481639-6E5A-D94F-EF72-AE74561B2BAC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12x12x12: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CEDE5B-C8D5-AC66-F247-703555BDD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09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AB85-8F5C-838A-06D7-340A7632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80F9E5-CDD0-3D38-BC20-F19BF2D369C8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14x14x14: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D856C-9BB0-2E01-5D31-6FF1FD80C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001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9CFD-655E-1E98-2B46-831965C3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968B11-7C00-5A4E-10D7-EBC4350C740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16x16x16: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363934-18BA-31EC-7369-2F650775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34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18x18x18: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516344"/>
            <a:ext cx="8591079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38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20x20x20: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9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24x24x24: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195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48B3-26FB-0EFB-7B25-F53529CCB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1C22A-455B-B86F-8D82-0826CE3B49E5}"/>
              </a:ext>
            </a:extLst>
          </p:cNvPr>
          <p:cNvSpPr txBox="1"/>
          <p:nvPr/>
        </p:nvSpPr>
        <p:spPr>
          <a:xfrm>
            <a:off x="39876" y="52141"/>
            <a:ext cx="103001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Convergence tests for interaction cut-off radius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B484E92-8CBA-ECD4-5D1F-6BC1950F9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603410"/>
              </p:ext>
            </p:extLst>
          </p:nvPr>
        </p:nvGraphicFramePr>
        <p:xfrm>
          <a:off x="969697" y="1001722"/>
          <a:ext cx="3013023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183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1384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5e-9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1e-8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1e-7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1e-14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D8BCAF49-A15D-4F73-FEC1-84D51694E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6" y="1916535"/>
            <a:ext cx="1364007" cy="954000"/>
          </a:xfrm>
          <a:prstGeom prst="rect">
            <a:avLst/>
          </a:prstGeom>
        </p:spPr>
      </p:pic>
      <p:pic>
        <p:nvPicPr>
          <p:cNvPr id="7" name="Picture 6" descr="A graph of a graph&#10;&#10;Description automatically generated">
            <a:extLst>
              <a:ext uri="{FF2B5EF4-FFF2-40B4-BE49-F238E27FC236}">
                <a16:creationId xmlns:a16="http://schemas.microsoft.com/office/drawing/2014/main" id="{E7A65CA0-22E9-B005-6071-3D2B7D1886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2846269"/>
            <a:ext cx="1364008" cy="954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C96162-6E7E-ECCF-A893-42131CF2B2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4679494"/>
            <a:ext cx="1364009" cy="95400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7598237-CB6A-95F9-DE69-E555A3EF9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83295"/>
              </p:ext>
            </p:extLst>
          </p:nvPr>
        </p:nvGraphicFramePr>
        <p:xfrm>
          <a:off x="3982720" y="999666"/>
          <a:ext cx="3078480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535073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1e-8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4E7F706C-64FB-CCFC-4E92-D09BD546A0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5" y="5657951"/>
            <a:ext cx="1364009" cy="954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792D1-C3F2-A3E1-EC89-544E86A261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1933558"/>
            <a:ext cx="1364009" cy="9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21F029-9C1A-E74E-FDDC-4EF57034E2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2871459"/>
            <a:ext cx="1364008" cy="9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BF624D0-4A75-F8FF-CD59-34E1E33462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3801193"/>
            <a:ext cx="1364009" cy="954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EE63A4-848A-9D4A-98BB-D774114CB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4753679"/>
            <a:ext cx="1364008" cy="954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1BBBA6-EBA5-C048-0E3D-A76A3B8A15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571" y="5692056"/>
            <a:ext cx="1364008" cy="954000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826FCE2-ACD9-AB39-5EF8-FFFC663D1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52085"/>
              </p:ext>
            </p:extLst>
          </p:nvPr>
        </p:nvGraphicFramePr>
        <p:xfrm>
          <a:off x="7050943" y="1001723"/>
          <a:ext cx="300745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3407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464050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/>
                        <a:t>Cut-off radius</a:t>
                      </a:r>
                      <a:br>
                        <a:rPr lang="en-US" dirty="0"/>
                      </a:br>
                      <a:r>
                        <a:rPr lang="en-US" dirty="0"/>
                        <a:t>/</a:t>
                      </a:r>
                      <a:r>
                        <a:rPr lang="en-US" baseline="0" dirty="0"/>
                        <a:t>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4e-10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5e-10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7e-10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9e-10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30" name="Picture 29" descr="A graph of a graph&#10;&#10;Description automatically generated">
            <a:extLst>
              <a:ext uri="{FF2B5EF4-FFF2-40B4-BE49-F238E27FC236}">
                <a16:creationId xmlns:a16="http://schemas.microsoft.com/office/drawing/2014/main" id="{01AED83C-9CB7-DEB5-6B18-4F8F3321A9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1942842"/>
            <a:ext cx="1364009" cy="954000"/>
          </a:xfrm>
          <a:prstGeom prst="rect">
            <a:avLst/>
          </a:prstGeom>
        </p:spPr>
      </p:pic>
      <p:pic>
        <p:nvPicPr>
          <p:cNvPr id="32" name="Picture 31" descr="A graph of a graph&#10;&#10;Description automatically generated">
            <a:extLst>
              <a:ext uri="{FF2B5EF4-FFF2-40B4-BE49-F238E27FC236}">
                <a16:creationId xmlns:a16="http://schemas.microsoft.com/office/drawing/2014/main" id="{20D33974-D10A-299F-B9AD-0A936028FC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0" y="3829204"/>
            <a:ext cx="1364009" cy="954000"/>
          </a:xfrm>
          <a:prstGeom prst="rect">
            <a:avLst/>
          </a:prstGeom>
        </p:spPr>
      </p:pic>
      <p:pic>
        <p:nvPicPr>
          <p:cNvPr id="34" name="Picture 33" descr="A graph of a graph&#10;&#10;Description automatically generated">
            <a:extLst>
              <a:ext uri="{FF2B5EF4-FFF2-40B4-BE49-F238E27FC236}">
                <a16:creationId xmlns:a16="http://schemas.microsoft.com/office/drawing/2014/main" id="{E706CC21-816B-F7F9-1F7D-EA13D84451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4759654"/>
            <a:ext cx="1364009" cy="954000"/>
          </a:xfrm>
          <a:prstGeom prst="rect">
            <a:avLst/>
          </a:prstGeom>
        </p:spPr>
      </p:pic>
      <p:pic>
        <p:nvPicPr>
          <p:cNvPr id="36" name="Picture 35" descr="A graph of a graph&#10;&#10;Description automatically generated">
            <a:extLst>
              <a:ext uri="{FF2B5EF4-FFF2-40B4-BE49-F238E27FC236}">
                <a16:creationId xmlns:a16="http://schemas.microsoft.com/office/drawing/2014/main" id="{C8E1CCA4-04BE-8C73-B9C7-477717AA77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5692056"/>
            <a:ext cx="1364008" cy="954000"/>
          </a:xfrm>
          <a:prstGeom prst="rect">
            <a:avLst/>
          </a:prstGeom>
        </p:spPr>
      </p:pic>
      <p:pic>
        <p:nvPicPr>
          <p:cNvPr id="38" name="Picture 37" descr="A graph of a graph&#10;&#10;Description automatically generated">
            <a:extLst>
              <a:ext uri="{FF2B5EF4-FFF2-40B4-BE49-F238E27FC236}">
                <a16:creationId xmlns:a16="http://schemas.microsoft.com/office/drawing/2014/main" id="{D3E594B0-7BC9-B254-E3D7-38554A4BDD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431" y="2874248"/>
            <a:ext cx="1364008" cy="954000"/>
          </a:xfrm>
          <a:prstGeom prst="rect">
            <a:avLst/>
          </a:prstGeom>
        </p:spPr>
      </p:pic>
      <p:pic>
        <p:nvPicPr>
          <p:cNvPr id="41" name="Picture 40" descr="A graph of a graph&#10;&#10;Description automatically generated">
            <a:extLst>
              <a:ext uri="{FF2B5EF4-FFF2-40B4-BE49-F238E27FC236}">
                <a16:creationId xmlns:a16="http://schemas.microsoft.com/office/drawing/2014/main" id="{2C1A57B6-99D6-89FE-DB5B-818795A3A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494" y="3794785"/>
            <a:ext cx="1364008" cy="954000"/>
          </a:xfrm>
          <a:prstGeom prst="rect">
            <a:avLst/>
          </a:prstGeom>
        </p:spPr>
      </p:pic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EA2D8DC-63D6-889C-3C88-C6364B8D5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945745"/>
              </p:ext>
            </p:extLst>
          </p:nvPr>
        </p:nvGraphicFramePr>
        <p:xfrm>
          <a:off x="10014775" y="999626"/>
          <a:ext cx="2123537" cy="5598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770">
                  <a:extLst>
                    <a:ext uri="{9D8B030D-6E8A-4147-A177-3AD203B41FA5}">
                      <a16:colId xmlns:a16="http://schemas.microsoft.com/office/drawing/2014/main" val="3041696817"/>
                    </a:ext>
                  </a:extLst>
                </a:gridCol>
                <a:gridCol w="1338767">
                  <a:extLst>
                    <a:ext uri="{9D8B030D-6E8A-4147-A177-3AD203B41FA5}">
                      <a16:colId xmlns:a16="http://schemas.microsoft.com/office/drawing/2014/main" val="749998270"/>
                    </a:ext>
                  </a:extLst>
                </a:gridCol>
              </a:tblGrid>
              <a:tr h="933157">
                <a:tc>
                  <a:txBody>
                    <a:bodyPr/>
                    <a:lstStyle/>
                    <a:p>
                      <a:r>
                        <a:rPr lang="en-US" dirty="0" err="1"/>
                        <a:t>R_cut</a:t>
                      </a:r>
                      <a:r>
                        <a:rPr lang="en-US" dirty="0"/>
                        <a:t> /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345435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5.64e-10</a:t>
                      </a:r>
                    </a:p>
                    <a:p>
                      <a:r>
                        <a:rPr lang="en-GB" sz="1400" dirty="0"/>
                        <a:t>(a0_CO)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57237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r>
                        <a:rPr lang="en-GB" dirty="0"/>
                        <a:t>1e-1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44378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987831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096912"/>
                  </a:ext>
                </a:extLst>
              </a:tr>
              <a:tr h="93315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595658"/>
                  </a:ext>
                </a:extLst>
              </a:tr>
            </a:tbl>
          </a:graphicData>
        </a:graphic>
      </p:graphicFrame>
      <p:pic>
        <p:nvPicPr>
          <p:cNvPr id="44" name="Picture 43" descr="A graph of a graph&#10;&#10;Description automatically generated">
            <a:extLst>
              <a:ext uri="{FF2B5EF4-FFF2-40B4-BE49-F238E27FC236}">
                <a16:creationId xmlns:a16="http://schemas.microsoft.com/office/drawing/2014/main" id="{52ADE5C3-E85D-74A8-19E4-34C41AA67E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1942842"/>
            <a:ext cx="1364008" cy="954000"/>
          </a:xfrm>
          <a:prstGeom prst="rect">
            <a:avLst/>
          </a:prstGeom>
        </p:spPr>
      </p:pic>
      <p:pic>
        <p:nvPicPr>
          <p:cNvPr id="47" name="Picture 46" descr="A graph of a graph&#10;&#10;Description automatically generated">
            <a:extLst>
              <a:ext uri="{FF2B5EF4-FFF2-40B4-BE49-F238E27FC236}">
                <a16:creationId xmlns:a16="http://schemas.microsoft.com/office/drawing/2014/main" id="{749002CE-ACEE-FD32-4E98-989DE21CCF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304" y="2833766"/>
            <a:ext cx="1364008" cy="9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730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D6409946-0CC4-462E-8F65-F54B9D3AB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689211"/>
              </p:ext>
            </p:extLst>
          </p:nvPr>
        </p:nvGraphicFramePr>
        <p:xfrm>
          <a:off x="2032000" y="719666"/>
          <a:ext cx="8128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4900451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5743820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copy_size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time / </a:t>
                      </a:r>
                      <a:r>
                        <a:rPr lang="de-DE" dirty="0" err="1"/>
                        <a:t>mins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25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182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34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OutOfMemoryError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99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3946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45 min </a:t>
                      </a:r>
                      <a:r>
                        <a:rPr lang="en-US" dirty="0" err="1"/>
                        <a:t>OutOfMemoryError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405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785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OutOfMemoryError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623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27, 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boundary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cond</a:t>
                      </a:r>
                      <a:r>
                        <a:rPr lang="de-DE" dirty="0"/>
                        <a:t> in z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49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2424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E5E1EC7-1E6E-4CD9-B930-2A6B35FBDE28}"/>
              </a:ext>
            </a:extLst>
          </p:cNvPr>
          <p:cNvSpPr txBox="1"/>
          <p:nvPr/>
        </p:nvSpPr>
        <p:spPr>
          <a:xfrm>
            <a:off x="408397" y="277670"/>
            <a:ext cx="60977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Testing of time of force calculation with boundary conditions along all axis</a:t>
            </a:r>
          </a:p>
        </p:txBody>
      </p:sp>
    </p:spTree>
    <p:extLst>
      <p:ext uri="{BB962C8B-B14F-4D97-AF65-F5344CB8AC3E}">
        <p14:creationId xmlns:p14="http://schemas.microsoft.com/office/powerpoint/2010/main" val="406002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0D4E186-A4A0-4AF8-95EC-4BB90F74CDE6}"/>
              </a:ext>
            </a:extLst>
          </p:cNvPr>
          <p:cNvSpPr txBox="1"/>
          <p:nvPr/>
        </p:nvSpPr>
        <p:spPr>
          <a:xfrm>
            <a:off x="5510438" y="5263650"/>
            <a:ext cx="70367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Need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take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large h-matrix and f(n1,n2)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box </a:t>
            </a:r>
            <a:r>
              <a:rPr lang="de-DE" dirty="0" err="1"/>
              <a:t>here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en-US" dirty="0"/>
          </a:p>
          <a:p>
            <a:r>
              <a:rPr lang="en-US" dirty="0"/>
              <a:t>With different periodic boundary conditions in large vs small. So f(n1,n2) </a:t>
            </a:r>
            <a:br>
              <a:rPr lang="en-US" dirty="0"/>
            </a:br>
            <a:r>
              <a:rPr lang="en-US" dirty="0"/>
              <a:t>with small box interaction and small box periodic boundary conditions</a:t>
            </a:r>
          </a:p>
          <a:p>
            <a:endParaRPr lang="de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2F2289-DA09-49A8-82C9-F3BFE6F26F8D}"/>
              </a:ext>
            </a:extLst>
          </p:cNvPr>
          <p:cNvSpPr txBox="1"/>
          <p:nvPr/>
        </p:nvSpPr>
        <p:spPr>
          <a:xfrm>
            <a:off x="408396" y="277670"/>
            <a:ext cx="11341643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H-matrix calculation procedure: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Use large simulation box: 40x40x10 (blue)</a:t>
            </a:r>
          </a:p>
          <a:p>
            <a:pPr marL="342900" indent="-342900">
              <a:buAutoNum type="arabicPeriod"/>
            </a:pPr>
            <a:r>
              <a:rPr lang="en-US" dirty="0"/>
              <a:t>Index all </a:t>
            </a:r>
            <a:r>
              <a:rPr lang="en-US" dirty="0" err="1"/>
              <a:t>molecs</a:t>
            </a:r>
            <a:r>
              <a:rPr lang="en-US" dirty="0"/>
              <a:t>. in box and get central cuboid (orange) with same height</a:t>
            </a:r>
          </a:p>
          <a:p>
            <a:pPr marL="342900" indent="-342900">
              <a:buAutoNum type="arabicPeriod"/>
            </a:pPr>
            <a:r>
              <a:rPr lang="en-US" dirty="0"/>
              <a:t>Do </a:t>
            </a:r>
            <a:r>
              <a:rPr lang="en-US" dirty="0" err="1"/>
              <a:t>calculationof</a:t>
            </a:r>
            <a:r>
              <a:rPr lang="en-US" dirty="0"/>
              <a:t> IR spectrum with inner cuboid with h-matrix of large </a:t>
            </a:r>
            <a:br>
              <a:rPr lang="en-US" dirty="0"/>
            </a:br>
            <a:r>
              <a:rPr lang="en-US" dirty="0"/>
              <a:t>simulation box, to maximum interaction range</a:t>
            </a:r>
          </a:p>
          <a:p>
            <a:pPr marL="342900" indent="-342900">
              <a:buAutoNum type="arabicPeriod"/>
            </a:pPr>
            <a:r>
              <a:rPr lang="en-US" dirty="0"/>
              <a:t>Change size of cuboid (10x10x10, 20x20x10, 30x30x10 </a:t>
            </a:r>
            <a:r>
              <a:rPr lang="en-US" dirty="0" err="1"/>
              <a:t>etc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to get convergence</a:t>
            </a:r>
          </a:p>
          <a:p>
            <a:pPr marL="342900" indent="-342900">
              <a:buAutoNum type="arabicPeriod"/>
            </a:pPr>
            <a:r>
              <a:rPr lang="en-US" dirty="0"/>
              <a:t>Finally vary size z=10 to check if whole computation makes sense</a:t>
            </a:r>
          </a:p>
          <a:p>
            <a:r>
              <a:rPr lang="en-US" dirty="0"/>
              <a:t>Without </a:t>
            </a:r>
            <a:r>
              <a:rPr lang="en-US" dirty="0" err="1"/>
              <a:t>centred</a:t>
            </a:r>
            <a:r>
              <a:rPr lang="en-US" dirty="0"/>
              <a:t> piece at 10x10x4: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With </a:t>
            </a:r>
            <a:r>
              <a:rPr lang="en-US" dirty="0" err="1"/>
              <a:t>centre</a:t>
            </a:r>
            <a:r>
              <a:rPr lang="en-US" dirty="0"/>
              <a:t> piece at 4x4x4: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B2637376-0DC3-42DD-97CF-15A3A4E6AA75}"/>
              </a:ext>
            </a:extLst>
          </p:cNvPr>
          <p:cNvSpPr/>
          <p:nvPr/>
        </p:nvSpPr>
        <p:spPr>
          <a:xfrm>
            <a:off x="7973172" y="976227"/>
            <a:ext cx="3886200" cy="1676682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AC6CDB02-D1A3-44AF-AE2C-CE77EA07C275}"/>
              </a:ext>
            </a:extLst>
          </p:cNvPr>
          <p:cNvSpPr/>
          <p:nvPr/>
        </p:nvSpPr>
        <p:spPr>
          <a:xfrm>
            <a:off x="9043173" y="1005841"/>
            <a:ext cx="1481328" cy="1647068"/>
          </a:xfrm>
          <a:prstGeom prst="cub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6E81A9-DC19-4812-A810-5089AF282B00}"/>
              </a:ext>
            </a:extLst>
          </p:cNvPr>
          <p:cNvSpPr txBox="1"/>
          <p:nvPr/>
        </p:nvSpPr>
        <p:spPr>
          <a:xfrm>
            <a:off x="11796521" y="15417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10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C0BC1E-5F68-4142-A41B-2E1DD311EC7A}"/>
              </a:ext>
            </a:extLst>
          </p:cNvPr>
          <p:cNvSpPr txBox="1"/>
          <p:nvPr/>
        </p:nvSpPr>
        <p:spPr>
          <a:xfrm>
            <a:off x="9811185" y="6365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40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DD2DE-BB95-4F34-83E3-4476C6186C34}"/>
              </a:ext>
            </a:extLst>
          </p:cNvPr>
          <p:cNvSpPr txBox="1"/>
          <p:nvPr/>
        </p:nvSpPr>
        <p:spPr>
          <a:xfrm>
            <a:off x="11650020" y="237973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391A39-1600-44AF-9C89-7301ECE083AF}"/>
              </a:ext>
            </a:extLst>
          </p:cNvPr>
          <p:cNvSpPr txBox="1"/>
          <p:nvPr/>
        </p:nvSpPr>
        <p:spPr>
          <a:xfrm>
            <a:off x="10129038" y="16447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10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75B04C9-BF2B-451F-A198-86760FE62C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6" y="3145536"/>
            <a:ext cx="1843362" cy="14633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53DB9B-B9E9-469B-BF98-2F51672F4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6" y="5117012"/>
            <a:ext cx="1843362" cy="14633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6A8B6A9-31BF-4288-91A0-86F11598CA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411" y="5117012"/>
            <a:ext cx="1942514" cy="14633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6779B36-1695-4307-B29A-753520B4E8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112" y="5632982"/>
            <a:ext cx="3352321" cy="369647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D6B49F-CB03-4F7C-BD8F-29A3387A0BAA}"/>
              </a:ext>
            </a:extLst>
          </p:cNvPr>
          <p:cNvCxnSpPr/>
          <p:nvPr/>
        </p:nvCxnSpPr>
        <p:spPr>
          <a:xfrm flipH="1">
            <a:off x="8642350" y="5556250"/>
            <a:ext cx="2755900" cy="234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86753BA-6AEE-4CEC-B04D-F30F31F86564}"/>
              </a:ext>
            </a:extLst>
          </p:cNvPr>
          <p:cNvCxnSpPr/>
          <p:nvPr/>
        </p:nvCxnSpPr>
        <p:spPr>
          <a:xfrm flipH="1">
            <a:off x="7792720" y="5556250"/>
            <a:ext cx="370840" cy="234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7654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1B04C7-C8E8-443E-8279-D04E8EA7DA34}"/>
              </a:ext>
            </a:extLst>
          </p:cNvPr>
          <p:cNvSpPr txBox="1"/>
          <p:nvPr/>
        </p:nvSpPr>
        <p:spPr>
          <a:xfrm>
            <a:off x="260350" y="193239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Need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take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large h-matrix and f(n1,n2)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box </a:t>
            </a:r>
            <a:r>
              <a:rPr lang="de-DE" dirty="0" err="1"/>
              <a:t>here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en-US" dirty="0"/>
          </a:p>
          <a:p>
            <a:r>
              <a:rPr lang="en-US" dirty="0"/>
              <a:t>With different periodic boundary conditions in large vs small. So f(n1,n2) </a:t>
            </a:r>
            <a:br>
              <a:rPr lang="en-US" dirty="0"/>
            </a:br>
            <a:r>
              <a:rPr lang="en-US" dirty="0"/>
              <a:t>with small box interaction and small box periodic boundary conditions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15EFED-4DC4-454C-85EC-D81FBD483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11" y="787400"/>
            <a:ext cx="5372727" cy="59242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9B12FA3-CA63-43FD-B5C1-4D2B68184647}"/>
              </a:ext>
            </a:extLst>
          </p:cNvPr>
          <p:cNvSpPr/>
          <p:nvPr/>
        </p:nvSpPr>
        <p:spPr>
          <a:xfrm>
            <a:off x="4247251" y="880414"/>
            <a:ext cx="1296299" cy="40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59E6FE-1A46-4C16-833C-79239FC9F6A5}"/>
              </a:ext>
            </a:extLst>
          </p:cNvPr>
          <p:cNvSpPr/>
          <p:nvPr/>
        </p:nvSpPr>
        <p:spPr>
          <a:xfrm>
            <a:off x="1838089" y="880414"/>
            <a:ext cx="2346561" cy="40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47EF9A-9F7E-46B5-9EF2-F555B4E51676}"/>
              </a:ext>
            </a:extLst>
          </p:cNvPr>
          <p:cNvSpPr txBox="1"/>
          <p:nvPr/>
        </p:nvSpPr>
        <p:spPr>
          <a:xfrm>
            <a:off x="2504765" y="623406"/>
            <a:ext cx="1692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Large </a:t>
            </a:r>
            <a:r>
              <a:rPr lang="de-DE" sz="1400" dirty="0" err="1"/>
              <a:t>simulation</a:t>
            </a:r>
            <a:r>
              <a:rPr lang="de-DE" sz="1400" dirty="0"/>
              <a:t> box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A5D65A-6131-448E-BFC5-0CD904031129}"/>
              </a:ext>
            </a:extLst>
          </p:cNvPr>
          <p:cNvSpPr txBox="1"/>
          <p:nvPr/>
        </p:nvSpPr>
        <p:spPr>
          <a:xfrm>
            <a:off x="4306296" y="619258"/>
            <a:ext cx="11782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Small </a:t>
            </a:r>
            <a:r>
              <a:rPr lang="de-DE" sz="1400" dirty="0" err="1"/>
              <a:t>sim</a:t>
            </a:r>
            <a:r>
              <a:rPr lang="de-DE" sz="1400" dirty="0"/>
              <a:t> box</a:t>
            </a: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373762-0F74-4AB7-A2B5-DE8B9901E56B}"/>
              </a:ext>
            </a:extLst>
          </p:cNvPr>
          <p:cNvSpPr txBox="1"/>
          <p:nvPr/>
        </p:nvSpPr>
        <p:spPr>
          <a:xfrm>
            <a:off x="311311" y="269309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Using </a:t>
            </a:r>
            <a:r>
              <a:rPr lang="pt-BR" b="0" dirty="0">
                <a:effectLst/>
                <a:latin typeface="Consolas" panose="020B0609020204030204" pitchFamily="49" charset="0"/>
              </a:rPr>
              <a:t>ev[n1] + unit1*(μ11 - μ00)*μ00*large_h_matrix_sum[n1]</a:t>
            </a:r>
          </a:p>
          <a:p>
            <a:r>
              <a:rPr lang="pt-BR" dirty="0">
                <a:latin typeface="Consolas" panose="020B0609020204030204" pitchFamily="49" charset="0"/>
              </a:rPr>
              <a:t>Which is wrong!</a:t>
            </a:r>
            <a:endParaRPr lang="pt-BR" b="0" dirty="0">
              <a:effectLst/>
              <a:latin typeface="Consolas" panose="020B0609020204030204" pitchFamily="49" charset="0"/>
            </a:endParaRPr>
          </a:p>
          <a:p>
            <a:r>
              <a:rPr lang="en-US" dirty="0"/>
              <a:t>with </a:t>
            </a:r>
            <a:r>
              <a:rPr lang="en-US" dirty="0" err="1"/>
              <a:t>centre</a:t>
            </a:r>
            <a:r>
              <a:rPr lang="en-US" dirty="0"/>
              <a:t> piece at 4x4x4 now the IR spectrum changes to: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Then changed to diagonal elements:</a:t>
            </a:r>
            <a:br>
              <a:rPr lang="en-US" dirty="0"/>
            </a:br>
            <a:r>
              <a:rPr lang="pt-BR" b="0" dirty="0">
                <a:effectLst/>
                <a:latin typeface="Consolas" panose="020B0609020204030204" pitchFamily="49" charset="0"/>
              </a:rPr>
              <a:t>h[n1,n1] = large_h_matrix_sum[n1]</a:t>
            </a:r>
          </a:p>
          <a:p>
            <a:r>
              <a:rPr lang="pt-BR" dirty="0">
                <a:latin typeface="Consolas" panose="020B0609020204030204" pitchFamily="49" charset="0"/>
              </a:rPr>
              <a:t>And get:</a:t>
            </a:r>
            <a:endParaRPr lang="pt-BR" b="0" dirty="0"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4D195C-3BE3-490F-9183-EC0C80EDA6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6350" y="2101850"/>
            <a:ext cx="3022084" cy="21082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1CF1F5-7726-4E38-98A9-98DAB13BE0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6350" y="4476514"/>
            <a:ext cx="3022084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449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1298D2-C199-411D-9F92-CFF425E93F12}"/>
              </a:ext>
            </a:extLst>
          </p:cNvPr>
          <p:cNvSpPr txBox="1"/>
          <p:nvPr/>
        </p:nvSpPr>
        <p:spPr>
          <a:xfrm>
            <a:off x="260350" y="193239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Fixed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code so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vectors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box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large </a:t>
            </a:r>
            <a:r>
              <a:rPr lang="de-DE" dirty="0" err="1"/>
              <a:t>one</a:t>
            </a:r>
            <a:r>
              <a:rPr lang="de-DE" dirty="0"/>
              <a:t>!</a:t>
            </a:r>
          </a:p>
          <a:p>
            <a:endParaRPr lang="de-DE" dirty="0"/>
          </a:p>
          <a:p>
            <a:r>
              <a:rPr lang="de-DE" b="1" dirty="0" err="1"/>
              <a:t>Without</a:t>
            </a:r>
            <a:r>
              <a:rPr lang="de-DE" dirty="0"/>
              <a:t> </a:t>
            </a:r>
            <a:r>
              <a:rPr lang="de-DE" dirty="0" err="1"/>
              <a:t>randomisation</a:t>
            </a:r>
            <a:r>
              <a:rPr lang="de-DE" dirty="0"/>
              <a:t> </a:t>
            </a:r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box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spectrum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</a:t>
            </a:r>
            <a:r>
              <a:rPr lang="de-DE" dirty="0" err="1"/>
              <a:t>this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WITH</a:t>
            </a:r>
            <a:r>
              <a:rPr lang="de-DE" dirty="0"/>
              <a:t> </a:t>
            </a:r>
            <a:r>
              <a:rPr lang="de-DE" dirty="0" err="1"/>
              <a:t>randomisation</a:t>
            </a:r>
            <a:r>
              <a:rPr lang="de-DE" dirty="0"/>
              <a:t> </a:t>
            </a:r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box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spectrum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</a:t>
            </a:r>
            <a:r>
              <a:rPr lang="de-DE" dirty="0" err="1"/>
              <a:t>this</a:t>
            </a:r>
            <a:r>
              <a:rPr lang="de-DE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944FA-7DB0-4E8A-9991-B03B41AD0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4029" y="898567"/>
            <a:ext cx="3187621" cy="2530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207C5F-2C3E-495A-90A6-ACB9AC570F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889" y="1168058"/>
            <a:ext cx="2848140" cy="22609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3725E9-571F-42B6-BEEB-E081BDCEA4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72" y="1485767"/>
            <a:ext cx="2447917" cy="19432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AA16FC-876B-488D-BC0A-A63CADE72A3C}"/>
              </a:ext>
            </a:extLst>
          </p:cNvPr>
          <p:cNvSpPr txBox="1"/>
          <p:nvPr/>
        </p:nvSpPr>
        <p:spPr>
          <a:xfrm>
            <a:off x="1572074" y="2782669"/>
            <a:ext cx="18758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10x10x4 large box</a:t>
            </a:r>
          </a:p>
          <a:p>
            <a:r>
              <a:rPr lang="de-DE" dirty="0"/>
              <a:t>4x4x4 </a:t>
            </a:r>
            <a:r>
              <a:rPr lang="de-DE" dirty="0" err="1"/>
              <a:t>small</a:t>
            </a:r>
            <a:r>
              <a:rPr lang="de-DE" dirty="0"/>
              <a:t> box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5122E2-ECD8-4586-824D-7CB0907CFC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4029" y="4141011"/>
            <a:ext cx="3187621" cy="22236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AF5368-6A72-4B49-83D9-3CD252E9A6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888" y="4172052"/>
            <a:ext cx="2848141" cy="22609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1155332-AC64-48B4-A568-B72AAEC182B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71" y="4488619"/>
            <a:ext cx="2447917" cy="194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5214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F23E75-E3D1-4D63-A9B1-8BA47C2FD2A7}"/>
              </a:ext>
            </a:extLst>
          </p:cNvPr>
          <p:cNvSpPr txBox="1"/>
          <p:nvPr/>
        </p:nvSpPr>
        <p:spPr>
          <a:xfrm>
            <a:off x="244719" y="169793"/>
            <a:ext cx="3647343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10x10x4, </a:t>
            </a:r>
          </a:p>
          <a:p>
            <a:r>
              <a:rPr lang="de-DE" dirty="0" err="1"/>
              <a:t>Subset</a:t>
            </a:r>
            <a:r>
              <a:rPr lang="de-DE" dirty="0"/>
              <a:t>: </a:t>
            </a:r>
            <a:r>
              <a:rPr lang="en-US" b="1" dirty="0" err="1"/>
              <a:t>small_box_size_fraction</a:t>
            </a:r>
            <a:r>
              <a:rPr lang="en-US" b="1" dirty="0"/>
              <a:t> </a:t>
            </a:r>
            <a:r>
              <a:rPr lang="en-US" dirty="0"/>
              <a:t>= </a:t>
            </a:r>
          </a:p>
          <a:p>
            <a:endParaRPr lang="en-US" dirty="0"/>
          </a:p>
          <a:p>
            <a:r>
              <a:rPr lang="en-US" b="1" dirty="0"/>
              <a:t>= 5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=4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=3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845370-9C86-42AA-BE43-AD4A07061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768" y="955699"/>
            <a:ext cx="2557533" cy="20302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A86EF0-8348-4EE0-88C2-3A62AF029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768" y="3191399"/>
            <a:ext cx="2561649" cy="1787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3EFF0F-BA31-4EB5-8D48-EA68040D3F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768" y="5040124"/>
            <a:ext cx="2557533" cy="17841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938ABD-DCE3-4D2A-BDE0-476FF2F45B93}"/>
              </a:ext>
            </a:extLst>
          </p:cNvPr>
          <p:cNvSpPr txBox="1"/>
          <p:nvPr/>
        </p:nvSpPr>
        <p:spPr>
          <a:xfrm>
            <a:off x="4031273" y="843677"/>
            <a:ext cx="364734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= 2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=1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BE6705-B417-4371-9A68-2FCA4D7A7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275" y="955698"/>
            <a:ext cx="2910341" cy="20302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C70537-A5E8-4EE1-A82D-652AFC9541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275" y="3191399"/>
            <a:ext cx="2910341" cy="203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6268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1ADB8-908E-4634-9B3C-35360F965004}"/>
              </a:ext>
            </a:extLst>
          </p:cNvPr>
          <p:cNvSpPr txBox="1"/>
          <p:nvPr/>
        </p:nvSpPr>
        <p:spPr>
          <a:xfrm>
            <a:off x="260350" y="193239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largest</a:t>
            </a:r>
            <a:r>
              <a:rPr lang="de-DE" dirty="0"/>
              <a:t> possible box (40x40x10) and </a:t>
            </a:r>
            <a:r>
              <a:rPr lang="de-DE" dirty="0" err="1"/>
              <a:t>repeat</a:t>
            </a:r>
            <a:r>
              <a:rPr lang="de-DE" dirty="0"/>
              <a:t> </a:t>
            </a:r>
            <a:r>
              <a:rPr lang="de-DE" dirty="0" err="1"/>
              <a:t>subset</a:t>
            </a:r>
            <a:r>
              <a:rPr lang="de-DE" dirty="0"/>
              <a:t>: </a:t>
            </a:r>
            <a:r>
              <a:rPr lang="en-US" b="1" dirty="0" err="1"/>
              <a:t>small_box_size_fraction</a:t>
            </a:r>
            <a:r>
              <a:rPr lang="en-US" b="1" dirty="0"/>
              <a:t> </a:t>
            </a:r>
            <a:r>
              <a:rPr lang="en-US" dirty="0"/>
              <a:t>= </a:t>
            </a:r>
          </a:p>
          <a:p>
            <a:endParaRPr lang="en-US" dirty="0"/>
          </a:p>
          <a:p>
            <a:r>
              <a:rPr lang="en-US" b="1" dirty="0"/>
              <a:t>= 5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=4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=3</a:t>
            </a:r>
          </a:p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5CA23-A50A-4692-A54C-BB45C13BF8E4}"/>
              </a:ext>
            </a:extLst>
          </p:cNvPr>
          <p:cNvSpPr txBox="1"/>
          <p:nvPr/>
        </p:nvSpPr>
        <p:spPr>
          <a:xfrm>
            <a:off x="4031273" y="843677"/>
            <a:ext cx="364734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= 2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=1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EF827-0B82-4DC3-8912-35B0564FD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21" y="1032450"/>
            <a:ext cx="2395729" cy="19018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696377-800E-4374-A17E-AB88726141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21" y="3034018"/>
            <a:ext cx="2395729" cy="16712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3B008-4CBA-4BED-B110-DDCC499067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90" y="1956211"/>
            <a:ext cx="1117699" cy="887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3F21C8-976B-4250-BEC2-A6DBDB9AFF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22" y="4902411"/>
            <a:ext cx="2395728" cy="16712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E39A0A-7862-419E-9B7F-96363FF203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835" y="941671"/>
            <a:ext cx="2726217" cy="19018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DB8381-D6F3-4C9B-932B-CC039D991E54}"/>
              </a:ext>
            </a:extLst>
          </p:cNvPr>
          <p:cNvSpPr txBox="1"/>
          <p:nvPr/>
        </p:nvSpPr>
        <p:spPr>
          <a:xfrm>
            <a:off x="4491835" y="3331029"/>
            <a:ext cx="2168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calculate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1B34D7-11DF-4959-8523-36C857D4371A}"/>
              </a:ext>
            </a:extLst>
          </p:cNvPr>
          <p:cNvSpPr txBox="1"/>
          <p:nvPr/>
        </p:nvSpPr>
        <p:spPr>
          <a:xfrm>
            <a:off x="8033658" y="43542"/>
            <a:ext cx="2448106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randomisation</a:t>
            </a:r>
            <a:r>
              <a:rPr lang="de-DE" dirty="0"/>
              <a:t>:</a:t>
            </a:r>
          </a:p>
          <a:p>
            <a:r>
              <a:rPr lang="de-DE" dirty="0" err="1"/>
              <a:t>Small_box_size_fraction</a:t>
            </a:r>
            <a:endParaRPr lang="de-DE" dirty="0"/>
          </a:p>
          <a:p>
            <a:r>
              <a:rPr lang="de-DE" dirty="0"/>
              <a:t>=5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=4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=3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CB60854-F5E6-4E83-AC8E-4937D2DFA4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438" y="671214"/>
            <a:ext cx="2895488" cy="201755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D0803B-0218-416B-B54D-BAABC1A0B4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438" y="2688770"/>
            <a:ext cx="2895488" cy="20175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D644EB6-4854-455D-A815-19DB15126B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437" y="4715809"/>
            <a:ext cx="2895488" cy="201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707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BFA8A5-DCF8-49F2-862D-4D402B7373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90" y="1482913"/>
            <a:ext cx="5138914" cy="35848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A994CB-40FA-4402-94CA-85D3B913D583}"/>
              </a:ext>
            </a:extLst>
          </p:cNvPr>
          <p:cNvSpPr txBox="1"/>
          <p:nvPr/>
        </p:nvSpPr>
        <p:spPr>
          <a:xfrm>
            <a:off x="-958041" y="5275457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h[n1,n1]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0</a:t>
            </a:r>
          </a:p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h[n2,n2]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C79E4-D17B-4E33-AAF1-AC5529C269E5}"/>
              </a:ext>
            </a:extLst>
          </p:cNvPr>
          <p:cNvSpPr txBox="1"/>
          <p:nvPr/>
        </p:nvSpPr>
        <p:spPr>
          <a:xfrm>
            <a:off x="4780512" y="5275456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h[n1,n1]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force</a:t>
            </a:r>
            <a:endParaRPr lang="pt-B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h[n2,n2] </a:t>
            </a:r>
            <a:r>
              <a: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force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EAC0B9-6294-4C44-B9C6-46083A167A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482913"/>
            <a:ext cx="4519353" cy="3587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4805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FAEE8-4A1D-3A45-3A4D-067683149F40}"/>
              </a:ext>
            </a:extLst>
          </p:cNvPr>
          <p:cNvSpPr txBox="1"/>
          <p:nvPr/>
        </p:nvSpPr>
        <p:spPr>
          <a:xfrm>
            <a:off x="626724" y="667820"/>
            <a:ext cx="8901989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Testing new code with comparison to previous IR spectra from </a:t>
            </a:r>
            <a:r>
              <a:rPr lang="en-US" dirty="0" err="1"/>
              <a:t>ir_spectra</a:t>
            </a:r>
            <a:r>
              <a:rPr lang="en-US" dirty="0"/>
              <a:t> function</a:t>
            </a:r>
          </a:p>
          <a:p>
            <a:endParaRPr lang="en-US" dirty="0"/>
          </a:p>
          <a:p>
            <a:r>
              <a:rPr lang="en-US" dirty="0"/>
              <a:t>2x2x1: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Now with new code and </a:t>
            </a:r>
            <a:r>
              <a:rPr lang="en-US" dirty="0" err="1"/>
              <a:t>ir_spectra_centre</a:t>
            </a:r>
            <a:r>
              <a:rPr lang="en-US" dirty="0"/>
              <a:t> function with same size (</a:t>
            </a:r>
            <a:r>
              <a:rPr lang="en-US" dirty="0" err="1"/>
              <a:t>centre</a:t>
            </a:r>
            <a:r>
              <a:rPr lang="en-US" dirty="0"/>
              <a:t> sim box has same </a:t>
            </a:r>
            <a:br>
              <a:rPr lang="en-US" dirty="0"/>
            </a:br>
            <a:r>
              <a:rPr lang="en-US" dirty="0"/>
              <a:t>size as large simulation volume)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the same.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B57B1F-1ADD-CC6D-9264-383B1E476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1748" y="1129484"/>
            <a:ext cx="2732576" cy="19111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E410E9-00C2-FA37-C0F2-74A9734F2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1748" y="3867209"/>
            <a:ext cx="2732576" cy="19111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C302D1-E329-DA39-9191-79362BBF73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838" y="1129484"/>
            <a:ext cx="2392957" cy="19111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BB19D5-9496-CE4A-0FFC-25651016CD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561" y="3867208"/>
            <a:ext cx="2392957" cy="1911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10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D97889-E17F-5D49-754D-469FA33EAC4D}"/>
              </a:ext>
            </a:extLst>
          </p:cNvPr>
          <p:cNvSpPr txBox="1"/>
          <p:nvPr/>
        </p:nvSpPr>
        <p:spPr>
          <a:xfrm>
            <a:off x="685800" y="508000"/>
            <a:ext cx="350506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get the smaller simulation box</a:t>
            </a:r>
          </a:p>
          <a:p>
            <a:r>
              <a:rPr lang="en-US" dirty="0"/>
              <a:t>1x1x1: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Spectrum changes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850FA1-D6FE-226C-F356-0E766D0F4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3380" y="1273234"/>
            <a:ext cx="2615925" cy="20892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9229E8-B2F3-C744-D963-B753DFED8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62" y="1273234"/>
            <a:ext cx="3046256" cy="213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2491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96D49-FC1D-3EE8-3B0B-C664AEAD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BE4C74-B3FE-1F5B-DF22-6F1457C59621}"/>
              </a:ext>
            </a:extLst>
          </p:cNvPr>
          <p:cNvSpPr txBox="1"/>
          <p:nvPr/>
        </p:nvSpPr>
        <p:spPr>
          <a:xfrm>
            <a:off x="626724" y="667820"/>
            <a:ext cx="8901989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Testing new code with comparison to previous IR spectra from </a:t>
            </a:r>
            <a:r>
              <a:rPr lang="en-US" dirty="0" err="1"/>
              <a:t>ir_spectra</a:t>
            </a:r>
            <a:r>
              <a:rPr lang="en-US" dirty="0"/>
              <a:t> function</a:t>
            </a:r>
          </a:p>
          <a:p>
            <a:endParaRPr lang="en-US" dirty="0"/>
          </a:p>
          <a:p>
            <a:r>
              <a:rPr lang="en-US" dirty="0"/>
              <a:t>4x4x2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Now with new code and </a:t>
            </a:r>
            <a:r>
              <a:rPr lang="en-US" dirty="0" err="1"/>
              <a:t>ir_spectra_centre</a:t>
            </a:r>
            <a:r>
              <a:rPr lang="en-US" dirty="0"/>
              <a:t> function with same size (</a:t>
            </a:r>
            <a:r>
              <a:rPr lang="en-US" dirty="0" err="1"/>
              <a:t>centre</a:t>
            </a:r>
            <a:r>
              <a:rPr lang="en-US" dirty="0"/>
              <a:t> sim box has same </a:t>
            </a:r>
            <a:br>
              <a:rPr lang="en-US" dirty="0"/>
            </a:br>
            <a:r>
              <a:rPr lang="en-US" dirty="0"/>
              <a:t>size as large simulation volume)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the same.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DF3F8C-C6AD-D7AF-03B5-A60BC8899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2901" y="1129484"/>
            <a:ext cx="2730269" cy="19111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C9D431-8362-D05F-181D-F2CADB3B3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2902" y="3867209"/>
            <a:ext cx="2730268" cy="19111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3897CE-AA40-8653-7999-98DD0DBE8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02872" y="1129484"/>
            <a:ext cx="2390889" cy="19111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E851CC-DFEB-127F-2C23-AD1EC9939B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17068" y="3867208"/>
            <a:ext cx="2385942" cy="1911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98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5F410-B8FA-EBCB-FFA2-F54973C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162498-60B5-63D2-7CA1-7A0488E05D7B}"/>
              </a:ext>
            </a:extLst>
          </p:cNvPr>
          <p:cNvSpPr txBox="1"/>
          <p:nvPr/>
        </p:nvSpPr>
        <p:spPr>
          <a:xfrm>
            <a:off x="685800" y="508000"/>
            <a:ext cx="3505062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get the smaller simulation box</a:t>
            </a:r>
          </a:p>
          <a:p>
            <a:r>
              <a:rPr lang="en-US" dirty="0"/>
              <a:t>1x1x2: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Spectrum changes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902D1-2DAA-F3B6-7A1C-7A19640E1A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3380" y="1314545"/>
            <a:ext cx="2613665" cy="20892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300DD9-7FE9-F744-467D-DD77DBCD11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7748" y="1273234"/>
            <a:ext cx="3043684" cy="21305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653C8F-BC27-D564-4851-EE45F78FE5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77" y="4455261"/>
            <a:ext cx="3046255" cy="21305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BD1D9F-DAA0-5AD5-FC48-DBBA1970EFA9}"/>
              </a:ext>
            </a:extLst>
          </p:cNvPr>
          <p:cNvSpPr txBox="1"/>
          <p:nvPr/>
        </p:nvSpPr>
        <p:spPr>
          <a:xfrm>
            <a:off x="4190862" y="4011561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3x3x2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0AA25F-4F5D-467E-C3AA-80A8C92C77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862" y="4455261"/>
            <a:ext cx="3046255" cy="213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496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7078B9-620E-1A2E-786E-B00D5CE4ACB7}"/>
              </a:ext>
            </a:extLst>
          </p:cNvPr>
          <p:cNvSpPr txBox="1"/>
          <p:nvPr/>
        </p:nvSpPr>
        <p:spPr>
          <a:xfrm>
            <a:off x="11881" y="314632"/>
            <a:ext cx="3217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1x1x1 with </a:t>
            </a:r>
            <a:r>
              <a:rPr lang="en-US" dirty="0" err="1"/>
              <a:t>Randomisation</a:t>
            </a:r>
            <a:r>
              <a:rPr lang="en-US" dirty="0"/>
              <a:t>: false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4B518-8085-D4AA-5C0A-2B58EB6913A2}"/>
              </a:ext>
            </a:extLst>
          </p:cNvPr>
          <p:cNvSpPr txBox="1"/>
          <p:nvPr/>
        </p:nvSpPr>
        <p:spPr>
          <a:xfrm>
            <a:off x="3904672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4x4x1 With 1x1x1 small box</a:t>
            </a:r>
          </a:p>
        </p:txBody>
      </p:sp>
      <p:pic>
        <p:nvPicPr>
          <p:cNvPr id="7" name="Picture 6" descr="A graph of a graph&#10;&#10;Description automatically generated">
            <a:extLst>
              <a:ext uri="{FF2B5EF4-FFF2-40B4-BE49-F238E27FC236}">
                <a16:creationId xmlns:a16="http://schemas.microsoft.com/office/drawing/2014/main" id="{789D3FA3-14FA-B444-2945-94F06F9BFF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5" y="3866810"/>
            <a:ext cx="3827836" cy="2677223"/>
          </a:xfrm>
          <a:prstGeom prst="rect">
            <a:avLst/>
          </a:prstGeom>
        </p:spPr>
      </p:pic>
      <p:pic>
        <p:nvPicPr>
          <p:cNvPr id="9" name="Picture 8" descr="A screenshot of a graph&#10;&#10;Description automatically generated">
            <a:extLst>
              <a:ext uri="{FF2B5EF4-FFF2-40B4-BE49-F238E27FC236}">
                <a16:creationId xmlns:a16="http://schemas.microsoft.com/office/drawing/2014/main" id="{2983E495-2327-E31E-D144-1541208EA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1" y="707923"/>
            <a:ext cx="3834580" cy="3062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B50EE-5CE3-2913-EDAA-786EDB00AB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047" y="683964"/>
            <a:ext cx="3834581" cy="3062575"/>
          </a:xfrm>
          <a:prstGeom prst="rect">
            <a:avLst/>
          </a:prstGeom>
        </p:spPr>
      </p:pic>
      <p:pic>
        <p:nvPicPr>
          <p:cNvPr id="13" name="Picture 12" descr="A graph of a graph&#10;&#10;Description automatically generated">
            <a:extLst>
              <a:ext uri="{FF2B5EF4-FFF2-40B4-BE49-F238E27FC236}">
                <a16:creationId xmlns:a16="http://schemas.microsoft.com/office/drawing/2014/main" id="{93D4AB5B-E8BA-7D7A-B830-310E2A1F53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2744" y="3866810"/>
            <a:ext cx="3826884" cy="267655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7A292AC-9AC6-EFAA-E33F-E4F6662427F6}"/>
              </a:ext>
            </a:extLst>
          </p:cNvPr>
          <p:cNvSpPr txBox="1"/>
          <p:nvPr/>
        </p:nvSpPr>
        <p:spPr>
          <a:xfrm>
            <a:off x="7970720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20x20x1 With 1x1x1 small box</a:t>
            </a:r>
          </a:p>
        </p:txBody>
      </p:sp>
      <p:pic>
        <p:nvPicPr>
          <p:cNvPr id="16" name="Picture 15" descr="A graph of a graph&#10;&#10;Description automatically generated">
            <a:extLst>
              <a:ext uri="{FF2B5EF4-FFF2-40B4-BE49-F238E27FC236}">
                <a16:creationId xmlns:a16="http://schemas.microsoft.com/office/drawing/2014/main" id="{73F800C7-7313-C335-16EF-E9AD43E6B0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032" y="683964"/>
            <a:ext cx="4378802" cy="3062574"/>
          </a:xfrm>
          <a:prstGeom prst="rect">
            <a:avLst/>
          </a:prstGeom>
        </p:spPr>
      </p:pic>
      <p:pic>
        <p:nvPicPr>
          <p:cNvPr id="18" name="Picture 17" descr="A graph of a graph&#10;&#10;Description automatically generated">
            <a:extLst>
              <a:ext uri="{FF2B5EF4-FFF2-40B4-BE49-F238E27FC236}">
                <a16:creationId xmlns:a16="http://schemas.microsoft.com/office/drawing/2014/main" id="{DB4EA6D6-86E6-451C-75E1-87878EB09F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5911" y="3866810"/>
            <a:ext cx="3826884" cy="267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24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4CC4-E944-F818-51A2-7AFADE55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F211AB-D0B4-6846-7942-4335AC688634}"/>
              </a:ext>
            </a:extLst>
          </p:cNvPr>
          <p:cNvSpPr txBox="1"/>
          <p:nvPr/>
        </p:nvSpPr>
        <p:spPr>
          <a:xfrm>
            <a:off x="11881" y="314632"/>
            <a:ext cx="3270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2x2x2  with </a:t>
            </a:r>
            <a:r>
              <a:rPr lang="en-US" dirty="0" err="1"/>
              <a:t>Randomisation</a:t>
            </a:r>
            <a:r>
              <a:rPr lang="en-US" dirty="0"/>
              <a:t>: false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729D31-C4EE-B331-E8EC-41979E251064}"/>
              </a:ext>
            </a:extLst>
          </p:cNvPr>
          <p:cNvSpPr txBox="1"/>
          <p:nvPr/>
        </p:nvSpPr>
        <p:spPr>
          <a:xfrm>
            <a:off x="3904672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8x8x2 With 2x2x2 small box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233A20-59F6-B659-0FF8-7B437F9C9A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41" y="3866810"/>
            <a:ext cx="3824603" cy="2677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00819-D453-F07C-7F1A-984CD1115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37" y="707923"/>
            <a:ext cx="3831267" cy="3062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A29C5C-921A-2ABA-8670-359D5C43F6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6703" y="683964"/>
            <a:ext cx="3831269" cy="3062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1F6A4B-1D9A-B9FD-C778-9FAFD18641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4359" y="3866810"/>
            <a:ext cx="3823653" cy="267655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C829A75-7B9E-F447-17DF-696B6184E6F6}"/>
              </a:ext>
            </a:extLst>
          </p:cNvPr>
          <p:cNvSpPr txBox="1"/>
          <p:nvPr/>
        </p:nvSpPr>
        <p:spPr>
          <a:xfrm>
            <a:off x="7970720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20x20x2 With 2x2x2 small box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702D32-F472-B946-8454-3379B80F83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683964"/>
            <a:ext cx="3831267" cy="306257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E5DCD6-2BAD-1965-E1B6-B168026BEC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3866810"/>
            <a:ext cx="3823653" cy="267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43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7398-D990-7E3A-D984-979AF6AB2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3452E-14DF-5C64-ACD3-65BFF1B77DB1}"/>
              </a:ext>
            </a:extLst>
          </p:cNvPr>
          <p:cNvSpPr txBox="1"/>
          <p:nvPr/>
        </p:nvSpPr>
        <p:spPr>
          <a:xfrm>
            <a:off x="11881" y="314632"/>
            <a:ext cx="3270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3x3x2  with </a:t>
            </a:r>
            <a:r>
              <a:rPr lang="en-US" dirty="0" err="1"/>
              <a:t>Randomisation</a:t>
            </a:r>
            <a:r>
              <a:rPr lang="en-US" dirty="0"/>
              <a:t>: false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639417-9CF3-A802-4FCC-24D8652CBD27}"/>
              </a:ext>
            </a:extLst>
          </p:cNvPr>
          <p:cNvSpPr txBox="1"/>
          <p:nvPr/>
        </p:nvSpPr>
        <p:spPr>
          <a:xfrm>
            <a:off x="3904672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8x8x2 With 3x3x2 small box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8FD0A5-DCBE-4866-962F-1EC7D5307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41" y="3866810"/>
            <a:ext cx="3824603" cy="2677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D4A300-F29A-A3A1-62F9-37598A75D0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37" y="707923"/>
            <a:ext cx="3831267" cy="30625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F41E65-1114-1656-3C5E-E5110AD84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6703" y="683964"/>
            <a:ext cx="3831269" cy="30625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FA25EA-DD9A-5FC3-20BC-FD8F73978F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4359" y="3866810"/>
            <a:ext cx="3823653" cy="26765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7122C9C-69C6-B424-12FB-6D2EF70BC3EF}"/>
              </a:ext>
            </a:extLst>
          </p:cNvPr>
          <p:cNvSpPr txBox="1"/>
          <p:nvPr/>
        </p:nvSpPr>
        <p:spPr>
          <a:xfrm>
            <a:off x="7970720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20x20x2 With 3x3x2 small box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955A8A-FBC7-88D2-4266-EA97AE9BAD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683964"/>
            <a:ext cx="3831267" cy="306257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0729B1-A3CC-C225-57C3-7E8CE47502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3866810"/>
            <a:ext cx="3823653" cy="26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7835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FE28B-5DFF-674A-4217-D73DB72B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98D705-0C6C-AE39-2115-BA62B1DE009E}"/>
              </a:ext>
            </a:extLst>
          </p:cNvPr>
          <p:cNvSpPr txBox="1"/>
          <p:nvPr/>
        </p:nvSpPr>
        <p:spPr>
          <a:xfrm>
            <a:off x="11881" y="314632"/>
            <a:ext cx="3270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3x3x3  with </a:t>
            </a:r>
            <a:r>
              <a:rPr lang="en-US" dirty="0" err="1"/>
              <a:t>Randomisation</a:t>
            </a:r>
            <a:r>
              <a:rPr lang="en-US" dirty="0"/>
              <a:t>: false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0C6002-98D6-E6BE-ED17-8F5EE2FC2E1D}"/>
              </a:ext>
            </a:extLst>
          </p:cNvPr>
          <p:cNvSpPr txBox="1"/>
          <p:nvPr/>
        </p:nvSpPr>
        <p:spPr>
          <a:xfrm>
            <a:off x="3904672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8x8x3 With 3x3x3 small box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C2D16-C6CE-3CE9-5CFB-75A54C69A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41" y="3866810"/>
            <a:ext cx="3824603" cy="2677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683B16-A8A7-5852-A635-0CB469781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37" y="898266"/>
            <a:ext cx="3831267" cy="26818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94F48-AC65-B77C-1EB0-0137DA037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6703" y="683964"/>
            <a:ext cx="3831269" cy="30625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3A89F1-D313-846E-2AEC-669C6DE535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4359" y="3866810"/>
            <a:ext cx="3823653" cy="26765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DAA46D-2F07-EEB0-C429-BE0BBF713D42}"/>
              </a:ext>
            </a:extLst>
          </p:cNvPr>
          <p:cNvSpPr txBox="1"/>
          <p:nvPr/>
        </p:nvSpPr>
        <p:spPr>
          <a:xfrm>
            <a:off x="7970720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20x20x3 With 3x3x3 small box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079A536-5F45-CC79-5DE6-DEF576EE7B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683964"/>
            <a:ext cx="3831267" cy="306257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B328D6-39A6-3E10-557A-A62971FEA5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526" y="3866810"/>
            <a:ext cx="3823653" cy="26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381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78973-D830-5BAF-45FC-4D5E3C46F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EF7DC9-62BB-E482-813B-44F50E11C54B}"/>
              </a:ext>
            </a:extLst>
          </p:cNvPr>
          <p:cNvSpPr txBox="1"/>
          <p:nvPr/>
        </p:nvSpPr>
        <p:spPr>
          <a:xfrm>
            <a:off x="11881" y="314632"/>
            <a:ext cx="3270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4x4x4  with </a:t>
            </a:r>
            <a:r>
              <a:rPr lang="en-US" dirty="0" err="1"/>
              <a:t>Randomisation</a:t>
            </a:r>
            <a:r>
              <a:rPr lang="en-US" dirty="0"/>
              <a:t>: false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27EBC-B500-1E36-B448-F8189458E4B2}"/>
              </a:ext>
            </a:extLst>
          </p:cNvPr>
          <p:cNvSpPr txBox="1"/>
          <p:nvPr/>
        </p:nvSpPr>
        <p:spPr>
          <a:xfrm>
            <a:off x="3904672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8x8x4 With 4x4x4 small box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8C4A50-6832-AFA2-BF1B-7B01511BC8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41" y="3866810"/>
            <a:ext cx="3824602" cy="2677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4E7DEE-7EBF-A553-7872-E42B0E9D8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655" y="898266"/>
            <a:ext cx="3355030" cy="26818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270BC-6CC0-1DF8-332B-F064A209C3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6704" y="683964"/>
            <a:ext cx="3831267" cy="30625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3EDF0A5-ACA5-2193-DCDF-E8ED16B71A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4359" y="3866810"/>
            <a:ext cx="3823652" cy="26765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2D1179-0B70-8461-E7B9-ECC66882F43A}"/>
              </a:ext>
            </a:extLst>
          </p:cNvPr>
          <p:cNvSpPr txBox="1"/>
          <p:nvPr/>
        </p:nvSpPr>
        <p:spPr>
          <a:xfrm>
            <a:off x="7970720" y="314632"/>
            <a:ext cx="400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20x20x4 With 4x4x4 small box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EB053EA-9E76-C0E7-27AD-04F7BEE27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376" y="683964"/>
            <a:ext cx="3831266" cy="306257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6258AF0-3A32-3B1F-8469-8F1303523B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526" y="3866810"/>
            <a:ext cx="3823652" cy="26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505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1754</Words>
  <Application>Microsoft Office PowerPoint</Application>
  <PresentationFormat>Widescreen</PresentationFormat>
  <Paragraphs>541</Paragraphs>
  <Slides>51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212</cp:revision>
  <dcterms:created xsi:type="dcterms:W3CDTF">2024-02-27T13:40:40Z</dcterms:created>
  <dcterms:modified xsi:type="dcterms:W3CDTF">2025-01-20T05:20:59Z</dcterms:modified>
</cp:coreProperties>
</file>