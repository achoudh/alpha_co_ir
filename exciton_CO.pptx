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0E470E7-932E-4312-B43D-6B1A3023FDD4}">
          <p14:sldIdLst>
            <p14:sldId id="256"/>
            <p14:sldId id="257"/>
            <p14:sldId id="258"/>
            <p14:sldId id="259"/>
            <p14:sldId id="260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onvergence test periodic boundary" id="{C4E8E7E6-8AC1-44A3-AE0D-1B64905C0DEA}">
          <p14:sldIdLst>
            <p14:sldId id="280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Interaction cut off radius" id="{3413A47D-7F2B-463C-8D74-DE9B7704671C}">
          <p14:sldIdLst>
            <p14:sldId id="2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49" autoAdjust="0"/>
  </p:normalViewPr>
  <p:slideViewPr>
    <p:cSldViewPr snapToGrid="0" showGuides="1">
      <p:cViewPr>
        <p:scale>
          <a:sx n="66" d="100"/>
          <a:sy n="66" d="100"/>
        </p:scale>
        <p:origin x="644" y="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-2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14083-9EE7-4E8F-81A4-DA52BC10460F}" type="datetimeFigureOut">
              <a:rPr lang="en-US" smtClean="0"/>
              <a:t>12/19/2024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DA3BE-8651-44EF-90D8-D9C485CA26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900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5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151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33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89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150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53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807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99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9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98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ν0 </a:t>
            </a:r>
            <a:r>
              <a:rPr lang="el-G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l-G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2130.937</a:t>
            </a:r>
            <a:endParaRPr lang="el-G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3172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44s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6342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2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1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6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177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13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~7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3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~20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4633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~43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006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~45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20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~38 </a:t>
            </a:r>
            <a:r>
              <a:rPr lang="de-DE" dirty="0" err="1"/>
              <a:t>mins</a:t>
            </a:r>
            <a:r>
              <a:rPr lang="de-DE" dirty="0"/>
              <a:t> 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Best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somehting</a:t>
            </a:r>
            <a:r>
              <a:rPr lang="de-DE" dirty="0"/>
              <a:t> like 15.5 -&gt;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integers</a:t>
            </a:r>
            <a:r>
              <a:rPr lang="de-DE" dirty="0"/>
              <a:t> possible -&gt; 48x48x30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but </a:t>
            </a:r>
            <a:r>
              <a:rPr lang="de-DE" dirty="0" err="1"/>
              <a:t>computationally</a:t>
            </a:r>
            <a:r>
              <a:rPr lang="de-DE" dirty="0"/>
              <a:t> </a:t>
            </a:r>
            <a:r>
              <a:rPr lang="de-DE" dirty="0" err="1"/>
              <a:t>too</a:t>
            </a:r>
            <a:r>
              <a:rPr lang="de-DE" dirty="0"/>
              <a:t> expansive.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273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9021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2391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89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0474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1min 16s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85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46B2A-FA9D-961D-F182-96A4D8FB5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D4336C-0FF0-C39F-2797-2A0AB8053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8BCBD-3916-CE67-CFDD-369768221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6 min 51s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79D482-8D21-87DF-D7B6-061596ED4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7757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DCB16-EA5A-FF36-2FBD-39AD253A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F4B89-1681-CB25-5ECF-C0627D6D7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5C598-783A-F748-2B2A-69D348948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12 min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B768A-97BD-444F-7E24-6C294BE26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3479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2CFE9-9F5C-4CCE-9E95-E1E8A5643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64A8A-BC63-DDB8-4BC0-B705592CB2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C9B13A-DFFB-A6ED-8E77-B968C2B3D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34 min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CC0A0-8EF7-2F9E-E454-20C7E462C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0125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46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853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51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4497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226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5677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laptop: takes about 1 min to calc.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If r12 &gt;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interaction_cut_off_radius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interaction is switched off -&gt; ( [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(dot(eu[n1][:], eu[n2][:]) - </a:t>
            </a:r>
            <a:r>
              <a:rPr lang="pt-B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3.0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*dot(en, eu[n1][:])*dot(en, eu[n2][:])) / r12^</a:t>
            </a:r>
            <a:r>
              <a:rPr lang="pt-B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3] 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is set to 0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163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9A65-EB45-4687-B3EC-20DA07D99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A22D04-DEEB-45C2-B1BA-8E25BA50D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7BA42-2B82-4B74-968A-F0BD81C11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AD446-8609-4A7C-9CA2-E8BD1478C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C5314-C5C2-4FBE-9D9A-01A74CBF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77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D3790-5F73-4984-B95F-C80D6C3A5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E09FD-8781-41C4-B347-7DA4F73F1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D98F-0BA2-4FA2-9406-C6A18DF14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06024-7219-4A3F-AC41-9DE3E8513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45BFC-7A5C-49B7-B2CE-E7E86C0E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1259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7370-168A-4F15-9DB3-6E758375F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F04BB7-E5AC-4BEA-A001-D9E4CE1C8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E4618-B3D2-4A1A-B85E-AD586D55C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AF2CA-4C7E-456B-A956-8E0BCBC83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8ADBCD-CCB3-444F-A30E-10785420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9447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4D420-87CF-44F1-9932-6588522BC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C053D-9005-4825-9C45-787677F91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4EF8B-A10A-493F-9B93-75542F5B8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257D2-15D5-446F-9353-97E84B687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0AFF4-36B2-4CF8-981E-8074B711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60575-33FA-470C-A7CE-6B1A15E09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8480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6A64B-16F6-467C-A818-2CA1D61E2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45F9D-40EE-4279-9909-1D0B8C932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F1E0E-5F6E-44D6-AF8E-416A05CAA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E4165A-3E53-48FE-8FFC-CCCB96B9EE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354B8E-65A4-4647-A7E3-EEF598EECC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8341E3-9503-4331-8B36-56770F2C3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AF0ECF-2742-4A47-A224-AE9D9433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79D682-2AC7-4673-9D3F-45DD9CCCA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910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CE854-532F-4D61-85A2-AC9AE2889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E89999-3EA1-4690-8957-B08C8B2A6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A20045-E540-4BA7-BF10-9F20C6501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F0B9C-5BDF-4877-BFD1-6BD5D477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9615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72748-8390-4BE6-A5C9-D207F8B3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7E147D-7E34-47F1-8D3A-F8F5751D4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496BA-B9BE-4FFC-81CE-87761490D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052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53B9-0EB9-4167-926B-2FAF6B376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BB3D-C970-4733-A0A4-83B7DAC80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28BC1-979F-4297-A848-DDAB9E4E6E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3D7CA2-331B-4864-AC45-ED641329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3FB937-7000-46FA-BA30-0E4F4C36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D63CF-E58A-437A-9E27-EFB7B33E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2922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E0399-02A1-4AD4-88EA-B61051FA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DDD96A-B073-427C-9E5D-ADD0BFAF32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8C3B7-AC05-4D19-A369-565985E1B4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B9D40-7FFB-476F-9EAD-5E9FCE0D7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07E6C-0046-4E85-8573-70BA3F95D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8AFDD-2101-4C61-A9A0-18E52FE9A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1035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AFEC7-DA4A-42CB-8AC1-02628C5F6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EBD537-3ECC-4DB2-A37B-CECF29274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BB616-8CD9-4FE3-BF58-B8B975FF1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02726-0FEE-4935-8F52-CC0D186D3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44E00-987F-450B-BFF1-65EB61DF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0628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2C8B47-B5B5-4814-9CB4-6D78AAE04B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74487B-7CAE-44D2-8EE3-6E7F367A8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486F4-0BC7-4E49-83AF-2ADEE1C73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29EBF-8D3D-487F-B0B3-C71F1FB49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AB5EA4-CC54-4389-8419-04346926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4499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02218A-EABC-46A2-B9D2-F37EE91A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D5374-9DCD-433C-8FAC-ED51CB981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F1DAA-1281-4A0F-BFC4-80ACB546B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C6751-3BEE-4E9B-B2EE-26D93AD5FB0C}" type="datetimeFigureOut">
              <a:rPr lang="en-IN" smtClean="0"/>
              <a:t>19-12-2024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0EFF0-6315-4DB1-A322-26F89F5259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3FE08-37D1-46CC-B363-C0E9C1D522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7617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tm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tm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tm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tm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m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tmp"/><Relationship Id="rId3" Type="http://schemas.openxmlformats.org/officeDocument/2006/relationships/image" Target="../media/image11.tmp"/><Relationship Id="rId7" Type="http://schemas.openxmlformats.org/officeDocument/2006/relationships/image" Target="../media/image15.tm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tmp"/><Relationship Id="rId11" Type="http://schemas.openxmlformats.org/officeDocument/2006/relationships/image" Target="../media/image23.png"/><Relationship Id="rId5" Type="http://schemas.openxmlformats.org/officeDocument/2006/relationships/image" Target="../media/image13.tmp"/><Relationship Id="rId10" Type="http://schemas.openxmlformats.org/officeDocument/2006/relationships/image" Target="../media/image18.tmp"/><Relationship Id="rId4" Type="http://schemas.openxmlformats.org/officeDocument/2006/relationships/image" Target="../media/image12.tmp"/><Relationship Id="rId9" Type="http://schemas.openxmlformats.org/officeDocument/2006/relationships/image" Target="../media/image17.tm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tmp"/><Relationship Id="rId4" Type="http://schemas.openxmlformats.org/officeDocument/2006/relationships/image" Target="../media/image19.tm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tm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tm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tm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tmp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tmp"/><Relationship Id="rId3" Type="http://schemas.openxmlformats.org/officeDocument/2006/relationships/image" Target="../media/image57.tmp"/><Relationship Id="rId7" Type="http://schemas.openxmlformats.org/officeDocument/2006/relationships/image" Target="../media/image61.tmp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tmp"/><Relationship Id="rId5" Type="http://schemas.openxmlformats.org/officeDocument/2006/relationships/image" Target="../media/image59.tmp"/><Relationship Id="rId4" Type="http://schemas.openxmlformats.org/officeDocument/2006/relationships/image" Target="../media/image58.tmp"/><Relationship Id="rId9" Type="http://schemas.openxmlformats.org/officeDocument/2006/relationships/image" Target="../media/image63.tm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F82CD-C342-43B4-9200-E981975D94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B07E9-4868-4EE7-995A-08FCE5D803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833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BECB70-C6BE-4BC1-B747-74C10BE49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4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4041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ED52FC0-8C67-4A57-BBE9-B82BCCFAE7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2986" y="126008"/>
            <a:ext cx="9859014" cy="660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134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E25467AA-962C-4048-BD5F-33693B0915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0502" y="352697"/>
            <a:ext cx="9213610" cy="608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21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36C4215D-E0AA-405E-824E-65CF83778C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62" y="352697"/>
            <a:ext cx="9163638" cy="6022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472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blipFill>
                <a:blip r:embed="rId3"/>
                <a:stretch>
                  <a:fillRect l="-2174" t="-2479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3B40E11-AF8D-475B-AC02-89B47FB6F0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086" y="352697"/>
            <a:ext cx="9016002" cy="599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78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  <a:p>
                <a:endParaRPr lang="en-IN" dirty="0"/>
              </a:p>
              <a:p>
                <a:r>
                  <a:rPr lang="en-IN" dirty="0"/>
                  <a:t>With FTIR</a:t>
                </a:r>
              </a:p>
              <a:p>
                <a:endParaRPr lang="en-IN" dirty="0"/>
              </a:p>
              <a:p>
                <a:r>
                  <a:rPr lang="de-DE" dirty="0"/>
                  <a:t>Takes </a:t>
                </a:r>
                <a:r>
                  <a:rPr lang="de-DE" dirty="0" err="1"/>
                  <a:t>about</a:t>
                </a:r>
                <a:r>
                  <a:rPr lang="de-DE" dirty="0"/>
                  <a:t> 211 </a:t>
                </a:r>
                <a:r>
                  <a:rPr lang="de-DE" dirty="0" err="1"/>
                  <a:t>mins</a:t>
                </a:r>
                <a:endParaRPr lang="de-DE" dirty="0"/>
              </a:p>
              <a:p>
                <a:endParaRPr lang="de-DE" dirty="0"/>
              </a:p>
              <a:p>
                <a:r>
                  <a:rPr lang="de-DE" dirty="0"/>
                  <a:t>25x25x25 </a:t>
                </a:r>
                <a:r>
                  <a:rPr lang="de-DE" dirty="0" err="1"/>
                  <a:t>crashes</a:t>
                </a:r>
                <a:r>
                  <a:rPr lang="de-DE" dirty="0"/>
                  <a:t> after ~300 min </a:t>
                </a:r>
              </a:p>
              <a:p>
                <a:endParaRPr lang="de-DE" dirty="0"/>
              </a:p>
              <a:p>
                <a:r>
                  <a:rPr lang="de-DE" dirty="0"/>
                  <a:t>(</a:t>
                </a:r>
                <a:r>
                  <a:rPr lang="de-DE" dirty="0" err="1"/>
                  <a:t>OutOfMemoryError</a:t>
                </a:r>
                <a:r>
                  <a:rPr lang="de-DE" dirty="0"/>
                  <a:t>() )</a:t>
                </a:r>
                <a:endParaRPr lang="en-US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blipFill>
                <a:blip r:embed="rId3"/>
                <a:stretch>
                  <a:fillRect l="-1980" t="-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64EB86F-2AC5-4C26-8AEF-452F661323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5" t="6044" r="1808" b="2823"/>
          <a:stretch/>
        </p:blipFill>
        <p:spPr>
          <a:xfrm>
            <a:off x="3149600" y="701040"/>
            <a:ext cx="7934960" cy="525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821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18EE88-9342-467E-B5E8-69B2B065BBA6}"/>
              </a:ext>
            </a:extLst>
          </p:cNvPr>
          <p:cNvSpPr txBox="1"/>
          <p:nvPr/>
        </p:nvSpPr>
        <p:spPr>
          <a:xfrm>
            <a:off x="149133" y="352697"/>
            <a:ext cx="22413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Unit cells </a:t>
            </a:r>
            <a:r>
              <a:rPr lang="de-DE" b="1" dirty="0"/>
              <a:t>10x10x10</a:t>
            </a:r>
            <a:endParaRPr lang="en-IN" b="1" dirty="0"/>
          </a:p>
          <a:p>
            <a:endParaRPr lang="en-US" dirty="0"/>
          </a:p>
          <a:p>
            <a:r>
              <a:rPr lang="en-US" dirty="0"/>
              <a:t>R</a:t>
            </a:r>
            <a:r>
              <a:rPr lang="en-IN" dirty="0" err="1"/>
              <a:t>andom</a:t>
            </a:r>
            <a:r>
              <a:rPr lang="en-IN" dirty="0"/>
              <a:t> orientations</a:t>
            </a:r>
          </a:p>
          <a:p>
            <a:endParaRPr lang="en-IN" dirty="0"/>
          </a:p>
          <a:p>
            <a:r>
              <a:rPr lang="en-IN" dirty="0"/>
              <a:t>Frequency shifted</a:t>
            </a:r>
          </a:p>
          <a:p>
            <a:endParaRPr lang="en-IN" dirty="0"/>
          </a:p>
          <a:p>
            <a:r>
              <a:rPr lang="en-IN" dirty="0"/>
              <a:t>With FTIR</a:t>
            </a:r>
          </a:p>
          <a:p>
            <a:endParaRPr lang="en-IN" dirty="0"/>
          </a:p>
          <a:p>
            <a:r>
              <a:rPr lang="en-IN" dirty="0"/>
              <a:t>With </a:t>
            </a:r>
            <a:r>
              <a:rPr lang="en-IN" b="1" dirty="0"/>
              <a:t>periodic boundary conditions in z</a:t>
            </a:r>
            <a:r>
              <a:rPr lang="en-IN" dirty="0"/>
              <a:t> at </a:t>
            </a:r>
            <a:r>
              <a:rPr lang="el-GR" dirty="0"/>
              <a:t>ν0 = 2138.0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D0A187-008F-4852-948D-CE4FE73D3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79" y="666364"/>
            <a:ext cx="8430802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7962AFBC-8A73-4F7C-8ABA-480A423D7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602738"/>
              </p:ext>
            </p:extLst>
          </p:nvPr>
        </p:nvGraphicFramePr>
        <p:xfrm>
          <a:off x="2032000" y="197153"/>
          <a:ext cx="9778998" cy="59046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785">
                  <a:extLst>
                    <a:ext uri="{9D8B030D-6E8A-4147-A177-3AD203B41FA5}">
                      <a16:colId xmlns:a16="http://schemas.microsoft.com/office/drawing/2014/main" val="4204726471"/>
                    </a:ext>
                  </a:extLst>
                </a:gridCol>
                <a:gridCol w="1852662">
                  <a:extLst>
                    <a:ext uri="{9D8B030D-6E8A-4147-A177-3AD203B41FA5}">
                      <a16:colId xmlns:a16="http://schemas.microsoft.com/office/drawing/2014/main" val="3903638488"/>
                    </a:ext>
                  </a:extLst>
                </a:gridCol>
                <a:gridCol w="1279673">
                  <a:extLst>
                    <a:ext uri="{9D8B030D-6E8A-4147-A177-3AD203B41FA5}">
                      <a16:colId xmlns:a16="http://schemas.microsoft.com/office/drawing/2014/main" val="831239979"/>
                    </a:ext>
                  </a:extLst>
                </a:gridCol>
                <a:gridCol w="1862212">
                  <a:extLst>
                    <a:ext uri="{9D8B030D-6E8A-4147-A177-3AD203B41FA5}">
                      <a16:colId xmlns:a16="http://schemas.microsoft.com/office/drawing/2014/main" val="3251779691"/>
                    </a:ext>
                  </a:extLst>
                </a:gridCol>
                <a:gridCol w="1482354">
                  <a:extLst>
                    <a:ext uri="{9D8B030D-6E8A-4147-A177-3AD203B41FA5}">
                      <a16:colId xmlns:a16="http://schemas.microsoft.com/office/drawing/2014/main" val="1876126318"/>
                    </a:ext>
                  </a:extLst>
                </a:gridCol>
                <a:gridCol w="1777312">
                  <a:extLst>
                    <a:ext uri="{9D8B030D-6E8A-4147-A177-3AD203B41FA5}">
                      <a16:colId xmlns:a16="http://schemas.microsoft.com/office/drawing/2014/main" val="26251757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Incident</a:t>
                      </a:r>
                      <a:r>
                        <a:rPr lang="de-DE" dirty="0"/>
                        <a:t>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µ</a:t>
                      </a:r>
                      <a:r>
                        <a:rPr lang="el-GR" dirty="0"/>
                        <a:t>01</a:t>
                      </a:r>
                      <a:r>
                        <a:rPr lang="de-DE" dirty="0"/>
                        <a:t> @ 45°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dirty="0"/>
                        <a:t>α </a:t>
                      </a:r>
                      <a:r>
                        <a:rPr lang="de-DE" dirty="0"/>
                        <a:t>@ 45,0.105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1329"/>
                  </a:ext>
                </a:extLst>
              </a:tr>
              <a:tr h="1538394"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0.08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694068"/>
                  </a:ext>
                </a:extLst>
              </a:tr>
              <a:tr h="1435100">
                <a:tc>
                  <a:txBody>
                    <a:bodyPr/>
                    <a:lstStyle/>
                    <a:p>
                      <a:r>
                        <a:rPr lang="de-DE" b="1" dirty="0"/>
                        <a:t>45</a:t>
                      </a:r>
                      <a:r>
                        <a:rPr lang="de-DE" dirty="0"/>
                        <a:t>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0.105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891925"/>
                  </a:ext>
                </a:extLst>
              </a:tr>
              <a:tr h="1447800"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877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584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493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93131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19CD9-2BFE-4B1B-9401-122F254F2F48}"/>
              </a:ext>
            </a:extLst>
          </p:cNvPr>
          <p:cNvSpPr txBox="1"/>
          <p:nvPr/>
        </p:nvSpPr>
        <p:spPr>
          <a:xfrm>
            <a:off x="304800" y="180340"/>
            <a:ext cx="1899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10x10x10 </a:t>
            </a:r>
            <a:r>
              <a:rPr lang="de-DE" dirty="0" err="1"/>
              <a:t>crystal</a:t>
            </a:r>
            <a:r>
              <a:rPr lang="de-DE" dirty="0"/>
              <a:t>,</a:t>
            </a:r>
          </a:p>
          <a:p>
            <a:r>
              <a:rPr lang="el-GR" dirty="0"/>
              <a:t>ν0 = 2138.0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0E6BC8-26EC-45D2-806B-5D7697885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529" y="2214229"/>
            <a:ext cx="1711521" cy="11923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0D5E128-F3D3-4B1A-8F85-4CBEAD8D2F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9" y="750612"/>
            <a:ext cx="1711520" cy="119395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DB5669-FEE0-4F23-A1E9-C49B6BFF26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8" y="3676213"/>
            <a:ext cx="1711520" cy="11939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42B640-4856-4C09-A0FD-3CA25C4B4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2" y="2214229"/>
            <a:ext cx="1711521" cy="11923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F40E265-619D-42F2-AC73-561A33CC40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3" y="750613"/>
            <a:ext cx="1711520" cy="119395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4609F17-9DD6-4EFC-85EE-900EF6C94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2" y="3691564"/>
            <a:ext cx="1709180" cy="119232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37FD9DC-5689-4A7A-9189-6CB7AA7426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752245"/>
            <a:ext cx="1709180" cy="1192321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29B43B1-1FD9-4FB5-8E83-6CF1EB2622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2214229"/>
            <a:ext cx="1709180" cy="119232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FCB0DFD-48E6-4F34-899F-7FED2E969AF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9" y="3691564"/>
            <a:ext cx="1709180" cy="119232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376920F-6513-4336-BCC1-7D6B872A78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8" y="5005785"/>
            <a:ext cx="1709181" cy="11923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/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 (0.105 before) to match measured spectra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blipFill>
                <a:blip r:embed="rId11"/>
                <a:stretch>
                  <a:fillRect l="-529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441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/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</a:t>
                </a:r>
                <a:r>
                  <a:rPr lang="de-DE" b="1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</a:t>
                </a:r>
                <a:r>
                  <a:rPr lang="en-US" b="1" dirty="0"/>
                  <a:t>µ01</a:t>
                </a:r>
                <a:r>
                  <a:rPr lang="en-US" dirty="0"/>
                  <a:t> increased to </a:t>
                </a:r>
                <a:r>
                  <a:rPr lang="en-US" b="1" dirty="0"/>
                  <a:t>0.195</a:t>
                </a:r>
                <a:r>
                  <a:rPr lang="en-US" dirty="0"/>
                  <a:t> (0.105 before) to match measured spectra, 8x8x8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blipFill>
                <a:blip r:embed="rId3"/>
                <a:stretch>
                  <a:fillRect l="-562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364D4F-4BB3-4B43-AF2F-B11246C4C7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13" y="1751651"/>
            <a:ext cx="4578693" cy="3194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F2EEDF-70A4-4A8E-8393-F10BA7609CFA}"/>
              </a:ext>
            </a:extLst>
          </p:cNvPr>
          <p:cNvSpPr txBox="1"/>
          <p:nvPr/>
        </p:nvSpPr>
        <p:spPr>
          <a:xfrm>
            <a:off x="1877454" y="1382319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63A915-E8EE-4452-B67C-B8E7E678ABF5}"/>
              </a:ext>
            </a:extLst>
          </p:cNvPr>
          <p:cNvSpPr txBox="1"/>
          <p:nvPr/>
        </p:nvSpPr>
        <p:spPr>
          <a:xfrm>
            <a:off x="8405941" y="1382319"/>
            <a:ext cx="1663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off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B7482C-B248-4011-B5F3-D44787151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596" y="1751651"/>
            <a:ext cx="4578693" cy="319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39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12x12x12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891" y="352697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77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14x14x14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614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16x16x16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01FD322-D6ED-44CF-82D5-29919DADDC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11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20x20x20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74968B1-EC28-47AF-9971-6F00D8543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3" y="352697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281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8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2694" y="536166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706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12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949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446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46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048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41.5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8782"/>
            <a:ext cx="8725773" cy="6082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57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8192" y="383161"/>
            <a:ext cx="8742450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48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</a:t>
                </a:r>
                <a:r>
                  <a:rPr lang="el-GR" b="1" dirty="0"/>
                  <a:t>21</a:t>
                </a:r>
                <a:r>
                  <a:rPr lang="de-DE" b="1" dirty="0"/>
                  <a:t>38.0</a:t>
                </a:r>
                <a:r>
                  <a:rPr lang="en-IN" b="1" dirty="0"/>
                  <a:t>), shifted afterwards by 1.03 cm-1 again. -&gt;f </a:t>
                </a:r>
                <a:r>
                  <a:rPr lang="en-IN" b="1" dirty="0" err="1"/>
                  <a:t>requencies</a:t>
                </a:r>
                <a:r>
                  <a:rPr lang="en-IN" b="1" dirty="0"/>
                  <a:t> can be shifted afterwards</a:t>
                </a:r>
              </a:p>
              <a:p>
                <a:endParaRPr lang="en-IN" dirty="0"/>
              </a:p>
              <a:p>
                <a:r>
                  <a:rPr lang="de-DE" dirty="0"/>
                  <a:t>Theta = 42°,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blipFill>
                <a:blip r:embed="rId3"/>
                <a:stretch>
                  <a:fillRect l="-2174" t="-861" r="-2446" b="-1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282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24x24x15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43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075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E20137-DC67-9E6F-8602-3B57C6F949B9}"/>
              </a:ext>
            </a:extLst>
          </p:cNvPr>
          <p:cNvSpPr txBox="1"/>
          <p:nvPr/>
        </p:nvSpPr>
        <p:spPr>
          <a:xfrm>
            <a:off x="267129" y="186892"/>
            <a:ext cx="773649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2x2x2: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  <a:p>
            <a:br>
              <a:rPr lang="en-US" dirty="0"/>
            </a:br>
            <a:r>
              <a:rPr lang="el-GR" dirty="0"/>
              <a:t>ν0 = 2136.97</a:t>
            </a:r>
            <a:endParaRPr lang="en-US" dirty="0"/>
          </a:p>
          <a:p>
            <a:r>
              <a:rPr lang="en-US" dirty="0"/>
              <a:t>43° </a:t>
            </a:r>
            <a:r>
              <a:rPr lang="en-US" dirty="0" err="1"/>
              <a:t>inc</a:t>
            </a:r>
            <a:br>
              <a:rPr lang="en-US" dirty="0"/>
            </a:br>
            <a:r>
              <a:rPr lang="el-GR" dirty="0"/>
              <a:t>α = 0*</a:t>
            </a:r>
            <a:r>
              <a:rPr lang="en-US" dirty="0"/>
              <a:t>degrees </a:t>
            </a:r>
          </a:p>
          <a:p>
            <a:endParaRPr lang="en-US" dirty="0"/>
          </a:p>
        </p:txBody>
      </p:sp>
      <p:pic>
        <p:nvPicPr>
          <p:cNvPr id="6" name="Picture 5" descr="A graph of a graph&#10;&#10;Description automatically generated">
            <a:extLst>
              <a:ext uri="{FF2B5EF4-FFF2-40B4-BE49-F238E27FC236}">
                <a16:creationId xmlns:a16="http://schemas.microsoft.com/office/drawing/2014/main" id="{3CC08F09-43EA-D5E8-564D-0D84DF7CC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829" y="498320"/>
            <a:ext cx="8598342" cy="601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6019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E6FA3-D855-B3C2-DC5E-4EA053AEE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F019E1-7EB8-788F-DBE9-76A9B1F5F21E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4x4x4: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4F4CB8-890B-7D93-3EDB-C5457F9E1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3" cy="601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61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AC95-15B2-FF6A-91BA-F109D2928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1C44AC-D60E-312F-BE2F-DEB120A01AD9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6x6x6: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A1C5D7-FE94-4AFC-773E-B3FFEBB0D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3" cy="60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5660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FAE4-B7EB-351F-CEB2-C048B719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FC55C8-58CE-8C73-E378-89A05F1B904F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8x8x8: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59667F-70DE-3C8B-FBE1-63C58350B1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2" cy="60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238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919F3-69E6-4D51-2BAB-2AC2FFC03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6E0C7A-97F6-3544-C2A3-1B4812377492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10x10x10: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87531E-CB97-BAFB-C259-38EA788C8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2" cy="601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8309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86D0B-E0D4-5F8D-8CB5-F6941C35E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481639-6E5A-D94F-EF72-AE74561B2BAC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12x12x12: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CEDE5B-C8D5-AC66-F247-703555BDD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80" cy="601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3091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EAB85-8F5C-838A-06D7-340A76329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80F9E5-CDD0-3D38-BC20-F19BF2D369C8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14x14x14: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6D856C-9BB0-2E01-5D31-6FF1FD80CA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80" cy="601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4001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C9CFD-655E-1E98-2B46-831965C36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968B11-7C00-5A4E-10D7-EBC4350C740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16x16x16: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363934-18BA-31EC-7369-2F65077552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79" cy="601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4346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18x18x18: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516344"/>
            <a:ext cx="8591079" cy="597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3381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20x20x20: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60" y="516344"/>
            <a:ext cx="8591077" cy="597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5899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24x24x24: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60" y="516344"/>
            <a:ext cx="8591077" cy="597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1959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D48B3-26FB-0EFB-7B25-F53529CCB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71C22A-455B-B86F-8D82-0826CE3B49E5}"/>
              </a:ext>
            </a:extLst>
          </p:cNvPr>
          <p:cNvSpPr txBox="1"/>
          <p:nvPr/>
        </p:nvSpPr>
        <p:spPr>
          <a:xfrm>
            <a:off x="39876" y="52141"/>
            <a:ext cx="1030012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Convergence tests for interaction cut-off radius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10x10x10: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B484E92-8CBA-ECD4-5D1F-6BC1950F98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4603410"/>
              </p:ext>
            </p:extLst>
          </p:nvPr>
        </p:nvGraphicFramePr>
        <p:xfrm>
          <a:off x="969697" y="1001722"/>
          <a:ext cx="3013023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9183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513840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Cut-off radius</a:t>
                      </a:r>
                      <a:br>
                        <a:rPr lang="en-US" dirty="0"/>
                      </a:br>
                      <a:r>
                        <a:rPr lang="en-US" dirty="0"/>
                        <a:t>/</a:t>
                      </a:r>
                      <a:r>
                        <a:rPr lang="en-US" baseline="0" dirty="0"/>
                        <a:t> m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5e-9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1e-8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1e-7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1e-14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5" name="Picture 4" descr="A graph of a graph&#10;&#10;Description automatically generated">
            <a:extLst>
              <a:ext uri="{FF2B5EF4-FFF2-40B4-BE49-F238E27FC236}">
                <a16:creationId xmlns:a16="http://schemas.microsoft.com/office/drawing/2014/main" id="{D8BCAF49-A15D-4F73-FEC1-84D51694E8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6" y="1916535"/>
            <a:ext cx="1364007" cy="954000"/>
          </a:xfrm>
          <a:prstGeom prst="rect">
            <a:avLst/>
          </a:prstGeom>
        </p:spPr>
      </p:pic>
      <p:pic>
        <p:nvPicPr>
          <p:cNvPr id="7" name="Picture 6" descr="A graph of a graph&#10;&#10;Description automatically generated">
            <a:extLst>
              <a:ext uri="{FF2B5EF4-FFF2-40B4-BE49-F238E27FC236}">
                <a16:creationId xmlns:a16="http://schemas.microsoft.com/office/drawing/2014/main" id="{E7A65CA0-22E9-B005-6071-3D2B7D1886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5" y="2846269"/>
            <a:ext cx="1364008" cy="954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4C96162-6E7E-ECCF-A893-42131CF2B2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5" y="4679494"/>
            <a:ext cx="1364009" cy="954000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7598237-CB6A-95F9-DE69-E555A3EF95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283295"/>
              </p:ext>
            </p:extLst>
          </p:nvPr>
        </p:nvGraphicFramePr>
        <p:xfrm>
          <a:off x="3982720" y="999666"/>
          <a:ext cx="3078480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3407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535073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Cut-off radius</a:t>
                      </a:r>
                      <a:br>
                        <a:rPr lang="en-US" dirty="0"/>
                      </a:br>
                      <a:r>
                        <a:rPr lang="en-US" dirty="0"/>
                        <a:t>/</a:t>
                      </a:r>
                      <a:r>
                        <a:rPr lang="en-US" baseline="0" dirty="0"/>
                        <a:t>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1e-8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14" name="Picture 13">
            <a:extLst>
              <a:ext uri="{FF2B5EF4-FFF2-40B4-BE49-F238E27FC236}">
                <a16:creationId xmlns:a16="http://schemas.microsoft.com/office/drawing/2014/main" id="{4E7F706C-64FB-CCFC-4E92-D09BD546A0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5" y="5657951"/>
            <a:ext cx="1364009" cy="954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79792D1-C3F2-A3E1-EC89-544E86A261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1933558"/>
            <a:ext cx="1364009" cy="954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321F029-9C1A-E74E-FDDC-4EF57034E2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2871459"/>
            <a:ext cx="1364008" cy="954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BF624D0-4A75-F8FF-CD59-34E1E33462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3801193"/>
            <a:ext cx="1364009" cy="954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EE63A4-848A-9D4A-98BB-D774114CB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4753679"/>
            <a:ext cx="1364008" cy="954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A1BBBA6-EBA5-C048-0E3D-A76A3B8A15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5692056"/>
            <a:ext cx="1364008" cy="954000"/>
          </a:xfrm>
          <a:prstGeom prst="rect">
            <a:avLst/>
          </a:prstGeom>
        </p:spPr>
      </p:pic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826FCE2-ACD9-AB39-5EF8-FFFC663D1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552085"/>
              </p:ext>
            </p:extLst>
          </p:nvPr>
        </p:nvGraphicFramePr>
        <p:xfrm>
          <a:off x="7050943" y="1001723"/>
          <a:ext cx="3007457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3407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464050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Cut-off radius</a:t>
                      </a:r>
                      <a:br>
                        <a:rPr lang="en-US" dirty="0"/>
                      </a:br>
                      <a:r>
                        <a:rPr lang="en-US" dirty="0"/>
                        <a:t>/</a:t>
                      </a:r>
                      <a:r>
                        <a:rPr lang="en-US" baseline="0" dirty="0"/>
                        <a:t>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4e-10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5e-10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7e-10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9e-10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30" name="Picture 29" descr="A graph of a graph&#10;&#10;Description automatically generated">
            <a:extLst>
              <a:ext uri="{FF2B5EF4-FFF2-40B4-BE49-F238E27FC236}">
                <a16:creationId xmlns:a16="http://schemas.microsoft.com/office/drawing/2014/main" id="{01AED83C-9CB7-DEB5-6B18-4F8F3321A9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0" y="1942842"/>
            <a:ext cx="1364009" cy="954000"/>
          </a:xfrm>
          <a:prstGeom prst="rect">
            <a:avLst/>
          </a:prstGeom>
        </p:spPr>
      </p:pic>
      <p:pic>
        <p:nvPicPr>
          <p:cNvPr id="32" name="Picture 31" descr="A graph of a graph&#10;&#10;Description automatically generated">
            <a:extLst>
              <a:ext uri="{FF2B5EF4-FFF2-40B4-BE49-F238E27FC236}">
                <a16:creationId xmlns:a16="http://schemas.microsoft.com/office/drawing/2014/main" id="{20D33974-D10A-299F-B9AD-0A936028FC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0" y="3829204"/>
            <a:ext cx="1364009" cy="954000"/>
          </a:xfrm>
          <a:prstGeom prst="rect">
            <a:avLst/>
          </a:prstGeom>
        </p:spPr>
      </p:pic>
      <p:pic>
        <p:nvPicPr>
          <p:cNvPr id="34" name="Picture 33" descr="A graph of a graph&#10;&#10;Description automatically generated">
            <a:extLst>
              <a:ext uri="{FF2B5EF4-FFF2-40B4-BE49-F238E27FC236}">
                <a16:creationId xmlns:a16="http://schemas.microsoft.com/office/drawing/2014/main" id="{E706CC21-816B-F7F9-1F7D-EA13D844510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1" y="4759654"/>
            <a:ext cx="1364009" cy="954000"/>
          </a:xfrm>
          <a:prstGeom prst="rect">
            <a:avLst/>
          </a:prstGeom>
        </p:spPr>
      </p:pic>
      <p:pic>
        <p:nvPicPr>
          <p:cNvPr id="36" name="Picture 35" descr="A graph of a graph&#10;&#10;Description automatically generated">
            <a:extLst>
              <a:ext uri="{FF2B5EF4-FFF2-40B4-BE49-F238E27FC236}">
                <a16:creationId xmlns:a16="http://schemas.microsoft.com/office/drawing/2014/main" id="{C8E1CCA4-04BE-8C73-B9C7-477717AA77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1" y="5692056"/>
            <a:ext cx="1364008" cy="954000"/>
          </a:xfrm>
          <a:prstGeom prst="rect">
            <a:avLst/>
          </a:prstGeom>
        </p:spPr>
      </p:pic>
      <p:pic>
        <p:nvPicPr>
          <p:cNvPr id="38" name="Picture 37" descr="A graph of a graph&#10;&#10;Description automatically generated">
            <a:extLst>
              <a:ext uri="{FF2B5EF4-FFF2-40B4-BE49-F238E27FC236}">
                <a16:creationId xmlns:a16="http://schemas.microsoft.com/office/drawing/2014/main" id="{D3E594B0-7BC9-B254-E3D7-38554A4BDD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1" y="2874248"/>
            <a:ext cx="1364008" cy="954000"/>
          </a:xfrm>
          <a:prstGeom prst="rect">
            <a:avLst/>
          </a:prstGeom>
        </p:spPr>
      </p:pic>
      <p:pic>
        <p:nvPicPr>
          <p:cNvPr id="41" name="Picture 40" descr="A graph of a graph&#10;&#10;Description automatically generated">
            <a:extLst>
              <a:ext uri="{FF2B5EF4-FFF2-40B4-BE49-F238E27FC236}">
                <a16:creationId xmlns:a16="http://schemas.microsoft.com/office/drawing/2014/main" id="{2C1A57B6-99D6-89FE-DB5B-818795A3AD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4" y="3794785"/>
            <a:ext cx="1364008" cy="954000"/>
          </a:xfrm>
          <a:prstGeom prst="rect">
            <a:avLst/>
          </a:prstGeom>
        </p:spPr>
      </p:pic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2EA2D8DC-63D6-889C-3C88-C6364B8D5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945745"/>
              </p:ext>
            </p:extLst>
          </p:nvPr>
        </p:nvGraphicFramePr>
        <p:xfrm>
          <a:off x="10014775" y="999626"/>
          <a:ext cx="2123537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770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338767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 err="1"/>
                        <a:t>R_cut</a:t>
                      </a:r>
                      <a:r>
                        <a:rPr lang="en-US" dirty="0"/>
                        <a:t> /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5.64e-10</a:t>
                      </a:r>
                    </a:p>
                    <a:p>
                      <a:r>
                        <a:rPr lang="en-GB" sz="1400" dirty="0"/>
                        <a:t>(a0_CO)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44" name="Picture 43" descr="A graph of a graph&#10;&#10;Description automatically generated">
            <a:extLst>
              <a:ext uri="{FF2B5EF4-FFF2-40B4-BE49-F238E27FC236}">
                <a16:creationId xmlns:a16="http://schemas.microsoft.com/office/drawing/2014/main" id="{52ADE5C3-E85D-74A8-19E4-34C41AA67E5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4304" y="1942842"/>
            <a:ext cx="1364008" cy="954000"/>
          </a:xfrm>
          <a:prstGeom prst="rect">
            <a:avLst/>
          </a:prstGeom>
        </p:spPr>
      </p:pic>
      <p:pic>
        <p:nvPicPr>
          <p:cNvPr id="47" name="Picture 46" descr="A graph of a graph&#10;&#10;Description automatically generated">
            <a:extLst>
              <a:ext uri="{FF2B5EF4-FFF2-40B4-BE49-F238E27FC236}">
                <a16:creationId xmlns:a16="http://schemas.microsoft.com/office/drawing/2014/main" id="{749002CE-ACEE-FD32-4E98-989DE21CCF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4304" y="2833766"/>
            <a:ext cx="1364008" cy="9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673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1047</Words>
  <Application>Microsoft Office PowerPoint</Application>
  <PresentationFormat>Widescreen</PresentationFormat>
  <Paragraphs>303</Paragraphs>
  <Slides>35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Choudhury, Arnab</dc:creator>
  <cp:lastModifiedBy>Crowley, Daniel</cp:lastModifiedBy>
  <cp:revision>125</cp:revision>
  <dcterms:created xsi:type="dcterms:W3CDTF">2024-02-27T13:40:40Z</dcterms:created>
  <dcterms:modified xsi:type="dcterms:W3CDTF">2024-12-20T10:11:57Z</dcterms:modified>
</cp:coreProperties>
</file>