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1" r:id="rId25"/>
    <p:sldId id="280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474" autoAdjust="0"/>
  </p:normalViewPr>
  <p:slideViewPr>
    <p:cSldViewPr snapToGrid="0" showGuides="1">
      <p:cViewPr varScale="1">
        <p:scale>
          <a:sx n="60" d="100"/>
          <a:sy n="60" d="100"/>
        </p:scale>
        <p:origin x="884" y="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214083-9EE7-4E8F-81A4-DA52BC10460F}" type="datetimeFigureOut">
              <a:rPr lang="en-US" smtClean="0"/>
              <a:t>12/15/2024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DA3BE-8651-44EF-90D8-D9C485CA26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900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5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1512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33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489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150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531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196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8076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196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99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92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1987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ν0 </a:t>
            </a:r>
            <a:r>
              <a:rPr lang="el-G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l-GR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l-G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2130.937</a:t>
            </a:r>
            <a:endParaRPr lang="el-G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31721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44s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6342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2 </a:t>
            </a:r>
            <a:r>
              <a:rPr lang="de-DE" dirty="0" err="1"/>
              <a:t>mins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210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6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9177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Takes </a:t>
            </a:r>
            <a:r>
              <a:rPr lang="de-DE" dirty="0" err="1"/>
              <a:t>about</a:t>
            </a:r>
            <a:r>
              <a:rPr lang="de-DE" dirty="0"/>
              <a:t> 30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8132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~7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7343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~20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04633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~43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6006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~45 </a:t>
            </a:r>
            <a:r>
              <a:rPr lang="de-DE" dirty="0" err="1"/>
              <a:t>mins</a:t>
            </a:r>
            <a:r>
              <a:rPr lang="de-DE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082028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~38 </a:t>
            </a:r>
            <a:r>
              <a:rPr lang="de-DE" dirty="0" err="1"/>
              <a:t>mins</a:t>
            </a:r>
            <a:r>
              <a:rPr lang="de-DE" dirty="0"/>
              <a:t> </a:t>
            </a:r>
          </a:p>
          <a:p>
            <a:endParaRPr lang="de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Best </a:t>
            </a:r>
            <a:r>
              <a:rPr lang="de-DE" dirty="0" err="1"/>
              <a:t>would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somehting</a:t>
            </a:r>
            <a:r>
              <a:rPr lang="de-DE" dirty="0"/>
              <a:t> like 15.5 -&gt;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integers</a:t>
            </a:r>
            <a:r>
              <a:rPr lang="de-DE" dirty="0"/>
              <a:t> possible -&gt; 48x48x30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but </a:t>
            </a:r>
            <a:r>
              <a:rPr lang="de-DE" dirty="0" err="1"/>
              <a:t>computationally</a:t>
            </a:r>
            <a:r>
              <a:rPr lang="de-DE" dirty="0"/>
              <a:t> </a:t>
            </a:r>
            <a:r>
              <a:rPr lang="de-DE" dirty="0" err="1"/>
              <a:t>too</a:t>
            </a:r>
            <a:r>
              <a:rPr lang="de-DE" dirty="0"/>
              <a:t> expansive.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2738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9021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2391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1890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0474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1min 16s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485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46B2A-FA9D-961D-F182-96A4D8FB5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D4336C-0FF0-C39F-2797-2A0AB80538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E8BCBD-3916-CE67-CFDD-369768221B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6 min 51s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79D482-8D21-87DF-D7B6-061596ED4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77578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DCB16-EA5A-FF36-2FBD-39AD253A9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0F4B89-1681-CB25-5ECF-C0627D6D77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C5C598-783A-F748-2B2A-69D3489485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12 min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B768A-97BD-444F-7E24-6C294BE261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34797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2CFE9-9F5C-4CCE-9E95-E1E8A5643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164A8A-BC63-DDB8-4BC0-B705592CB2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C9B13A-DFFB-A6ED-8E77-B968C2B3D1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34 min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FCC0A0-8EF7-2F9E-E454-20C7E462CA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01257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54212-1F55-7E58-8CD7-FA3AFE01C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27FC9E-8329-6541-2CCC-CFEAEA666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79481-0182-ACB8-6701-AEE17C98C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46 min </a:t>
            </a:r>
          </a:p>
          <a:p>
            <a:endParaRPr lang="en-US" dirty="0"/>
          </a:p>
          <a:p>
            <a:r>
              <a:rPr lang="en-US" dirty="0"/>
              <a:t>18x18x18 not possible with Lenovo laptop (8GB)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923C90-28C9-7796-7DFB-7AFB275A2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853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54212-1F55-7E58-8CD7-FA3AFE01C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27FC9E-8329-6541-2CCC-CFEAEA666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79481-0182-ACB8-6701-AEE17C98C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 51 min </a:t>
            </a:r>
          </a:p>
          <a:p>
            <a:endParaRPr lang="en-US" dirty="0"/>
          </a:p>
          <a:p>
            <a:r>
              <a:rPr lang="en-US" dirty="0"/>
              <a:t>18x18x18 not possible with Lenovo laptop (8GB)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923C90-28C9-7796-7DFB-7AFB275A2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4497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54212-1F55-7E58-8CD7-FA3AFE01C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27FC9E-8329-6541-2CCC-CFEAEA666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479481-0182-ACB8-6701-AEE17C98C9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Takes 226 min </a:t>
            </a:r>
          </a:p>
          <a:p>
            <a:endParaRPr lang="en-US" dirty="0"/>
          </a:p>
          <a:p>
            <a:r>
              <a:rPr lang="en-US" dirty="0"/>
              <a:t>18x18x18 not possible with Lenovo laptop (8GB)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923C90-28C9-7796-7DFB-7AFB275A2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ADA3BE-8651-44EF-90D8-D9C485CA268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0567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09A65-EB45-4687-B3EC-20DA07D995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A22D04-DEEB-45C2-B1BA-8E25BA50D2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07BA42-2B82-4B74-968A-F0BD81C11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15-12-2024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AD446-8609-4A7C-9CA2-E8BD1478C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AC5314-C5C2-4FBE-9D9A-01A74CBFC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7774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D3790-5F73-4984-B95F-C80D6C3A5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E09FD-8781-41C4-B347-7DA4F73F1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D98F-0BA2-4FA2-9406-C6A18DF14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15-12-2024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06024-7219-4A3F-AC41-9DE3E8513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45BFC-7A5C-49B7-B2CE-E7E86C0ED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12591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17370-168A-4F15-9DB3-6E758375F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F04BB7-E5AC-4BEA-A001-D9E4CE1C8D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6E4618-B3D2-4A1A-B85E-AD586D55C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15-12-2024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FAF2CA-4C7E-456B-A956-8E0BCBC83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8ADBCD-CCB3-444F-A30E-10785420E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9447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4D420-87CF-44F1-9932-6588522BC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C053D-9005-4825-9C45-787677F912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4EF8B-A10A-493F-9B93-75542F5B8A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A257D2-15D5-446F-9353-97E84B687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15-12-2024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70AFF4-36B2-4CF8-981E-8074B7119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60575-33FA-470C-A7CE-6B1A15E09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8480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6A64B-16F6-467C-A818-2CA1D61E2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A45F9D-40EE-4279-9909-1D0B8C932B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EF1E0E-5F6E-44D6-AF8E-416A05CAAA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E4165A-3E53-48FE-8FFC-CCCB96B9EE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354B8E-65A4-4647-A7E3-EEF598EECC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F8341E3-9503-4331-8B36-56770F2C3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15-12-2024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AF0ECF-2742-4A47-A224-AE9D94334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79D682-2AC7-4673-9D3F-45DD9CCCA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910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CE854-532F-4D61-85A2-AC9AE2889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E89999-3EA1-4690-8957-B08C8B2A6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15-12-2024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A20045-E540-4BA7-BF10-9F20C6501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AF0B9C-5BDF-4877-BFD1-6BD5D4770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596152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272748-8390-4BE6-A5C9-D207F8B30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15-12-2024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7E147D-7E34-47F1-8D3A-F8F5751D4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E496BA-B9BE-4FFC-81CE-87761490D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4052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C53B9-0EB9-4167-926B-2FAF6B376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0DBB3D-C970-4733-A0A4-83B7DAC80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228BC1-979F-4297-A848-DDAB9E4E6E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3D7CA2-331B-4864-AC45-ED641329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15-12-2024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3FB937-7000-46FA-BA30-0E4F4C36A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D63CF-E58A-437A-9E27-EFB7B33EB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2922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E0399-02A1-4AD4-88EA-B61051FA2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DDD96A-B073-427C-9E5D-ADD0BFAF32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98C3B7-AC05-4D19-A369-565985E1B4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AB9D40-7FFB-476F-9EAD-5E9FCE0D7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15-12-2024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F07E6C-0046-4E85-8573-70BA3F95D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48AFDD-2101-4C61-A9A0-18E52FE9A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1035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AFEC7-DA4A-42CB-8AC1-02628C5F6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EBD537-3ECC-4DB2-A37B-CECF292747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CBB616-8CD9-4FE3-BF58-B8B975FF1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15-12-2024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02726-0FEE-4935-8F52-CC0D186D3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644E00-987F-450B-BFF1-65EB61DF9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406284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2C8B47-B5B5-4814-9CB4-6D78AAE04B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74487B-7CAE-44D2-8EE3-6E7F367A89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E486F4-0BC7-4E49-83AF-2ADEE1C73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C6751-3BEE-4E9B-B2EE-26D93AD5FB0C}" type="datetimeFigureOut">
              <a:rPr lang="en-IN" smtClean="0"/>
              <a:t>15-12-2024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029EBF-8D3D-487F-B0B3-C71F1FB49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AB5EA4-CC54-4389-8419-04346926C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44995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02218A-EABC-46A2-B9D2-F37EE91A1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2D5374-9DCD-433C-8FAC-ED51CB981A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1F1DAA-1281-4A0F-BFC4-80ACB546B5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EC6751-3BEE-4E9B-B2EE-26D93AD5FB0C}" type="datetimeFigureOut">
              <a:rPr lang="en-IN" smtClean="0"/>
              <a:t>15-12-2024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0EFF0-6315-4DB1-A322-26F89F5259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3FE08-37D1-46CC-B363-C0E9C1D522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B6140B-808E-42BF-A636-97BE4D1993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7617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tm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tm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tm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tm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tmp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tmp"/><Relationship Id="rId3" Type="http://schemas.openxmlformats.org/officeDocument/2006/relationships/image" Target="../media/image11.tmp"/><Relationship Id="rId7" Type="http://schemas.openxmlformats.org/officeDocument/2006/relationships/image" Target="../media/image15.tm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tmp"/><Relationship Id="rId11" Type="http://schemas.openxmlformats.org/officeDocument/2006/relationships/image" Target="../media/image23.png"/><Relationship Id="rId5" Type="http://schemas.openxmlformats.org/officeDocument/2006/relationships/image" Target="../media/image13.tmp"/><Relationship Id="rId10" Type="http://schemas.openxmlformats.org/officeDocument/2006/relationships/image" Target="../media/image18.tmp"/><Relationship Id="rId4" Type="http://schemas.openxmlformats.org/officeDocument/2006/relationships/image" Target="../media/image12.tmp"/><Relationship Id="rId9" Type="http://schemas.openxmlformats.org/officeDocument/2006/relationships/image" Target="../media/image17.tm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tmp"/><Relationship Id="rId4" Type="http://schemas.openxmlformats.org/officeDocument/2006/relationships/image" Target="../media/image19.tm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tm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tm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tm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tmp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F82CD-C342-43B4-9200-E981975D94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4B07E9-4868-4EE7-995A-08FCE5D803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8337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FBECB70-C6BE-4BC1-B747-74C10BE49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0"/>
            <a:ext cx="10287000" cy="685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15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15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15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4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40414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20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20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20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3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0ED52FC0-8C67-4A57-BBE9-B82BCCFAE7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2986" y="126008"/>
            <a:ext cx="9859014" cy="6605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1343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23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23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23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3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E25467AA-962C-4048-BD5F-33693B0915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0502" y="352697"/>
            <a:ext cx="9213610" cy="6083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217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923330"/>
              </a:xfrm>
              <a:prstGeom prst="rect">
                <a:avLst/>
              </a:prstGeom>
              <a:blipFill>
                <a:blip r:embed="rId3"/>
                <a:stretch>
                  <a:fillRect l="-2174" t="-3974" b="-9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36C4215D-E0AA-405E-824E-65CF83778C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62" y="352697"/>
            <a:ext cx="9163638" cy="6022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5472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1477328"/>
              </a:xfrm>
              <a:prstGeom prst="rect">
                <a:avLst/>
              </a:prstGeom>
              <a:blipFill>
                <a:blip r:embed="rId3"/>
                <a:stretch>
                  <a:fillRect l="-2174" t="-2479" b="-57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43B40E11-AF8D-475B-AC02-89B47FB6F0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7086" y="352697"/>
            <a:ext cx="9016002" cy="599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7786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460717" cy="4247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en-US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IN" b="1" dirty="0"/>
                  <a:t>24</a:t>
                </a:r>
              </a:p>
              <a:p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</a:t>
                </a:r>
              </a:p>
              <a:p>
                <a:endParaRPr lang="en-IN" dirty="0"/>
              </a:p>
              <a:p>
                <a:r>
                  <a:rPr lang="en-IN" dirty="0"/>
                  <a:t>With FTIR</a:t>
                </a:r>
              </a:p>
              <a:p>
                <a:endParaRPr lang="en-IN" dirty="0"/>
              </a:p>
              <a:p>
                <a:r>
                  <a:rPr lang="de-DE" dirty="0"/>
                  <a:t>Takes </a:t>
                </a:r>
                <a:r>
                  <a:rPr lang="de-DE" dirty="0" err="1"/>
                  <a:t>about</a:t>
                </a:r>
                <a:r>
                  <a:rPr lang="de-DE" dirty="0"/>
                  <a:t> 211 </a:t>
                </a:r>
                <a:r>
                  <a:rPr lang="de-DE" dirty="0" err="1"/>
                  <a:t>mins</a:t>
                </a:r>
                <a:endParaRPr lang="de-DE" dirty="0"/>
              </a:p>
              <a:p>
                <a:endParaRPr lang="de-DE" dirty="0"/>
              </a:p>
              <a:p>
                <a:r>
                  <a:rPr lang="de-DE" dirty="0"/>
                  <a:t>25x25x25 </a:t>
                </a:r>
                <a:r>
                  <a:rPr lang="de-DE" dirty="0" err="1"/>
                  <a:t>crashes</a:t>
                </a:r>
                <a:r>
                  <a:rPr lang="de-DE" dirty="0"/>
                  <a:t> after ~300 min </a:t>
                </a:r>
              </a:p>
              <a:p>
                <a:endParaRPr lang="de-DE" dirty="0"/>
              </a:p>
              <a:p>
                <a:r>
                  <a:rPr lang="de-DE" dirty="0"/>
                  <a:t>(</a:t>
                </a:r>
                <a:r>
                  <a:rPr lang="de-DE" dirty="0" err="1"/>
                  <a:t>OutOfMemoryError</a:t>
                </a:r>
                <a:r>
                  <a:rPr lang="de-DE" dirty="0"/>
                  <a:t>() )</a:t>
                </a:r>
                <a:endParaRPr lang="en-US" dirty="0"/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460717" cy="4247317"/>
              </a:xfrm>
              <a:prstGeom prst="rect">
                <a:avLst/>
              </a:prstGeom>
              <a:blipFill>
                <a:blip r:embed="rId3"/>
                <a:stretch>
                  <a:fillRect l="-1980" t="-8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64EB86F-2AC5-4C26-8AEF-452F6613239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5" t="6044" r="1808" b="2823"/>
          <a:stretch/>
        </p:blipFill>
        <p:spPr>
          <a:xfrm>
            <a:off x="3149600" y="701040"/>
            <a:ext cx="7934960" cy="5252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8216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918EE88-9342-467E-B5E8-69B2B065BBA6}"/>
              </a:ext>
            </a:extLst>
          </p:cNvPr>
          <p:cNvSpPr txBox="1"/>
          <p:nvPr/>
        </p:nvSpPr>
        <p:spPr>
          <a:xfrm>
            <a:off x="149133" y="352697"/>
            <a:ext cx="224136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Unit cells </a:t>
            </a:r>
            <a:r>
              <a:rPr lang="de-DE" b="1" dirty="0"/>
              <a:t>10x10x10</a:t>
            </a:r>
            <a:endParaRPr lang="en-IN" b="1" dirty="0"/>
          </a:p>
          <a:p>
            <a:endParaRPr lang="en-US" dirty="0"/>
          </a:p>
          <a:p>
            <a:r>
              <a:rPr lang="en-US" dirty="0"/>
              <a:t>R</a:t>
            </a:r>
            <a:r>
              <a:rPr lang="en-IN" dirty="0" err="1"/>
              <a:t>andom</a:t>
            </a:r>
            <a:r>
              <a:rPr lang="en-IN" dirty="0"/>
              <a:t> orientations</a:t>
            </a:r>
          </a:p>
          <a:p>
            <a:endParaRPr lang="en-IN" dirty="0"/>
          </a:p>
          <a:p>
            <a:r>
              <a:rPr lang="en-IN" dirty="0"/>
              <a:t>Frequency shifted</a:t>
            </a:r>
          </a:p>
          <a:p>
            <a:endParaRPr lang="en-IN" dirty="0"/>
          </a:p>
          <a:p>
            <a:r>
              <a:rPr lang="en-IN" dirty="0"/>
              <a:t>With FTIR</a:t>
            </a:r>
          </a:p>
          <a:p>
            <a:endParaRPr lang="en-IN" dirty="0"/>
          </a:p>
          <a:p>
            <a:r>
              <a:rPr lang="en-IN" dirty="0"/>
              <a:t>With </a:t>
            </a:r>
            <a:r>
              <a:rPr lang="en-IN" b="1" dirty="0"/>
              <a:t>periodic boundary conditions in z</a:t>
            </a:r>
            <a:r>
              <a:rPr lang="en-IN" dirty="0"/>
              <a:t> at </a:t>
            </a:r>
            <a:r>
              <a:rPr lang="el-GR" dirty="0"/>
              <a:t>ν0 = 2138.0</a:t>
            </a: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D0A187-008F-4852-948D-CE4FE73D30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279" y="666364"/>
            <a:ext cx="8430802" cy="552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9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7962AFBC-8A73-4F7C-8ABA-480A423D71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9602738"/>
              </p:ext>
            </p:extLst>
          </p:nvPr>
        </p:nvGraphicFramePr>
        <p:xfrm>
          <a:off x="2032000" y="197153"/>
          <a:ext cx="9778998" cy="59046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785">
                  <a:extLst>
                    <a:ext uri="{9D8B030D-6E8A-4147-A177-3AD203B41FA5}">
                      <a16:colId xmlns:a16="http://schemas.microsoft.com/office/drawing/2014/main" val="4204726471"/>
                    </a:ext>
                  </a:extLst>
                </a:gridCol>
                <a:gridCol w="1852662">
                  <a:extLst>
                    <a:ext uri="{9D8B030D-6E8A-4147-A177-3AD203B41FA5}">
                      <a16:colId xmlns:a16="http://schemas.microsoft.com/office/drawing/2014/main" val="3903638488"/>
                    </a:ext>
                  </a:extLst>
                </a:gridCol>
                <a:gridCol w="1279673">
                  <a:extLst>
                    <a:ext uri="{9D8B030D-6E8A-4147-A177-3AD203B41FA5}">
                      <a16:colId xmlns:a16="http://schemas.microsoft.com/office/drawing/2014/main" val="831239979"/>
                    </a:ext>
                  </a:extLst>
                </a:gridCol>
                <a:gridCol w="1862212">
                  <a:extLst>
                    <a:ext uri="{9D8B030D-6E8A-4147-A177-3AD203B41FA5}">
                      <a16:colId xmlns:a16="http://schemas.microsoft.com/office/drawing/2014/main" val="3251779691"/>
                    </a:ext>
                  </a:extLst>
                </a:gridCol>
                <a:gridCol w="1482354">
                  <a:extLst>
                    <a:ext uri="{9D8B030D-6E8A-4147-A177-3AD203B41FA5}">
                      <a16:colId xmlns:a16="http://schemas.microsoft.com/office/drawing/2014/main" val="1876126318"/>
                    </a:ext>
                  </a:extLst>
                </a:gridCol>
                <a:gridCol w="1777312">
                  <a:extLst>
                    <a:ext uri="{9D8B030D-6E8A-4147-A177-3AD203B41FA5}">
                      <a16:colId xmlns:a16="http://schemas.microsoft.com/office/drawing/2014/main" val="26251757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Incident</a:t>
                      </a:r>
                      <a:r>
                        <a:rPr lang="de-DE" dirty="0"/>
                        <a:t> 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µ</a:t>
                      </a:r>
                      <a:r>
                        <a:rPr lang="el-GR" dirty="0"/>
                        <a:t>01</a:t>
                      </a:r>
                      <a:r>
                        <a:rPr lang="de-DE" dirty="0"/>
                        <a:t> @ 45°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l-GR" dirty="0"/>
                        <a:t>α </a:t>
                      </a:r>
                      <a:r>
                        <a:rPr lang="de-DE" dirty="0"/>
                        <a:t>@ 45,0.105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21329"/>
                  </a:ext>
                </a:extLst>
              </a:tr>
              <a:tr h="1538394">
                <a:tc>
                  <a:txBody>
                    <a:bodyPr/>
                    <a:lstStyle/>
                    <a:p>
                      <a:r>
                        <a:rPr lang="de-DE" dirty="0"/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0.08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0694068"/>
                  </a:ext>
                </a:extLst>
              </a:tr>
              <a:tr h="1435100">
                <a:tc>
                  <a:txBody>
                    <a:bodyPr/>
                    <a:lstStyle/>
                    <a:p>
                      <a:r>
                        <a:rPr lang="de-DE" b="1" dirty="0"/>
                        <a:t>45</a:t>
                      </a:r>
                      <a:r>
                        <a:rPr lang="de-DE" dirty="0"/>
                        <a:t>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0.105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30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3891925"/>
                  </a:ext>
                </a:extLst>
              </a:tr>
              <a:tr h="1447800">
                <a:tc>
                  <a:txBody>
                    <a:bodyPr/>
                    <a:lstStyle/>
                    <a:p>
                      <a:r>
                        <a:rPr lang="de-DE" dirty="0"/>
                        <a:t>60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0.13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60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8773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90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584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493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393131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2D19CD9-2BFE-4B1B-9401-122F254F2F48}"/>
              </a:ext>
            </a:extLst>
          </p:cNvPr>
          <p:cNvSpPr txBox="1"/>
          <p:nvPr/>
        </p:nvSpPr>
        <p:spPr>
          <a:xfrm>
            <a:off x="304800" y="180340"/>
            <a:ext cx="18999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For</a:t>
            </a:r>
            <a:r>
              <a:rPr lang="de-DE" dirty="0"/>
              <a:t> 10x10x10 </a:t>
            </a:r>
            <a:r>
              <a:rPr lang="de-DE" dirty="0" err="1"/>
              <a:t>crystal</a:t>
            </a:r>
            <a:r>
              <a:rPr lang="de-DE" dirty="0"/>
              <a:t>,</a:t>
            </a:r>
          </a:p>
          <a:p>
            <a:r>
              <a:rPr lang="el-GR" dirty="0"/>
              <a:t>ν0 = 2138.0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00E6BC8-26EC-45D2-806B-5D7697885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529" y="2214229"/>
            <a:ext cx="1711521" cy="119232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0D5E128-F3D3-4B1A-8F85-4CBEAD8D2F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529" y="750612"/>
            <a:ext cx="1711520" cy="119395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3DB5669-FEE0-4F23-A1E9-C49B6BFF26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1528" y="3676213"/>
            <a:ext cx="1711520" cy="119395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242B640-4856-4C09-A0FD-3CA25C4B46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752" y="2214229"/>
            <a:ext cx="1711521" cy="11923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F40E265-619D-42F2-AC73-561A33CC409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3" y="750613"/>
            <a:ext cx="1711520" cy="119395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4609F17-9DD6-4EFC-85EE-900EF6C94AA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2" y="3691564"/>
            <a:ext cx="1709180" cy="1192321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37FD9DC-5689-4A7A-9189-6CB7AA7426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3718" y="752245"/>
            <a:ext cx="1709180" cy="1192321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F29B43B1-1FD9-4FB5-8E83-6CF1EB26226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3718" y="2214229"/>
            <a:ext cx="1709180" cy="1192321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FCB0DFD-48E6-4F34-899F-7FED2E969AF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1379" y="3691564"/>
            <a:ext cx="1709180" cy="1192321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376920F-6513-4336-BCC1-7D6B872A781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1378" y="5005785"/>
            <a:ext cx="1709181" cy="11923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8BB03CE-35E6-4800-877F-FC293445A98A}"/>
                  </a:ext>
                </a:extLst>
              </p:cNvPr>
              <p:cNvSpPr txBox="1"/>
              <p:nvPr/>
            </p:nvSpPr>
            <p:spPr>
              <a:xfrm>
                <a:off x="238125" y="6394461"/>
                <a:ext cx="9214446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Choose 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 (0.105 before) to match measured spectra</a:t>
                </a:r>
              </a:p>
              <a:p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88BB03CE-35E6-4800-877F-FC293445A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125" y="6394461"/>
                <a:ext cx="9214446" cy="646331"/>
              </a:xfrm>
              <a:prstGeom prst="rect">
                <a:avLst/>
              </a:prstGeom>
              <a:blipFill>
                <a:blip r:embed="rId11"/>
                <a:stretch>
                  <a:fillRect l="-529" t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44147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56A1CE-21DE-493D-9DB5-E6AD484E0208}"/>
                  </a:ext>
                </a:extLst>
              </p:cNvPr>
              <p:cNvSpPr txBox="1"/>
              <p:nvPr/>
            </p:nvSpPr>
            <p:spPr>
              <a:xfrm>
                <a:off x="200025" y="333375"/>
                <a:ext cx="975786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Choose </a:t>
                </a:r>
                <a:r>
                  <a:rPr lang="de-DE" b="1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</a:t>
                </a:r>
                <a:r>
                  <a:rPr lang="en-US" b="1" dirty="0"/>
                  <a:t>µ01</a:t>
                </a:r>
                <a:r>
                  <a:rPr lang="en-US" dirty="0"/>
                  <a:t> increased to </a:t>
                </a:r>
                <a:r>
                  <a:rPr lang="en-US" b="1" dirty="0"/>
                  <a:t>0.195</a:t>
                </a:r>
                <a:r>
                  <a:rPr lang="en-US" dirty="0"/>
                  <a:t> (0.105 before) to match measured spectra, 8x8x8</a:t>
                </a:r>
              </a:p>
              <a:p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156A1CE-21DE-493D-9DB5-E6AD484E0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5" y="333375"/>
                <a:ext cx="9757864" cy="646331"/>
              </a:xfrm>
              <a:prstGeom prst="rect">
                <a:avLst/>
              </a:prstGeom>
              <a:blipFill>
                <a:blip r:embed="rId3"/>
                <a:stretch>
                  <a:fillRect l="-562" t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91364D4F-4BB3-4B43-AF2F-B11246C4C7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13" y="1751651"/>
            <a:ext cx="4578693" cy="3194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DF2EEDF-70A4-4A8E-8393-F10BA7609CFA}"/>
              </a:ext>
            </a:extLst>
          </p:cNvPr>
          <p:cNvSpPr txBox="1"/>
          <p:nvPr/>
        </p:nvSpPr>
        <p:spPr>
          <a:xfrm>
            <a:off x="1877454" y="1382319"/>
            <a:ext cx="1646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Randomised</a:t>
            </a:r>
            <a:r>
              <a:rPr lang="de-DE" dirty="0"/>
              <a:t> 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63A915-E8EE-4452-B67C-B8E7E678ABF5}"/>
              </a:ext>
            </a:extLst>
          </p:cNvPr>
          <p:cNvSpPr txBox="1"/>
          <p:nvPr/>
        </p:nvSpPr>
        <p:spPr>
          <a:xfrm>
            <a:off x="8405941" y="1382319"/>
            <a:ext cx="16635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Randomised</a:t>
            </a:r>
            <a:r>
              <a:rPr lang="de-DE" dirty="0"/>
              <a:t> off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B7482C-B248-4011-B5F3-D447871515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8596" y="1751651"/>
            <a:ext cx="4578693" cy="3194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39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12x12x12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5819FDE-1B20-4BC3-9F30-2581242339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6891" y="352697"/>
            <a:ext cx="8726118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7772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14x14x14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5819FDE-1B20-4BC3-9F30-2581242339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062" y="352697"/>
            <a:ext cx="8725775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6146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16x16x16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801FD322-D6ED-44CF-82D5-29919DADDC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062" y="352697"/>
            <a:ext cx="8725775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911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Unit cells </a:t>
                </a:r>
                <a:r>
                  <a:rPr lang="de-DE" dirty="0"/>
                  <a:t>20x20x20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2130.937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increased to 0.195</a:t>
                </a:r>
                <a:endParaRPr lang="en-IN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18EE88-9342-467E-B5E8-69B2B065B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2585323"/>
              </a:xfrm>
              <a:prstGeom prst="rect">
                <a:avLst/>
              </a:prstGeom>
              <a:blipFill>
                <a:blip r:embed="rId3"/>
                <a:stretch>
                  <a:fillRect l="-2174" t="-1415" r="-2446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874968B1-EC28-47AF-9971-6F00D8543D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57063" y="352697"/>
            <a:ext cx="8725773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2819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8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2138.0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50°,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2694" y="536166"/>
            <a:ext cx="8726118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7069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12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2138.0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45°,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5" y="536166"/>
            <a:ext cx="8725775" cy="6087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949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16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</a:t>
                </a:r>
                <a:r>
                  <a:rPr lang="de-DE" dirty="0"/>
                  <a:t>7</a:t>
                </a:r>
                <a:r>
                  <a:rPr lang="el-GR" dirty="0"/>
                  <a:t>.</a:t>
                </a:r>
                <a:r>
                  <a:rPr lang="de-DE" dirty="0"/>
                  <a:t>4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45°,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5" y="536166"/>
            <a:ext cx="8725775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4466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16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</a:t>
                </a:r>
                <a:r>
                  <a:rPr lang="de-DE" dirty="0"/>
                  <a:t>7</a:t>
                </a:r>
                <a:r>
                  <a:rPr lang="el-GR" dirty="0"/>
                  <a:t>.</a:t>
                </a:r>
                <a:r>
                  <a:rPr lang="de-DE" dirty="0"/>
                  <a:t>4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42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6" y="536166"/>
            <a:ext cx="8725773" cy="6087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468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41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6" y="536166"/>
            <a:ext cx="8725773" cy="6087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00483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41.5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7E91A-5135-4274-9AD4-A502AAF58F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2866" y="538782"/>
            <a:ext cx="8725773" cy="6082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1578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42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ABFD287-D44C-411D-9667-E250086FCF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8192" y="383161"/>
            <a:ext cx="8742450" cy="609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3488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4247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</a:t>
                </a:r>
                <a:r>
                  <a:rPr lang="de-DE" b="1" dirty="0"/>
                  <a:t>15</a:t>
                </a:r>
                <a:endParaRPr lang="en-US" b="1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</a:t>
                </a:r>
                <a:r>
                  <a:rPr lang="el-GR" b="1" dirty="0"/>
                  <a:t>21</a:t>
                </a:r>
                <a:r>
                  <a:rPr lang="de-DE" b="1" dirty="0"/>
                  <a:t>38.0</a:t>
                </a:r>
                <a:r>
                  <a:rPr lang="en-IN" b="1" dirty="0"/>
                  <a:t>), shifted afterwards by 1.03 cm-1 again. -&gt;f </a:t>
                </a:r>
                <a:r>
                  <a:rPr lang="en-IN" b="1" dirty="0" err="1"/>
                  <a:t>requencies</a:t>
                </a:r>
                <a:r>
                  <a:rPr lang="en-IN" b="1" dirty="0"/>
                  <a:t> can be shifted afterwards</a:t>
                </a:r>
              </a:p>
              <a:p>
                <a:endParaRPr lang="en-IN" dirty="0"/>
              </a:p>
              <a:p>
                <a:r>
                  <a:rPr lang="de-DE" dirty="0"/>
                  <a:t>Theta = 42°,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4247317"/>
              </a:xfrm>
              <a:prstGeom prst="rect">
                <a:avLst/>
              </a:prstGeom>
              <a:blipFill>
                <a:blip r:embed="rId3"/>
                <a:stretch>
                  <a:fillRect l="-2174" t="-861" r="-2446" b="-12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ABFD287-D44C-411D-9667-E250086FCF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9653" y="383161"/>
            <a:ext cx="8739528" cy="609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2827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/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/>
                  <a:t>Build slab with different sizes in z:</a:t>
                </a:r>
              </a:p>
              <a:p>
                <a:endParaRPr lang="en-US" dirty="0"/>
              </a:p>
              <a:p>
                <a:r>
                  <a:rPr lang="en-US" dirty="0"/>
                  <a:t>Unit cells </a:t>
                </a:r>
                <a:r>
                  <a:rPr lang="de-DE" dirty="0"/>
                  <a:t>24x24x15</a:t>
                </a:r>
                <a:endParaRPr lang="en-US" dirty="0"/>
              </a:p>
              <a:p>
                <a:r>
                  <a:rPr lang="en-US" dirty="0"/>
                  <a:t>R</a:t>
                </a:r>
                <a:r>
                  <a:rPr lang="en-IN" dirty="0" err="1"/>
                  <a:t>andom</a:t>
                </a:r>
                <a:r>
                  <a:rPr lang="en-IN" dirty="0"/>
                  <a:t> orientations</a:t>
                </a:r>
              </a:p>
              <a:p>
                <a:endParaRPr lang="en-IN" dirty="0"/>
              </a:p>
              <a:p>
                <a:r>
                  <a:rPr lang="en-IN" dirty="0"/>
                  <a:t>Frequency shifted (</a:t>
                </a:r>
                <a:r>
                  <a:rPr lang="el-GR" dirty="0"/>
                  <a:t>ν0 = 2136.97</a:t>
                </a:r>
                <a:r>
                  <a:rPr lang="en-IN" dirty="0"/>
                  <a:t>)</a:t>
                </a:r>
              </a:p>
              <a:p>
                <a:endParaRPr lang="en-IN" dirty="0"/>
              </a:p>
              <a:p>
                <a:r>
                  <a:rPr lang="de-DE" dirty="0"/>
                  <a:t>Theta = </a:t>
                </a:r>
                <a:r>
                  <a:rPr lang="de-DE" b="1" dirty="0"/>
                  <a:t>43</a:t>
                </a:r>
                <a:r>
                  <a:rPr lang="de-DE" dirty="0"/>
                  <a:t>°,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=0 and µ01 = 0.105</a:t>
                </a:r>
                <a:endParaRPr lang="en-IN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8E945A7-064A-44D2-B79A-48E50FCB5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33" y="352697"/>
                <a:ext cx="2241369" cy="3139321"/>
              </a:xfrm>
              <a:prstGeom prst="rect">
                <a:avLst/>
              </a:prstGeom>
              <a:blipFill>
                <a:blip r:embed="rId3"/>
                <a:stretch>
                  <a:fillRect l="-2174" t="-1165" r="-2446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CABFD287-D44C-411D-9667-E250086FCF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9653" y="383161"/>
            <a:ext cx="8739528" cy="6091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6075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466575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1E20137-DC67-9E6F-8602-3B57C6F949B9}"/>
              </a:ext>
            </a:extLst>
          </p:cNvPr>
          <p:cNvSpPr txBox="1"/>
          <p:nvPr/>
        </p:nvSpPr>
        <p:spPr>
          <a:xfrm>
            <a:off x="267129" y="186892"/>
            <a:ext cx="773649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2x2x2: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  <a:p>
            <a:br>
              <a:rPr lang="en-US" dirty="0"/>
            </a:br>
            <a:r>
              <a:rPr lang="el-GR" dirty="0"/>
              <a:t>ν0 = 2136.97</a:t>
            </a:r>
            <a:endParaRPr lang="en-US" dirty="0"/>
          </a:p>
          <a:p>
            <a:r>
              <a:rPr lang="en-US" dirty="0"/>
              <a:t>43° </a:t>
            </a:r>
            <a:r>
              <a:rPr lang="en-US" dirty="0" err="1"/>
              <a:t>inc</a:t>
            </a:r>
            <a:br>
              <a:rPr lang="en-US" dirty="0"/>
            </a:br>
            <a:r>
              <a:rPr lang="el-GR" dirty="0"/>
              <a:t>α = 0*</a:t>
            </a:r>
            <a:r>
              <a:rPr lang="en-US" dirty="0"/>
              <a:t>degrees </a:t>
            </a:r>
          </a:p>
          <a:p>
            <a:endParaRPr lang="en-US" dirty="0"/>
          </a:p>
        </p:txBody>
      </p:sp>
      <p:pic>
        <p:nvPicPr>
          <p:cNvPr id="6" name="Picture 5" descr="A graph of a graph&#10;&#10;Description automatically generated">
            <a:extLst>
              <a:ext uri="{FF2B5EF4-FFF2-40B4-BE49-F238E27FC236}">
                <a16:creationId xmlns:a16="http://schemas.microsoft.com/office/drawing/2014/main" id="{3CC08F09-43EA-D5E8-564D-0D84DF7CCA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6829" y="498320"/>
            <a:ext cx="8598342" cy="6013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6019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E6FA3-D855-B3C2-DC5E-4EA053AEE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F019E1-7EB8-788F-DBE9-76A9B1F5F21E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4x4x4: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4F4CB8-890B-7D93-3EDB-C5457F9E17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8" y="498320"/>
            <a:ext cx="8591083" cy="6013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4611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AC95-15B2-FF6A-91BA-F109D2928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1C44AC-D60E-312F-BE2F-DEB120A01AD9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6x6x6: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A1C5D7-FE94-4AFC-773E-B3FFEBB0D5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8" y="498320"/>
            <a:ext cx="8591083" cy="6013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5660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BFAE4-B7EB-351F-CEB2-C048B7194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FC55C8-58CE-8C73-E378-89A05F1B904F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8x8x8: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59667F-70DE-3C8B-FBE1-63C58350B1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8" y="498320"/>
            <a:ext cx="8591082" cy="6013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42388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919F3-69E6-4D51-2BAB-2AC2FFC03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26E0C7A-97F6-3544-C2A3-1B4812377492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10x10x10: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87531E-CB97-BAFB-C259-38EA788C84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8" y="498320"/>
            <a:ext cx="8591082" cy="6013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8309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86D0B-E0D4-5F8D-8CB5-F6941C35E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481639-6E5A-D94F-EF72-AE74561B2BAC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12x12x12: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1CEDE5B-C8D5-AC66-F247-703555BDD3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9" y="498320"/>
            <a:ext cx="8591080" cy="6013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3091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EAB85-8F5C-838A-06D7-340A76329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E80F9E5-CDD0-3D38-BC20-F19BF2D369C8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14x14x14: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6D856C-9BB0-2E01-5D31-6FF1FD80CA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9" y="498320"/>
            <a:ext cx="8591080" cy="6013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4001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C9CFD-655E-1E98-2B46-831965C36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4968B11-7C00-5A4E-10D7-EBC4350C7406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16x16x16: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363934-18BA-31EC-7369-2F65077552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9" y="498320"/>
            <a:ext cx="8591079" cy="6013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4346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5211E-1102-2FD0-78EB-C9FCAC9F3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4E9728-04D8-EA48-D9FD-118A37B4EA16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18x18x18: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F8022-5C1E-65B1-9434-4302CEA63D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59" y="516344"/>
            <a:ext cx="8591079" cy="597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3381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5211E-1102-2FD0-78EB-C9FCAC9F3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4E9728-04D8-EA48-D9FD-118A37B4EA16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20x20x20: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F8022-5C1E-65B1-9434-4302CEA63D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60" y="516344"/>
            <a:ext cx="8591077" cy="597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5899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5211E-1102-2FD0-78EB-C9FCAC9F3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4E9728-04D8-EA48-D9FD-118A37B4EA16}"/>
              </a:ext>
            </a:extLst>
          </p:cNvPr>
          <p:cNvSpPr txBox="1"/>
          <p:nvPr/>
        </p:nvSpPr>
        <p:spPr>
          <a:xfrm>
            <a:off x="588515" y="186892"/>
            <a:ext cx="741510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Convergence tests with periodic boundary conditions switched on for all axis:</a:t>
            </a:r>
          </a:p>
          <a:p>
            <a:endParaRPr lang="en-US" dirty="0"/>
          </a:p>
          <a:p>
            <a:r>
              <a:rPr lang="en-US" dirty="0"/>
              <a:t>24x24x24:</a:t>
            </a:r>
          </a:p>
          <a:p>
            <a:endParaRPr lang="en-US" dirty="0"/>
          </a:p>
          <a:p>
            <a:r>
              <a:rPr lang="en-US" dirty="0"/>
              <a:t>rand 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AF8022-5C1E-65B1-9434-4302CEA63D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800460" y="516344"/>
            <a:ext cx="8591077" cy="5977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1959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919</Words>
  <Application>Microsoft Office PowerPoint</Application>
  <PresentationFormat>Widescreen</PresentationFormat>
  <Paragraphs>272</Paragraphs>
  <Slides>35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Calibri Light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Choudhury, Arnab</dc:creator>
  <cp:lastModifiedBy>Crowley, Daniel</cp:lastModifiedBy>
  <cp:revision>104</cp:revision>
  <dcterms:created xsi:type="dcterms:W3CDTF">2024-02-27T13:40:40Z</dcterms:created>
  <dcterms:modified xsi:type="dcterms:W3CDTF">2024-12-15T23:40:57Z</dcterms:modified>
</cp:coreProperties>
</file>