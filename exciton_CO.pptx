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0E470E7-932E-4312-B43D-6B1A3023FDD4}">
          <p14:sldIdLst>
            <p14:sldId id="256"/>
            <p14:sldId id="257"/>
            <p14:sldId id="258"/>
            <p14:sldId id="259"/>
            <p14:sldId id="260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Convergence test periodic boundary" id="{C4E8E7E6-8AC1-44A3-AE0D-1B64905C0DEA}">
          <p14:sldIdLst>
            <p14:sldId id="280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</p14:sldIdLst>
        </p14:section>
        <p14:section name="Interaction cut off radius" id="{3413A47D-7F2B-463C-8D74-DE9B7704671C}">
          <p14:sldIdLst>
            <p14:sldId id="293"/>
          </p14:sldIdLst>
        </p14:section>
        <p14:section name="Testing of time of force calculation" id="{A4FCF94F-9D4C-4911-8C5F-A3764E8CB44D}">
          <p14:sldIdLst>
            <p14:sldId id="294"/>
            <p14:sldId id="295"/>
            <p14:sldId id="296"/>
            <p14:sldId id="297"/>
            <p14:sldId id="298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4" autoAdjust="0"/>
    <p:restoredTop sz="88770" autoAdjust="0"/>
  </p:normalViewPr>
  <p:slideViewPr>
    <p:cSldViewPr snapToGrid="0" showGuides="1">
      <p:cViewPr varScale="1">
        <p:scale>
          <a:sx n="115" d="100"/>
          <a:sy n="115" d="100"/>
        </p:scale>
        <p:origin x="498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214083-9EE7-4E8F-81A4-DA52BC10460F}" type="datetimeFigureOut">
              <a:rPr lang="en-US" smtClean="0"/>
              <a:t>1/16/2025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DA3BE-8651-44EF-90D8-D9C485CA26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002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Takes </a:t>
            </a:r>
            <a:r>
              <a:rPr lang="de-DE" dirty="0" err="1"/>
              <a:t>about</a:t>
            </a:r>
            <a:r>
              <a:rPr lang="de-DE" dirty="0"/>
              <a:t> 5 </a:t>
            </a:r>
            <a:r>
              <a:rPr lang="de-DE" dirty="0" err="1"/>
              <a:t>mins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151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Takes </a:t>
            </a:r>
            <a:r>
              <a:rPr lang="de-DE" dirty="0" err="1"/>
              <a:t>about</a:t>
            </a:r>
            <a:r>
              <a:rPr lang="de-DE" dirty="0"/>
              <a:t> 33 </a:t>
            </a:r>
            <a:r>
              <a:rPr lang="de-DE" dirty="0" err="1"/>
              <a:t>mins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4895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Takes </a:t>
            </a:r>
            <a:r>
              <a:rPr lang="de-DE" dirty="0" err="1"/>
              <a:t>about</a:t>
            </a:r>
            <a:r>
              <a:rPr lang="de-DE" dirty="0"/>
              <a:t> 150 </a:t>
            </a:r>
            <a:r>
              <a:rPr lang="de-DE" dirty="0" err="1"/>
              <a:t>mins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453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Takes </a:t>
            </a:r>
            <a:r>
              <a:rPr lang="de-DE" dirty="0" err="1"/>
              <a:t>about</a:t>
            </a:r>
            <a:r>
              <a:rPr lang="de-DE" dirty="0"/>
              <a:t> 196 </a:t>
            </a:r>
            <a:r>
              <a:rPr lang="de-DE" dirty="0" err="1"/>
              <a:t>mins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07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Takes </a:t>
            </a:r>
            <a:r>
              <a:rPr lang="de-DE" dirty="0" err="1"/>
              <a:t>about</a:t>
            </a:r>
            <a:r>
              <a:rPr lang="de-DE" dirty="0"/>
              <a:t> 196 </a:t>
            </a:r>
            <a:r>
              <a:rPr lang="de-DE" dirty="0" err="1"/>
              <a:t>mins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99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9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1987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l-G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ν0 </a:t>
            </a:r>
            <a:r>
              <a:rPr lang="el-G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l-G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l-G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2130.937</a:t>
            </a:r>
            <a:endParaRPr lang="el-G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3172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Takes </a:t>
            </a:r>
            <a:r>
              <a:rPr lang="de-DE" dirty="0" err="1"/>
              <a:t>about</a:t>
            </a:r>
            <a:r>
              <a:rPr lang="de-DE" dirty="0"/>
              <a:t> 44s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6342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Takes </a:t>
            </a:r>
            <a:r>
              <a:rPr lang="de-DE" dirty="0" err="1"/>
              <a:t>about</a:t>
            </a:r>
            <a:r>
              <a:rPr lang="de-DE" dirty="0"/>
              <a:t> 2 </a:t>
            </a:r>
            <a:r>
              <a:rPr lang="de-DE" dirty="0" err="1"/>
              <a:t>mins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21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Takes </a:t>
            </a:r>
            <a:r>
              <a:rPr lang="de-DE" dirty="0" err="1"/>
              <a:t>about</a:t>
            </a:r>
            <a:r>
              <a:rPr lang="de-DE" dirty="0"/>
              <a:t> 6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177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Takes </a:t>
            </a:r>
            <a:r>
              <a:rPr lang="de-DE" dirty="0" err="1"/>
              <a:t>about</a:t>
            </a:r>
            <a:r>
              <a:rPr lang="de-DE" dirty="0"/>
              <a:t> 30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8132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~7 </a:t>
            </a:r>
            <a:r>
              <a:rPr lang="de-DE" dirty="0" err="1"/>
              <a:t>mins</a:t>
            </a:r>
            <a:r>
              <a:rPr lang="de-DE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34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~20 </a:t>
            </a:r>
            <a:r>
              <a:rPr lang="de-DE" dirty="0" err="1"/>
              <a:t>mins</a:t>
            </a:r>
            <a:r>
              <a:rPr lang="de-DE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4633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~43 </a:t>
            </a:r>
            <a:r>
              <a:rPr lang="de-DE" dirty="0" err="1"/>
              <a:t>mins</a:t>
            </a:r>
            <a:r>
              <a:rPr lang="de-DE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6006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~45 </a:t>
            </a:r>
            <a:r>
              <a:rPr lang="de-DE" dirty="0" err="1"/>
              <a:t>mins</a:t>
            </a:r>
            <a:r>
              <a:rPr lang="de-DE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820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~38 </a:t>
            </a:r>
            <a:r>
              <a:rPr lang="de-DE" dirty="0" err="1"/>
              <a:t>mins</a:t>
            </a:r>
            <a:r>
              <a:rPr lang="de-DE" dirty="0"/>
              <a:t> </a:t>
            </a:r>
          </a:p>
          <a:p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Best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somehting</a:t>
            </a:r>
            <a:r>
              <a:rPr lang="de-DE" dirty="0"/>
              <a:t> like 15.5 -&gt; </a:t>
            </a:r>
            <a:r>
              <a:rPr lang="de-DE" dirty="0" err="1"/>
              <a:t>only</a:t>
            </a:r>
            <a:r>
              <a:rPr lang="de-DE" dirty="0"/>
              <a:t> </a:t>
            </a:r>
            <a:r>
              <a:rPr lang="de-DE" dirty="0" err="1"/>
              <a:t>integers</a:t>
            </a:r>
            <a:r>
              <a:rPr lang="de-DE" dirty="0"/>
              <a:t> possible -&gt; 48x48x30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good</a:t>
            </a:r>
            <a:r>
              <a:rPr lang="de-DE" dirty="0"/>
              <a:t> but </a:t>
            </a:r>
            <a:r>
              <a:rPr lang="de-DE" dirty="0" err="1"/>
              <a:t>computationally</a:t>
            </a:r>
            <a:r>
              <a:rPr lang="de-DE" dirty="0"/>
              <a:t> </a:t>
            </a:r>
            <a:r>
              <a:rPr lang="de-DE" dirty="0" err="1"/>
              <a:t>too</a:t>
            </a:r>
            <a:r>
              <a:rPr lang="de-DE" dirty="0"/>
              <a:t> expansive.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73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021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391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1890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474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Takes 1min 16s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85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46B2A-FA9D-961D-F182-96A4D8FB5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4336C-0FF0-C39F-2797-2A0AB8053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8BCBD-3916-CE67-CFDD-369768221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Takes  6 min 51s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9D482-8D21-87DF-D7B6-061596ED4A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7757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DCB16-EA5A-FF36-2FBD-39AD253A9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0F4B89-1681-CB25-5ECF-C0627D6D7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C5C598-783A-F748-2B2A-69D348948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Takes  12 min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B768A-97BD-444F-7E24-6C294BE26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4797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2CFE9-9F5C-4CCE-9E95-E1E8A5643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164A8A-BC63-DDB8-4BC0-B705592CB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C9B13A-DFFB-A6ED-8E77-B968C2B3D1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Takes  34 min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CC0A0-8EF7-2F9E-E454-20C7E462CA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01257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54212-1F55-7E58-8CD7-FA3AFE01C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7FC9E-8329-6541-2CCC-CFEAEA666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79481-0182-ACB8-6701-AEE17C98C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Takes  46 min </a:t>
            </a:r>
          </a:p>
          <a:p>
            <a:endParaRPr lang="en-US" dirty="0"/>
          </a:p>
          <a:p>
            <a:r>
              <a:rPr lang="en-US" dirty="0"/>
              <a:t>18x18x18 not possible with Lenovo laptop (8GB)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23C90-28C9-7796-7DFB-7AFB275A2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8531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54212-1F55-7E58-8CD7-FA3AFE01C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7FC9E-8329-6541-2CCC-CFEAEA666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79481-0182-ACB8-6701-AEE17C98C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Takes  51 min </a:t>
            </a:r>
          </a:p>
          <a:p>
            <a:endParaRPr lang="en-US" dirty="0"/>
          </a:p>
          <a:p>
            <a:r>
              <a:rPr lang="en-US" dirty="0"/>
              <a:t>18x18x18 not possible with Lenovo laptop (8GB)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23C90-28C9-7796-7DFB-7AFB275A2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497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54212-1F55-7E58-8CD7-FA3AFE01C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27FC9E-8329-6541-2CCC-CFEAEA666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479481-0182-ACB8-6701-AEE17C98C9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Takes 226 min </a:t>
            </a:r>
          </a:p>
          <a:p>
            <a:endParaRPr lang="en-US" dirty="0"/>
          </a:p>
          <a:p>
            <a:r>
              <a:rPr lang="en-US" dirty="0"/>
              <a:t>18x18x18 not possible with Lenovo laptop (8GB)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23C90-28C9-7796-7DFB-7AFB275A2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5677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laptop: takes about 1 min to calc.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If r12 &gt; </a:t>
            </a:r>
            <a:r>
              <a:rPr lang="en-US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interaction_cut_off_radius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interaction is switched off -&gt; ( [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(dot(eu[n1][:], eu[n2][:]) - 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*dot(en, eu[n1][:])*dot(en, eu[n2][:])) / r12^</a:t>
            </a:r>
            <a:r>
              <a:rPr lang="pt-BR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3]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is set to 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dirty="0"/>
          </a:p>
          <a:p>
            <a:r>
              <a:rPr lang="en-US" dirty="0"/>
              <a:t>Does not make sense, as the periodic boundary conditions anyhow gives a maximum interaction radius of box-length / 2.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1632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1075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Time </a:t>
            </a:r>
            <a:r>
              <a:rPr lang="de-DE" dirty="0" err="1"/>
              <a:t>for</a:t>
            </a:r>
            <a:r>
              <a:rPr lang="de-DE" dirty="0"/>
              <a:t> 40x40x10 large </a:t>
            </a:r>
            <a:r>
              <a:rPr lang="de-DE" dirty="0" err="1"/>
              <a:t>sim</a:t>
            </a:r>
            <a:r>
              <a:rPr lang="de-DE" dirty="0"/>
              <a:t> box: t= 30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9972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Does</a:t>
            </a:r>
            <a:r>
              <a:rPr lang="de-DE" dirty="0"/>
              <a:t> not </a:t>
            </a:r>
            <a:r>
              <a:rPr lang="de-DE" dirty="0" err="1"/>
              <a:t>make</a:t>
            </a:r>
            <a:r>
              <a:rPr lang="de-DE" dirty="0"/>
              <a:t> a </a:t>
            </a:r>
            <a:r>
              <a:rPr lang="de-DE" dirty="0" err="1"/>
              <a:t>difference</a:t>
            </a:r>
            <a:r>
              <a:rPr lang="de-DE" dirty="0"/>
              <a:t> in </a:t>
            </a:r>
            <a:r>
              <a:rPr lang="de-DE" dirty="0" err="1"/>
              <a:t>ir_spectra_centre</a:t>
            </a:r>
            <a:r>
              <a:rPr lang="de-DE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ADA3BE-8651-44EF-90D8-D9C485CA268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2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09A65-EB45-4687-B3EC-20DA07D99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A22D04-DEEB-45C2-B1BA-8E25BA50D2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7BA42-2B82-4B74-968A-F0BD81C11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6751-3BEE-4E9B-B2EE-26D93AD5FB0C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AD446-8609-4A7C-9CA2-E8BD1478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C5314-C5C2-4FBE-9D9A-01A74CBF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6140B-808E-42BF-A636-97BE4D199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774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D3790-5F73-4984-B95F-C80D6C3A5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E09FD-8781-41C4-B347-7DA4F73F1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CD98F-0BA2-4FA2-9406-C6A18DF14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6751-3BEE-4E9B-B2EE-26D93AD5FB0C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06024-7219-4A3F-AC41-9DE3E8513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45BFC-7A5C-49B7-B2CE-E7E86C0ED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6140B-808E-42BF-A636-97BE4D199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259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7370-168A-4F15-9DB3-6E758375F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F04BB7-E5AC-4BEA-A001-D9E4CE1C8D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E4618-B3D2-4A1A-B85E-AD586D55C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6751-3BEE-4E9B-B2EE-26D93AD5FB0C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AF2CA-4C7E-456B-A956-8E0BCBC83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ADBCD-CCB3-444F-A30E-10785420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6140B-808E-42BF-A636-97BE4D199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447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4D420-87CF-44F1-9932-6588522BC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AC053D-9005-4825-9C45-787677F91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4EF8B-A10A-493F-9B93-75542F5B8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257D2-15D5-446F-9353-97E84B687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6751-3BEE-4E9B-B2EE-26D93AD5FB0C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0AFF4-36B2-4CF8-981E-8074B7119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60575-33FA-470C-A7CE-6B1A15E09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6140B-808E-42BF-A636-97BE4D199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480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6A64B-16F6-467C-A818-2CA1D61E2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A45F9D-40EE-4279-9909-1D0B8C932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F1E0E-5F6E-44D6-AF8E-416A05CAA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E4165A-3E53-48FE-8FFC-CCCB96B9EE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354B8E-65A4-4647-A7E3-EEF598EECC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8341E3-9503-4331-8B36-56770F2C3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6751-3BEE-4E9B-B2EE-26D93AD5FB0C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AF0ECF-2742-4A47-A224-AE9D94334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79D682-2AC7-4673-9D3F-45DD9CCCA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6140B-808E-42BF-A636-97BE4D199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910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CE854-532F-4D61-85A2-AC9AE2889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E89999-3EA1-4690-8957-B08C8B2A6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6751-3BEE-4E9B-B2EE-26D93AD5FB0C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A20045-E540-4BA7-BF10-9F20C6501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AF0B9C-5BDF-4877-BFD1-6BD5D4770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6140B-808E-42BF-A636-97BE4D199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6152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72748-8390-4BE6-A5C9-D207F8B3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6751-3BEE-4E9B-B2EE-26D93AD5FB0C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E147D-7E34-47F1-8D3A-F8F5751D4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E496BA-B9BE-4FFC-81CE-87761490D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6140B-808E-42BF-A636-97BE4D199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05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C53B9-0EB9-4167-926B-2FAF6B376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DBB3D-C970-4733-A0A4-83B7DAC80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28BC1-979F-4297-A848-DDAB9E4E6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3D7CA2-331B-4864-AC45-ED641329C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6751-3BEE-4E9B-B2EE-26D93AD5FB0C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FB937-7000-46FA-BA30-0E4F4C36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D63CF-E58A-437A-9E27-EFB7B33EB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6140B-808E-42BF-A636-97BE4D199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922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E0399-02A1-4AD4-88EA-B61051FA2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DDD96A-B073-427C-9E5D-ADD0BFAF32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98C3B7-AC05-4D19-A369-565985E1B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B9D40-7FFB-476F-9EAD-5E9FCE0D7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6751-3BEE-4E9B-B2EE-26D93AD5FB0C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F07E6C-0046-4E85-8573-70BA3F95D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48AFDD-2101-4C61-A9A0-18E52FE9A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6140B-808E-42BF-A636-97BE4D199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035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AFEC7-DA4A-42CB-8AC1-02628C5F6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EBD537-3ECC-4DB2-A37B-CECF29274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BB616-8CD9-4FE3-BF58-B8B975FF1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6751-3BEE-4E9B-B2EE-26D93AD5FB0C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02726-0FEE-4935-8F52-CC0D186D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44E00-987F-450B-BFF1-65EB61DF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6140B-808E-42BF-A636-97BE4D199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628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2C8B47-B5B5-4814-9CB4-6D78AAE04B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74487B-7CAE-44D2-8EE3-6E7F367A8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486F4-0BC7-4E49-83AF-2ADEE1C73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C6751-3BEE-4E9B-B2EE-26D93AD5FB0C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29EBF-8D3D-487F-B0B3-C71F1FB49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AB5EA4-CC54-4389-8419-04346926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6140B-808E-42BF-A636-97BE4D199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499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02218A-EABC-46A2-B9D2-F37EE91A1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D5374-9DCD-433C-8FAC-ED51CB981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F1DAA-1281-4A0F-BFC4-80ACB546B5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C6751-3BEE-4E9B-B2EE-26D93AD5FB0C}" type="datetimeFigureOut">
              <a:rPr lang="en-IN" smtClean="0"/>
              <a:t>16-01-2025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0EFF0-6315-4DB1-A322-26F89F5259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3FE08-37D1-46CC-B363-C0E9C1D52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6140B-808E-42BF-A636-97BE4D1993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617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tm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tmp"/><Relationship Id="rId3" Type="http://schemas.openxmlformats.org/officeDocument/2006/relationships/image" Target="../media/image11.tmp"/><Relationship Id="rId7" Type="http://schemas.openxmlformats.org/officeDocument/2006/relationships/image" Target="../media/image15.tm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tmp"/><Relationship Id="rId11" Type="http://schemas.openxmlformats.org/officeDocument/2006/relationships/image" Target="../media/image23.png"/><Relationship Id="rId5" Type="http://schemas.openxmlformats.org/officeDocument/2006/relationships/image" Target="../media/image13.tmp"/><Relationship Id="rId10" Type="http://schemas.openxmlformats.org/officeDocument/2006/relationships/image" Target="../media/image18.tmp"/><Relationship Id="rId4" Type="http://schemas.openxmlformats.org/officeDocument/2006/relationships/image" Target="../media/image12.tmp"/><Relationship Id="rId9" Type="http://schemas.openxmlformats.org/officeDocument/2006/relationships/image" Target="../media/image17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tmp"/><Relationship Id="rId4" Type="http://schemas.openxmlformats.org/officeDocument/2006/relationships/image" Target="../media/image19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tm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tm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tmp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tmp"/><Relationship Id="rId3" Type="http://schemas.openxmlformats.org/officeDocument/2006/relationships/image" Target="../media/image57.tmp"/><Relationship Id="rId7" Type="http://schemas.openxmlformats.org/officeDocument/2006/relationships/image" Target="../media/image61.tmp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tmp"/><Relationship Id="rId5" Type="http://schemas.openxmlformats.org/officeDocument/2006/relationships/image" Target="../media/image59.tmp"/><Relationship Id="rId4" Type="http://schemas.openxmlformats.org/officeDocument/2006/relationships/image" Target="../media/image58.tmp"/><Relationship Id="rId9" Type="http://schemas.openxmlformats.org/officeDocument/2006/relationships/image" Target="../media/image63.tmp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tmp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6.tmp"/><Relationship Id="rId4" Type="http://schemas.openxmlformats.org/officeDocument/2006/relationships/image" Target="../media/image65.tm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tmp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tmp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tmp"/><Relationship Id="rId7" Type="http://schemas.openxmlformats.org/officeDocument/2006/relationships/image" Target="../media/image74.tmp"/><Relationship Id="rId2" Type="http://schemas.openxmlformats.org/officeDocument/2006/relationships/image" Target="../media/image70.tm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tmp"/><Relationship Id="rId5" Type="http://schemas.openxmlformats.org/officeDocument/2006/relationships/image" Target="../media/image69.tmp"/><Relationship Id="rId4" Type="http://schemas.openxmlformats.org/officeDocument/2006/relationships/image" Target="../media/image72.tmp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tmp"/><Relationship Id="rId2" Type="http://schemas.openxmlformats.org/officeDocument/2006/relationships/image" Target="../media/image75.tmp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tmp"/><Relationship Id="rId5" Type="http://schemas.openxmlformats.org/officeDocument/2006/relationships/image" Target="../media/image69.tmp"/><Relationship Id="rId4" Type="http://schemas.openxmlformats.org/officeDocument/2006/relationships/image" Target="../media/image77.tmp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tmp"/><Relationship Id="rId3" Type="http://schemas.openxmlformats.org/officeDocument/2006/relationships/image" Target="../media/image79.tmp"/><Relationship Id="rId7" Type="http://schemas.openxmlformats.org/officeDocument/2006/relationships/image" Target="../media/image83.tmp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tmp"/><Relationship Id="rId5" Type="http://schemas.openxmlformats.org/officeDocument/2006/relationships/image" Target="../media/image81.tmp"/><Relationship Id="rId10" Type="http://schemas.openxmlformats.org/officeDocument/2006/relationships/image" Target="../media/image86.tmp"/><Relationship Id="rId4" Type="http://schemas.openxmlformats.org/officeDocument/2006/relationships/image" Target="../media/image80.tmp"/><Relationship Id="rId9" Type="http://schemas.openxmlformats.org/officeDocument/2006/relationships/image" Target="../media/image85.tm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tmp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7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F82CD-C342-43B4-9200-E981975D94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4B07E9-4868-4EE7-995A-08FCE5D803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337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BECB70-C6BE-4BC1-B747-74C10BE49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24136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Unit cells </a:t>
                </a:r>
                <a:r>
                  <a:rPr lang="en-US" b="1" dirty="0"/>
                  <a:t>15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15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15</a:t>
                </a:r>
              </a:p>
              <a:p>
                <a:endParaRPr lang="en-US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241369" cy="923330"/>
              </a:xfrm>
              <a:prstGeom prst="rect">
                <a:avLst/>
              </a:prstGeom>
              <a:blipFill>
                <a:blip r:embed="rId4"/>
                <a:stretch>
                  <a:fillRect l="-2174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041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24136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Unit cells </a:t>
                </a:r>
                <a:r>
                  <a:rPr lang="en-US" b="1" dirty="0"/>
                  <a:t>20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20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20</a:t>
                </a:r>
              </a:p>
              <a:p>
                <a:endParaRPr lang="en-US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241369" cy="923330"/>
              </a:xfrm>
              <a:prstGeom prst="rect">
                <a:avLst/>
              </a:prstGeom>
              <a:blipFill>
                <a:blip r:embed="rId3"/>
                <a:stretch>
                  <a:fillRect l="-2174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0ED52FC0-8C67-4A57-BBE9-B82BCCFAE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2986" y="126008"/>
            <a:ext cx="9859014" cy="660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134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24136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Unit cells </a:t>
                </a:r>
                <a:r>
                  <a:rPr lang="en-US" b="1" dirty="0"/>
                  <a:t>23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23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23</a:t>
                </a:r>
              </a:p>
              <a:p>
                <a:endParaRPr lang="en-US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241369" cy="923330"/>
              </a:xfrm>
              <a:prstGeom prst="rect">
                <a:avLst/>
              </a:prstGeom>
              <a:blipFill>
                <a:blip r:embed="rId3"/>
                <a:stretch>
                  <a:fillRect l="-2174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E25467AA-962C-4048-BD5F-33693B0915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502" y="352697"/>
            <a:ext cx="9213610" cy="608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217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24136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Unit cells </a:t>
                </a:r>
                <a:r>
                  <a:rPr lang="en-US" b="1" dirty="0"/>
                  <a:t>24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24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24</a:t>
                </a:r>
              </a:p>
              <a:p>
                <a:endParaRPr lang="en-US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241369" cy="923330"/>
              </a:xfrm>
              <a:prstGeom prst="rect">
                <a:avLst/>
              </a:prstGeom>
              <a:blipFill>
                <a:blip r:embed="rId3"/>
                <a:stretch>
                  <a:fillRect l="-2174" t="-3974" b="-9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6C4215D-E0AA-405E-824E-65CF83778C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662" y="352697"/>
            <a:ext cx="9163638" cy="6022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472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24136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Unit cells </a:t>
                </a:r>
                <a:r>
                  <a:rPr lang="en-US" b="1" dirty="0"/>
                  <a:t>24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24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24</a:t>
                </a:r>
              </a:p>
              <a:p>
                <a:endParaRPr lang="en-US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  <a:p>
                <a:endParaRPr lang="en-IN" dirty="0"/>
              </a:p>
              <a:p>
                <a:r>
                  <a:rPr lang="en-IN" dirty="0"/>
                  <a:t>Frequency shifted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241369" cy="1477328"/>
              </a:xfrm>
              <a:prstGeom prst="rect">
                <a:avLst/>
              </a:prstGeom>
              <a:blipFill>
                <a:blip r:embed="rId3"/>
                <a:stretch>
                  <a:fillRect l="-2174" t="-2479" b="-5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43B40E11-AF8D-475B-AC02-89B47FB6F0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7086" y="352697"/>
            <a:ext cx="9016002" cy="599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778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460717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Unit cells </a:t>
                </a:r>
                <a:r>
                  <a:rPr lang="en-US" b="1" dirty="0"/>
                  <a:t>24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24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b="1" dirty="0"/>
                  <a:t>24</a:t>
                </a:r>
              </a:p>
              <a:p>
                <a:endParaRPr lang="en-US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  <a:p>
                <a:endParaRPr lang="en-IN" dirty="0"/>
              </a:p>
              <a:p>
                <a:r>
                  <a:rPr lang="en-IN" dirty="0"/>
                  <a:t>Frequency shifted</a:t>
                </a:r>
              </a:p>
              <a:p>
                <a:endParaRPr lang="en-IN" dirty="0"/>
              </a:p>
              <a:p>
                <a:r>
                  <a:rPr lang="en-IN" dirty="0"/>
                  <a:t>With FTIR</a:t>
                </a:r>
              </a:p>
              <a:p>
                <a:endParaRPr lang="en-IN" dirty="0"/>
              </a:p>
              <a:p>
                <a:r>
                  <a:rPr lang="de-DE" dirty="0"/>
                  <a:t>Takes </a:t>
                </a:r>
                <a:r>
                  <a:rPr lang="de-DE" dirty="0" err="1"/>
                  <a:t>about</a:t>
                </a:r>
                <a:r>
                  <a:rPr lang="de-DE" dirty="0"/>
                  <a:t> 211 </a:t>
                </a:r>
                <a:r>
                  <a:rPr lang="de-DE" dirty="0" err="1"/>
                  <a:t>mins</a:t>
                </a:r>
                <a:endParaRPr lang="de-DE" dirty="0"/>
              </a:p>
              <a:p>
                <a:endParaRPr lang="de-DE" dirty="0"/>
              </a:p>
              <a:p>
                <a:r>
                  <a:rPr lang="de-DE" dirty="0"/>
                  <a:t>25x25x25 </a:t>
                </a:r>
                <a:r>
                  <a:rPr lang="de-DE" dirty="0" err="1"/>
                  <a:t>crashes</a:t>
                </a:r>
                <a:r>
                  <a:rPr lang="de-DE" dirty="0"/>
                  <a:t> after ~300 min </a:t>
                </a:r>
              </a:p>
              <a:p>
                <a:endParaRPr lang="de-DE" dirty="0"/>
              </a:p>
              <a:p>
                <a:r>
                  <a:rPr lang="de-DE" dirty="0"/>
                  <a:t>(</a:t>
                </a:r>
                <a:r>
                  <a:rPr lang="de-DE" dirty="0" err="1"/>
                  <a:t>OutOfMemoryError</a:t>
                </a:r>
                <a:r>
                  <a:rPr lang="de-DE" dirty="0"/>
                  <a:t>() )</a:t>
                </a:r>
                <a:endParaRPr lang="en-US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460717" cy="4247317"/>
              </a:xfrm>
              <a:prstGeom prst="rect">
                <a:avLst/>
              </a:prstGeom>
              <a:blipFill>
                <a:blip r:embed="rId3"/>
                <a:stretch>
                  <a:fillRect l="-1980" t="-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64EB86F-2AC5-4C26-8AEF-452F6613239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5" t="6044" r="1808" b="2823"/>
          <a:stretch/>
        </p:blipFill>
        <p:spPr>
          <a:xfrm>
            <a:off x="3149600" y="701040"/>
            <a:ext cx="7934960" cy="525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821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18EE88-9342-467E-B5E8-69B2B065BBA6}"/>
              </a:ext>
            </a:extLst>
          </p:cNvPr>
          <p:cNvSpPr txBox="1"/>
          <p:nvPr/>
        </p:nvSpPr>
        <p:spPr>
          <a:xfrm>
            <a:off x="149133" y="352697"/>
            <a:ext cx="224136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Unit cells </a:t>
            </a:r>
            <a:r>
              <a:rPr lang="de-DE" b="1" dirty="0"/>
              <a:t>10x10x10</a:t>
            </a:r>
            <a:endParaRPr lang="en-IN" b="1" dirty="0"/>
          </a:p>
          <a:p>
            <a:endParaRPr lang="en-US" dirty="0"/>
          </a:p>
          <a:p>
            <a:r>
              <a:rPr lang="en-US" dirty="0"/>
              <a:t>R</a:t>
            </a:r>
            <a:r>
              <a:rPr lang="en-IN" dirty="0" err="1"/>
              <a:t>andom</a:t>
            </a:r>
            <a:r>
              <a:rPr lang="en-IN" dirty="0"/>
              <a:t> orientations</a:t>
            </a:r>
          </a:p>
          <a:p>
            <a:endParaRPr lang="en-IN" dirty="0"/>
          </a:p>
          <a:p>
            <a:r>
              <a:rPr lang="en-IN" dirty="0"/>
              <a:t>Frequency shifted</a:t>
            </a:r>
          </a:p>
          <a:p>
            <a:endParaRPr lang="en-IN" dirty="0"/>
          </a:p>
          <a:p>
            <a:r>
              <a:rPr lang="en-IN" dirty="0"/>
              <a:t>With FTIR</a:t>
            </a:r>
          </a:p>
          <a:p>
            <a:endParaRPr lang="en-IN" dirty="0"/>
          </a:p>
          <a:p>
            <a:r>
              <a:rPr lang="en-IN" dirty="0"/>
              <a:t>With </a:t>
            </a:r>
            <a:r>
              <a:rPr lang="en-IN" b="1" dirty="0"/>
              <a:t>periodic boundary conditions in z</a:t>
            </a:r>
            <a:r>
              <a:rPr lang="en-IN" dirty="0"/>
              <a:t> at </a:t>
            </a:r>
            <a:r>
              <a:rPr lang="el-GR" dirty="0"/>
              <a:t>ν0 = 2138.0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D0A187-008F-4852-948D-CE4FE73D3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2279" y="666364"/>
            <a:ext cx="8430802" cy="5525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962AFBC-8A73-4F7C-8ABA-480A423D7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602738"/>
              </p:ext>
            </p:extLst>
          </p:nvPr>
        </p:nvGraphicFramePr>
        <p:xfrm>
          <a:off x="2032000" y="197153"/>
          <a:ext cx="9778998" cy="5904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785">
                  <a:extLst>
                    <a:ext uri="{9D8B030D-6E8A-4147-A177-3AD203B41FA5}">
                      <a16:colId xmlns:a16="http://schemas.microsoft.com/office/drawing/2014/main" val="4204726471"/>
                    </a:ext>
                  </a:extLst>
                </a:gridCol>
                <a:gridCol w="1852662">
                  <a:extLst>
                    <a:ext uri="{9D8B030D-6E8A-4147-A177-3AD203B41FA5}">
                      <a16:colId xmlns:a16="http://schemas.microsoft.com/office/drawing/2014/main" val="3903638488"/>
                    </a:ext>
                  </a:extLst>
                </a:gridCol>
                <a:gridCol w="1279673">
                  <a:extLst>
                    <a:ext uri="{9D8B030D-6E8A-4147-A177-3AD203B41FA5}">
                      <a16:colId xmlns:a16="http://schemas.microsoft.com/office/drawing/2014/main" val="831239979"/>
                    </a:ext>
                  </a:extLst>
                </a:gridCol>
                <a:gridCol w="1862212">
                  <a:extLst>
                    <a:ext uri="{9D8B030D-6E8A-4147-A177-3AD203B41FA5}">
                      <a16:colId xmlns:a16="http://schemas.microsoft.com/office/drawing/2014/main" val="3251779691"/>
                    </a:ext>
                  </a:extLst>
                </a:gridCol>
                <a:gridCol w="1482354">
                  <a:extLst>
                    <a:ext uri="{9D8B030D-6E8A-4147-A177-3AD203B41FA5}">
                      <a16:colId xmlns:a16="http://schemas.microsoft.com/office/drawing/2014/main" val="1876126318"/>
                    </a:ext>
                  </a:extLst>
                </a:gridCol>
                <a:gridCol w="1777312">
                  <a:extLst>
                    <a:ext uri="{9D8B030D-6E8A-4147-A177-3AD203B41FA5}">
                      <a16:colId xmlns:a16="http://schemas.microsoft.com/office/drawing/2014/main" val="2625175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 err="1"/>
                        <a:t>Incident</a:t>
                      </a:r>
                      <a:r>
                        <a:rPr lang="de-DE" dirty="0"/>
                        <a:t> angle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µ</a:t>
                      </a:r>
                      <a:r>
                        <a:rPr lang="el-GR" dirty="0"/>
                        <a:t>01</a:t>
                      </a:r>
                      <a:r>
                        <a:rPr lang="de-DE" dirty="0"/>
                        <a:t> @ 45°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l-GR" dirty="0"/>
                        <a:t>α </a:t>
                      </a:r>
                      <a:r>
                        <a:rPr lang="de-DE" dirty="0"/>
                        <a:t>@ 45,0.105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21329"/>
                  </a:ext>
                </a:extLst>
              </a:tr>
              <a:tr h="1538394">
                <a:tc>
                  <a:txBody>
                    <a:bodyPr/>
                    <a:lstStyle/>
                    <a:p>
                      <a:r>
                        <a:rPr lang="de-DE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b="1" dirty="0"/>
                        <a:t>0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0694068"/>
                  </a:ext>
                </a:extLst>
              </a:tr>
              <a:tr h="1435100">
                <a:tc>
                  <a:txBody>
                    <a:bodyPr/>
                    <a:lstStyle/>
                    <a:p>
                      <a:r>
                        <a:rPr lang="de-DE" b="1" dirty="0"/>
                        <a:t>45</a:t>
                      </a:r>
                      <a:r>
                        <a:rPr lang="de-DE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 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0.105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30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891925"/>
                  </a:ext>
                </a:extLst>
              </a:tr>
              <a:tr h="1447800">
                <a:tc>
                  <a:txBody>
                    <a:bodyPr/>
                    <a:lstStyle/>
                    <a:p>
                      <a:r>
                        <a:rPr lang="de-DE" dirty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0.13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877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90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584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493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393131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2D19CD9-2BFE-4B1B-9401-122F254F2F48}"/>
              </a:ext>
            </a:extLst>
          </p:cNvPr>
          <p:cNvSpPr txBox="1"/>
          <p:nvPr/>
        </p:nvSpPr>
        <p:spPr>
          <a:xfrm>
            <a:off x="304800" y="180340"/>
            <a:ext cx="1899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For</a:t>
            </a:r>
            <a:r>
              <a:rPr lang="de-DE" dirty="0"/>
              <a:t> 10x10x10 </a:t>
            </a:r>
            <a:r>
              <a:rPr lang="de-DE" dirty="0" err="1"/>
              <a:t>crystal</a:t>
            </a:r>
            <a:r>
              <a:rPr lang="de-DE" dirty="0"/>
              <a:t>,</a:t>
            </a:r>
          </a:p>
          <a:p>
            <a:r>
              <a:rPr lang="el-GR" dirty="0"/>
              <a:t>ν0 = 2138.0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00E6BC8-26EC-45D2-806B-5D7697885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1529" y="2214229"/>
            <a:ext cx="1711521" cy="119232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D5E128-F3D3-4B1A-8F85-4CBEAD8D2F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529" y="750612"/>
            <a:ext cx="1711520" cy="11939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3DB5669-FEE0-4F23-A1E9-C49B6BFF26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1528" y="3676213"/>
            <a:ext cx="1711520" cy="119395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242B640-4856-4C09-A0FD-3CA25C4B4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752" y="2214229"/>
            <a:ext cx="1711521" cy="119232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F40E265-619D-42F2-AC73-561A33CC40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3" y="750613"/>
            <a:ext cx="1711520" cy="119395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4609F17-9DD6-4EFC-85EE-900EF6C94A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2" y="3691564"/>
            <a:ext cx="1709180" cy="1192321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37FD9DC-5689-4A7A-9189-6CB7AA7426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718" y="752245"/>
            <a:ext cx="1709180" cy="119232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29B43B1-1FD9-4FB5-8E83-6CF1EB26226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3718" y="2214229"/>
            <a:ext cx="1709180" cy="119232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0FCB0DFD-48E6-4F34-899F-7FED2E969A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379" y="3691564"/>
            <a:ext cx="1709180" cy="119232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376920F-6513-4336-BCC1-7D6B872A781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1378" y="5005785"/>
            <a:ext cx="1709181" cy="11923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8BB03CE-35E6-4800-877F-FC293445A98A}"/>
                  </a:ext>
                </a:extLst>
              </p:cNvPr>
              <p:cNvSpPr txBox="1"/>
              <p:nvPr/>
            </p:nvSpPr>
            <p:spPr>
              <a:xfrm>
                <a:off x="238125" y="6394461"/>
                <a:ext cx="9214446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Choose Theta = 50°,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=0 and µ01 increased to 0.195 (0.105 before) to match measured spectra</a:t>
                </a: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8BB03CE-35E6-4800-877F-FC293445A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5" y="6394461"/>
                <a:ext cx="9214446" cy="646331"/>
              </a:xfrm>
              <a:prstGeom prst="rect">
                <a:avLst/>
              </a:prstGeom>
              <a:blipFill>
                <a:blip r:embed="rId11"/>
                <a:stretch>
                  <a:fillRect l="-529"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4414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56A1CE-21DE-493D-9DB5-E6AD484E0208}"/>
                  </a:ext>
                </a:extLst>
              </p:cNvPr>
              <p:cNvSpPr txBox="1"/>
              <p:nvPr/>
            </p:nvSpPr>
            <p:spPr>
              <a:xfrm>
                <a:off x="200025" y="333375"/>
                <a:ext cx="975786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/>
                  <a:t>Choose </a:t>
                </a:r>
                <a:r>
                  <a:rPr lang="de-DE" b="1" dirty="0"/>
                  <a:t>Theta = 50°,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=0 and </a:t>
                </a:r>
                <a:r>
                  <a:rPr lang="en-US" b="1" dirty="0"/>
                  <a:t>µ01</a:t>
                </a:r>
                <a:r>
                  <a:rPr lang="en-US" dirty="0"/>
                  <a:t> increased to </a:t>
                </a:r>
                <a:r>
                  <a:rPr lang="en-US" b="1" dirty="0"/>
                  <a:t>0.195</a:t>
                </a:r>
                <a:r>
                  <a:rPr lang="en-US" dirty="0"/>
                  <a:t> (0.105 before) to match measured spectra, 8x8x8</a:t>
                </a: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156A1CE-21DE-493D-9DB5-E6AD484E0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25" y="333375"/>
                <a:ext cx="9757864" cy="646331"/>
              </a:xfrm>
              <a:prstGeom prst="rect">
                <a:avLst/>
              </a:prstGeom>
              <a:blipFill>
                <a:blip r:embed="rId3"/>
                <a:stretch>
                  <a:fillRect l="-562"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1364D4F-4BB3-4B43-AF2F-B11246C4C7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13" y="1751651"/>
            <a:ext cx="4578693" cy="31940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F2EEDF-70A4-4A8E-8393-F10BA7609CFA}"/>
              </a:ext>
            </a:extLst>
          </p:cNvPr>
          <p:cNvSpPr txBox="1"/>
          <p:nvPr/>
        </p:nvSpPr>
        <p:spPr>
          <a:xfrm>
            <a:off x="1877454" y="1382319"/>
            <a:ext cx="1646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Randomised</a:t>
            </a:r>
            <a:r>
              <a:rPr lang="de-DE" dirty="0"/>
              <a:t> on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63A915-E8EE-4452-B67C-B8E7E678ABF5}"/>
              </a:ext>
            </a:extLst>
          </p:cNvPr>
          <p:cNvSpPr txBox="1"/>
          <p:nvPr/>
        </p:nvSpPr>
        <p:spPr>
          <a:xfrm>
            <a:off x="8405941" y="1382319"/>
            <a:ext cx="1663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Randomised</a:t>
            </a:r>
            <a:r>
              <a:rPr lang="de-DE" dirty="0"/>
              <a:t> off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B7482C-B248-4011-B5F3-D447871515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596" y="1751651"/>
            <a:ext cx="4578693" cy="319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39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241369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Unit cells </a:t>
                </a:r>
                <a:r>
                  <a:rPr lang="de-DE" dirty="0"/>
                  <a:t>12x12x12</a:t>
                </a:r>
                <a:endParaRPr lang="en-US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  <a:p>
                <a:endParaRPr lang="en-IN" dirty="0"/>
              </a:p>
              <a:p>
                <a:r>
                  <a:rPr lang="en-IN" dirty="0"/>
                  <a:t>Frequency shifted (</a:t>
                </a:r>
                <a:r>
                  <a:rPr lang="el-GR" dirty="0"/>
                  <a:t>ν0 = 2130.937</a:t>
                </a:r>
                <a:r>
                  <a:rPr lang="en-IN" dirty="0"/>
                  <a:t>)</a:t>
                </a:r>
              </a:p>
              <a:p>
                <a:endParaRPr lang="en-IN" dirty="0"/>
              </a:p>
              <a:p>
                <a:r>
                  <a:rPr lang="de-DE" dirty="0"/>
                  <a:t>Theta = 50°,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=0 and µ01 increased to 0.195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241369" cy="2585323"/>
              </a:xfrm>
              <a:prstGeom prst="rect">
                <a:avLst/>
              </a:prstGeom>
              <a:blipFill>
                <a:blip r:embed="rId3"/>
                <a:stretch>
                  <a:fillRect l="-2174" t="-1415" r="-2446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5819FDE-1B20-4BC3-9F30-258124233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6891" y="352697"/>
            <a:ext cx="8726118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777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241369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Unit cells </a:t>
                </a:r>
                <a:r>
                  <a:rPr lang="de-DE" dirty="0"/>
                  <a:t>14x14x14</a:t>
                </a:r>
                <a:endParaRPr lang="en-US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  <a:p>
                <a:endParaRPr lang="en-IN" dirty="0"/>
              </a:p>
              <a:p>
                <a:r>
                  <a:rPr lang="en-IN" dirty="0"/>
                  <a:t>Frequency shifted (</a:t>
                </a:r>
                <a:r>
                  <a:rPr lang="el-GR" dirty="0"/>
                  <a:t>ν0 = 2130.937</a:t>
                </a:r>
                <a:r>
                  <a:rPr lang="en-IN" dirty="0"/>
                  <a:t>)</a:t>
                </a:r>
              </a:p>
              <a:p>
                <a:endParaRPr lang="en-IN" dirty="0"/>
              </a:p>
              <a:p>
                <a:r>
                  <a:rPr lang="de-DE" dirty="0"/>
                  <a:t>Theta = 50°,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=0 and µ01 increased to 0.195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241369" cy="2585323"/>
              </a:xfrm>
              <a:prstGeom prst="rect">
                <a:avLst/>
              </a:prstGeom>
              <a:blipFill>
                <a:blip r:embed="rId3"/>
                <a:stretch>
                  <a:fillRect l="-2174" t="-1415" r="-2446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5819FDE-1B20-4BC3-9F30-258124233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57062" y="352697"/>
            <a:ext cx="8725775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614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241369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Unit cells </a:t>
                </a:r>
                <a:r>
                  <a:rPr lang="de-DE" dirty="0"/>
                  <a:t>16x16x16</a:t>
                </a:r>
                <a:endParaRPr lang="en-US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  <a:p>
                <a:endParaRPr lang="en-IN" dirty="0"/>
              </a:p>
              <a:p>
                <a:r>
                  <a:rPr lang="en-IN" dirty="0"/>
                  <a:t>Frequency shifted (</a:t>
                </a:r>
                <a:r>
                  <a:rPr lang="el-GR" dirty="0"/>
                  <a:t>ν0 = 2130.937</a:t>
                </a:r>
                <a:r>
                  <a:rPr lang="en-IN" dirty="0"/>
                  <a:t>)</a:t>
                </a:r>
              </a:p>
              <a:p>
                <a:endParaRPr lang="en-IN" dirty="0"/>
              </a:p>
              <a:p>
                <a:r>
                  <a:rPr lang="de-DE" dirty="0"/>
                  <a:t>Theta = 50°,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=0 and µ01 increased to 0.195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241369" cy="2585323"/>
              </a:xfrm>
              <a:prstGeom prst="rect">
                <a:avLst/>
              </a:prstGeom>
              <a:blipFill>
                <a:blip r:embed="rId3"/>
                <a:stretch>
                  <a:fillRect l="-2174" t="-1415" r="-2446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01FD322-D6ED-44CF-82D5-29919DADDC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57062" y="352697"/>
            <a:ext cx="8725775" cy="608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911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241369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Unit cells </a:t>
                </a:r>
                <a:r>
                  <a:rPr lang="de-DE" dirty="0"/>
                  <a:t>20x20x20</a:t>
                </a:r>
                <a:endParaRPr lang="en-US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  <a:p>
                <a:endParaRPr lang="en-IN" dirty="0"/>
              </a:p>
              <a:p>
                <a:r>
                  <a:rPr lang="en-IN" dirty="0"/>
                  <a:t>Frequency shifted (</a:t>
                </a:r>
                <a:r>
                  <a:rPr lang="el-GR" dirty="0"/>
                  <a:t>ν0 = 2130.937</a:t>
                </a:r>
                <a:r>
                  <a:rPr lang="en-IN" dirty="0"/>
                  <a:t>)</a:t>
                </a:r>
              </a:p>
              <a:p>
                <a:endParaRPr lang="en-IN" dirty="0"/>
              </a:p>
              <a:p>
                <a:r>
                  <a:rPr lang="de-DE" dirty="0"/>
                  <a:t>Theta = 50°,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=0 and µ01 increased to 0.195</a:t>
                </a:r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EE88-9342-467E-B5E8-69B2B065B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241369" cy="2585323"/>
              </a:xfrm>
              <a:prstGeom prst="rect">
                <a:avLst/>
              </a:prstGeom>
              <a:blipFill>
                <a:blip r:embed="rId3"/>
                <a:stretch>
                  <a:fillRect l="-2174" t="-1415" r="-2446" b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74968B1-EC28-47AF-9971-6F00D8543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57063" y="352697"/>
            <a:ext cx="8725773" cy="608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281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E945A7-064A-44D2-B79A-48E50FCB50A2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241369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Build slab with different sizes in z:</a:t>
                </a:r>
              </a:p>
              <a:p>
                <a:endParaRPr lang="en-US" dirty="0"/>
              </a:p>
              <a:p>
                <a:r>
                  <a:rPr lang="en-US" dirty="0"/>
                  <a:t>Unit cells </a:t>
                </a:r>
                <a:r>
                  <a:rPr lang="de-DE" dirty="0"/>
                  <a:t>24x24x</a:t>
                </a:r>
                <a:r>
                  <a:rPr lang="de-DE" b="1" dirty="0"/>
                  <a:t>8</a:t>
                </a:r>
                <a:endParaRPr lang="en-US" b="1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  <a:p>
                <a:endParaRPr lang="en-IN" dirty="0"/>
              </a:p>
              <a:p>
                <a:r>
                  <a:rPr lang="en-IN" dirty="0"/>
                  <a:t>Frequency shifted (</a:t>
                </a:r>
                <a:r>
                  <a:rPr lang="el-GR" dirty="0"/>
                  <a:t>ν0 = 2138.0</a:t>
                </a:r>
                <a:r>
                  <a:rPr lang="en-IN" dirty="0"/>
                  <a:t>)</a:t>
                </a:r>
              </a:p>
              <a:p>
                <a:endParaRPr lang="en-IN" dirty="0"/>
              </a:p>
              <a:p>
                <a:r>
                  <a:rPr lang="de-DE" dirty="0"/>
                  <a:t>Theta = 50°,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=0 and µ01 = 0.105</a:t>
                </a:r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E945A7-064A-44D2-B79A-48E50FCB5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241369" cy="3139321"/>
              </a:xfrm>
              <a:prstGeom prst="rect">
                <a:avLst/>
              </a:prstGeom>
              <a:blipFill>
                <a:blip r:embed="rId3"/>
                <a:stretch>
                  <a:fillRect l="-2174" t="-1165" r="-2446" b="-2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BB7E91A-5135-4274-9AD4-A502AAF58F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694" y="536166"/>
            <a:ext cx="8726118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7069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E945A7-064A-44D2-B79A-48E50FCB50A2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241369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Build slab with different sizes in z:</a:t>
                </a:r>
              </a:p>
              <a:p>
                <a:endParaRPr lang="en-US" dirty="0"/>
              </a:p>
              <a:p>
                <a:r>
                  <a:rPr lang="en-US" dirty="0"/>
                  <a:t>Unit cells </a:t>
                </a:r>
                <a:r>
                  <a:rPr lang="de-DE" dirty="0"/>
                  <a:t>24x24x</a:t>
                </a:r>
                <a:r>
                  <a:rPr lang="de-DE" b="1" dirty="0"/>
                  <a:t>12</a:t>
                </a:r>
                <a:endParaRPr lang="en-US" b="1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  <a:p>
                <a:endParaRPr lang="en-IN" dirty="0"/>
              </a:p>
              <a:p>
                <a:r>
                  <a:rPr lang="en-IN" dirty="0"/>
                  <a:t>Frequency shifted (</a:t>
                </a:r>
                <a:r>
                  <a:rPr lang="el-GR" dirty="0"/>
                  <a:t>ν0 = 2138.0</a:t>
                </a:r>
                <a:r>
                  <a:rPr lang="en-IN" dirty="0"/>
                  <a:t>)</a:t>
                </a:r>
              </a:p>
              <a:p>
                <a:endParaRPr lang="en-IN" dirty="0"/>
              </a:p>
              <a:p>
                <a:r>
                  <a:rPr lang="de-DE" dirty="0"/>
                  <a:t>Theta = 45°,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=0 and µ01 = 0.105</a:t>
                </a:r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E945A7-064A-44D2-B79A-48E50FCB5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241369" cy="3139321"/>
              </a:xfrm>
              <a:prstGeom prst="rect">
                <a:avLst/>
              </a:prstGeom>
              <a:blipFill>
                <a:blip r:embed="rId3"/>
                <a:stretch>
                  <a:fillRect l="-2174" t="-1165" r="-2446" b="-2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BB7E91A-5135-4274-9AD4-A502AAF58F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52865" y="536166"/>
            <a:ext cx="8725775" cy="608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49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E945A7-064A-44D2-B79A-48E50FCB50A2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241369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Build slab with different sizes in z:</a:t>
                </a:r>
              </a:p>
              <a:p>
                <a:endParaRPr lang="en-US" dirty="0"/>
              </a:p>
              <a:p>
                <a:r>
                  <a:rPr lang="en-US" dirty="0"/>
                  <a:t>Unit cells </a:t>
                </a:r>
                <a:r>
                  <a:rPr lang="de-DE" dirty="0"/>
                  <a:t>24x24x</a:t>
                </a:r>
                <a:r>
                  <a:rPr lang="de-DE" b="1" dirty="0"/>
                  <a:t>16</a:t>
                </a:r>
                <a:endParaRPr lang="en-US" b="1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  <a:p>
                <a:endParaRPr lang="en-IN" dirty="0"/>
              </a:p>
              <a:p>
                <a:r>
                  <a:rPr lang="en-IN" dirty="0"/>
                  <a:t>Frequency shifted (</a:t>
                </a:r>
                <a:r>
                  <a:rPr lang="el-GR" dirty="0"/>
                  <a:t>ν0 = 213</a:t>
                </a:r>
                <a:r>
                  <a:rPr lang="de-DE" dirty="0"/>
                  <a:t>7</a:t>
                </a:r>
                <a:r>
                  <a:rPr lang="el-GR" dirty="0"/>
                  <a:t>.</a:t>
                </a:r>
                <a:r>
                  <a:rPr lang="de-DE" dirty="0"/>
                  <a:t>4</a:t>
                </a:r>
                <a:r>
                  <a:rPr lang="en-IN" dirty="0"/>
                  <a:t>)</a:t>
                </a:r>
              </a:p>
              <a:p>
                <a:endParaRPr lang="en-IN" dirty="0"/>
              </a:p>
              <a:p>
                <a:r>
                  <a:rPr lang="de-DE" dirty="0"/>
                  <a:t>Theta = 45°,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=0 and µ01 = 0.105</a:t>
                </a:r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E945A7-064A-44D2-B79A-48E50FCB5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241369" cy="3139321"/>
              </a:xfrm>
              <a:prstGeom prst="rect">
                <a:avLst/>
              </a:prstGeom>
              <a:blipFill>
                <a:blip r:embed="rId3"/>
                <a:stretch>
                  <a:fillRect l="-2174" t="-1165" r="-2446" b="-2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BB7E91A-5135-4274-9AD4-A502AAF58F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52865" y="536166"/>
            <a:ext cx="8725775" cy="608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446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E945A7-064A-44D2-B79A-48E50FCB50A2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241369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Build slab with different sizes in z:</a:t>
                </a:r>
              </a:p>
              <a:p>
                <a:endParaRPr lang="en-US" dirty="0"/>
              </a:p>
              <a:p>
                <a:r>
                  <a:rPr lang="en-US" dirty="0"/>
                  <a:t>Unit cells </a:t>
                </a:r>
                <a:r>
                  <a:rPr lang="de-DE" dirty="0"/>
                  <a:t>24x24x</a:t>
                </a:r>
                <a:r>
                  <a:rPr lang="de-DE" b="1" dirty="0"/>
                  <a:t>16</a:t>
                </a:r>
                <a:endParaRPr lang="en-US" b="1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  <a:p>
                <a:endParaRPr lang="en-IN" dirty="0"/>
              </a:p>
              <a:p>
                <a:r>
                  <a:rPr lang="en-IN" dirty="0"/>
                  <a:t>Frequency shifted (</a:t>
                </a:r>
                <a:r>
                  <a:rPr lang="el-GR" dirty="0"/>
                  <a:t>ν0 = 213</a:t>
                </a:r>
                <a:r>
                  <a:rPr lang="de-DE" dirty="0"/>
                  <a:t>7</a:t>
                </a:r>
                <a:r>
                  <a:rPr lang="el-GR" dirty="0"/>
                  <a:t>.</a:t>
                </a:r>
                <a:r>
                  <a:rPr lang="de-DE" dirty="0"/>
                  <a:t>4</a:t>
                </a:r>
                <a:r>
                  <a:rPr lang="en-IN" dirty="0"/>
                  <a:t>)</a:t>
                </a:r>
              </a:p>
              <a:p>
                <a:endParaRPr lang="en-IN" dirty="0"/>
              </a:p>
              <a:p>
                <a:r>
                  <a:rPr lang="de-DE" dirty="0"/>
                  <a:t>Theta = </a:t>
                </a:r>
                <a:r>
                  <a:rPr lang="de-DE" b="1" dirty="0"/>
                  <a:t>42</a:t>
                </a:r>
                <a:r>
                  <a:rPr lang="de-DE" dirty="0"/>
                  <a:t>°,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=0 and µ01 = 0.105</a:t>
                </a:r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E945A7-064A-44D2-B79A-48E50FCB5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241369" cy="3139321"/>
              </a:xfrm>
              <a:prstGeom prst="rect">
                <a:avLst/>
              </a:prstGeom>
              <a:blipFill>
                <a:blip r:embed="rId3"/>
                <a:stretch>
                  <a:fillRect l="-2174" t="-1165" r="-2446" b="-2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BB7E91A-5135-4274-9AD4-A502AAF58F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52866" y="536166"/>
            <a:ext cx="8725773" cy="608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46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E945A7-064A-44D2-B79A-48E50FCB50A2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241369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Build slab with different sizes in z:</a:t>
                </a:r>
              </a:p>
              <a:p>
                <a:endParaRPr lang="en-US" dirty="0"/>
              </a:p>
              <a:p>
                <a:r>
                  <a:rPr lang="en-US" dirty="0"/>
                  <a:t>Unit cells </a:t>
                </a:r>
                <a:r>
                  <a:rPr lang="de-DE" dirty="0"/>
                  <a:t>24x24x</a:t>
                </a:r>
                <a:r>
                  <a:rPr lang="de-DE" b="1" dirty="0"/>
                  <a:t>15</a:t>
                </a:r>
                <a:endParaRPr lang="en-US" b="1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  <a:p>
                <a:endParaRPr lang="en-IN" dirty="0"/>
              </a:p>
              <a:p>
                <a:r>
                  <a:rPr lang="en-IN" dirty="0"/>
                  <a:t>Frequency shifted (</a:t>
                </a:r>
                <a:r>
                  <a:rPr lang="el-GR" dirty="0"/>
                  <a:t>ν0 = 2136.97</a:t>
                </a:r>
                <a:r>
                  <a:rPr lang="en-IN" dirty="0"/>
                  <a:t>)</a:t>
                </a:r>
              </a:p>
              <a:p>
                <a:endParaRPr lang="en-IN" dirty="0"/>
              </a:p>
              <a:p>
                <a:r>
                  <a:rPr lang="de-DE" dirty="0"/>
                  <a:t>Theta = </a:t>
                </a:r>
                <a:r>
                  <a:rPr lang="de-DE" b="1" dirty="0"/>
                  <a:t>41</a:t>
                </a:r>
                <a:r>
                  <a:rPr lang="de-DE" dirty="0"/>
                  <a:t>°,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=0 and µ01 = 0.105</a:t>
                </a:r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E945A7-064A-44D2-B79A-48E50FCB5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241369" cy="3139321"/>
              </a:xfrm>
              <a:prstGeom prst="rect">
                <a:avLst/>
              </a:prstGeom>
              <a:blipFill>
                <a:blip r:embed="rId3"/>
                <a:stretch>
                  <a:fillRect l="-2174" t="-1165" r="-2446" b="-2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BB7E91A-5135-4274-9AD4-A502AAF58F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52866" y="536166"/>
            <a:ext cx="8725773" cy="608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0483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E945A7-064A-44D2-B79A-48E50FCB50A2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241369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Build slab with different sizes in z:</a:t>
                </a:r>
              </a:p>
              <a:p>
                <a:endParaRPr lang="en-US" dirty="0"/>
              </a:p>
              <a:p>
                <a:r>
                  <a:rPr lang="en-US" dirty="0"/>
                  <a:t>Unit cells </a:t>
                </a:r>
                <a:r>
                  <a:rPr lang="de-DE" dirty="0"/>
                  <a:t>24x24x</a:t>
                </a:r>
                <a:r>
                  <a:rPr lang="de-DE" b="1" dirty="0"/>
                  <a:t>15</a:t>
                </a:r>
                <a:endParaRPr lang="en-US" b="1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  <a:p>
                <a:endParaRPr lang="en-IN" dirty="0"/>
              </a:p>
              <a:p>
                <a:r>
                  <a:rPr lang="en-IN" dirty="0"/>
                  <a:t>Frequency shifted (</a:t>
                </a:r>
                <a:r>
                  <a:rPr lang="el-GR" dirty="0"/>
                  <a:t>ν0 = 2136.97</a:t>
                </a:r>
                <a:r>
                  <a:rPr lang="en-IN" dirty="0"/>
                  <a:t>)</a:t>
                </a:r>
              </a:p>
              <a:p>
                <a:endParaRPr lang="en-IN" dirty="0"/>
              </a:p>
              <a:p>
                <a:r>
                  <a:rPr lang="de-DE" dirty="0"/>
                  <a:t>Theta = </a:t>
                </a:r>
                <a:r>
                  <a:rPr lang="de-DE" b="1" dirty="0"/>
                  <a:t>41.5</a:t>
                </a:r>
                <a:r>
                  <a:rPr lang="de-DE" dirty="0"/>
                  <a:t>°,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=0 and µ01 = 0.105</a:t>
                </a:r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E945A7-064A-44D2-B79A-48E50FCB5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241369" cy="3139321"/>
              </a:xfrm>
              <a:prstGeom prst="rect">
                <a:avLst/>
              </a:prstGeom>
              <a:blipFill>
                <a:blip r:embed="rId3"/>
                <a:stretch>
                  <a:fillRect l="-2174" t="-1165" r="-2446" b="-2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BB7E91A-5135-4274-9AD4-A502AAF58F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52866" y="538782"/>
            <a:ext cx="8725773" cy="608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1578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E945A7-064A-44D2-B79A-48E50FCB50A2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241369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Build slab with different sizes in z:</a:t>
                </a:r>
              </a:p>
              <a:p>
                <a:endParaRPr lang="en-US" dirty="0"/>
              </a:p>
              <a:p>
                <a:r>
                  <a:rPr lang="en-US" dirty="0"/>
                  <a:t>Unit cells </a:t>
                </a:r>
                <a:r>
                  <a:rPr lang="de-DE" dirty="0"/>
                  <a:t>24x24x</a:t>
                </a:r>
                <a:r>
                  <a:rPr lang="de-DE" b="1" dirty="0"/>
                  <a:t>15</a:t>
                </a:r>
                <a:endParaRPr lang="en-US" b="1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  <a:p>
                <a:endParaRPr lang="en-IN" dirty="0"/>
              </a:p>
              <a:p>
                <a:r>
                  <a:rPr lang="en-IN" dirty="0"/>
                  <a:t>Frequency shifted (</a:t>
                </a:r>
                <a:r>
                  <a:rPr lang="el-GR" dirty="0"/>
                  <a:t>ν0 = 2136.97</a:t>
                </a:r>
                <a:r>
                  <a:rPr lang="en-IN" dirty="0"/>
                  <a:t>)</a:t>
                </a:r>
              </a:p>
              <a:p>
                <a:endParaRPr lang="en-IN" dirty="0"/>
              </a:p>
              <a:p>
                <a:r>
                  <a:rPr lang="de-DE" dirty="0"/>
                  <a:t>Theta = </a:t>
                </a:r>
                <a:r>
                  <a:rPr lang="de-DE" b="1" dirty="0"/>
                  <a:t>42</a:t>
                </a:r>
                <a:r>
                  <a:rPr lang="de-DE" dirty="0"/>
                  <a:t>°,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=0 and µ01 = 0.105</a:t>
                </a:r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E945A7-064A-44D2-B79A-48E50FCB5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241369" cy="3139321"/>
              </a:xfrm>
              <a:prstGeom prst="rect">
                <a:avLst/>
              </a:prstGeom>
              <a:blipFill>
                <a:blip r:embed="rId3"/>
                <a:stretch>
                  <a:fillRect l="-2174" t="-1165" r="-2446" b="-2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ABFD287-D44C-411D-9667-E250086FCF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192" y="383161"/>
            <a:ext cx="8742450" cy="609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48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E945A7-064A-44D2-B79A-48E50FCB50A2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241369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Build slab with different sizes in z:</a:t>
                </a:r>
              </a:p>
              <a:p>
                <a:endParaRPr lang="en-US" dirty="0"/>
              </a:p>
              <a:p>
                <a:r>
                  <a:rPr lang="en-US" dirty="0"/>
                  <a:t>Unit cells </a:t>
                </a:r>
                <a:r>
                  <a:rPr lang="de-DE" dirty="0"/>
                  <a:t>24x24x</a:t>
                </a:r>
                <a:r>
                  <a:rPr lang="de-DE" b="1" dirty="0"/>
                  <a:t>15</a:t>
                </a:r>
                <a:endParaRPr lang="en-US" b="1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  <a:p>
                <a:endParaRPr lang="en-IN" dirty="0"/>
              </a:p>
              <a:p>
                <a:r>
                  <a:rPr lang="en-IN" dirty="0"/>
                  <a:t>Frequency shifted (</a:t>
                </a:r>
                <a:r>
                  <a:rPr lang="el-GR" dirty="0"/>
                  <a:t>ν0 = </a:t>
                </a:r>
                <a:r>
                  <a:rPr lang="el-GR" b="1" dirty="0"/>
                  <a:t>21</a:t>
                </a:r>
                <a:r>
                  <a:rPr lang="de-DE" b="1" dirty="0"/>
                  <a:t>38.0</a:t>
                </a:r>
                <a:r>
                  <a:rPr lang="en-IN" b="1" dirty="0"/>
                  <a:t>), shifted afterwards by 1.03 cm-1 again. -&gt;f </a:t>
                </a:r>
                <a:r>
                  <a:rPr lang="en-IN" b="1" dirty="0" err="1"/>
                  <a:t>requencies</a:t>
                </a:r>
                <a:r>
                  <a:rPr lang="en-IN" b="1" dirty="0"/>
                  <a:t> can be shifted afterwards</a:t>
                </a:r>
              </a:p>
              <a:p>
                <a:endParaRPr lang="en-IN" dirty="0"/>
              </a:p>
              <a:p>
                <a:r>
                  <a:rPr lang="de-DE" dirty="0"/>
                  <a:t>Theta = 42°,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=0 and µ01 = 0.105</a:t>
                </a:r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E945A7-064A-44D2-B79A-48E50FCB5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241369" cy="4247317"/>
              </a:xfrm>
              <a:prstGeom prst="rect">
                <a:avLst/>
              </a:prstGeom>
              <a:blipFill>
                <a:blip r:embed="rId3"/>
                <a:stretch>
                  <a:fillRect l="-2174" t="-861" r="-2446" b="-1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ABFD287-D44C-411D-9667-E250086FCF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9653" y="383161"/>
            <a:ext cx="8739528" cy="609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82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E945A7-064A-44D2-B79A-48E50FCB50A2}"/>
                  </a:ext>
                </a:extLst>
              </p:cNvPr>
              <p:cNvSpPr txBox="1"/>
              <p:nvPr/>
            </p:nvSpPr>
            <p:spPr>
              <a:xfrm>
                <a:off x="149133" y="352697"/>
                <a:ext cx="2241369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Build slab with different sizes in z:</a:t>
                </a:r>
              </a:p>
              <a:p>
                <a:endParaRPr lang="en-US" dirty="0"/>
              </a:p>
              <a:p>
                <a:r>
                  <a:rPr lang="en-US" dirty="0"/>
                  <a:t>Unit cells </a:t>
                </a:r>
                <a:r>
                  <a:rPr lang="de-DE" dirty="0"/>
                  <a:t>24x24x15</a:t>
                </a:r>
                <a:endParaRPr lang="en-US" dirty="0"/>
              </a:p>
              <a:p>
                <a:r>
                  <a:rPr lang="en-US" dirty="0"/>
                  <a:t>R</a:t>
                </a:r>
                <a:r>
                  <a:rPr lang="en-IN" dirty="0" err="1"/>
                  <a:t>andom</a:t>
                </a:r>
                <a:r>
                  <a:rPr lang="en-IN" dirty="0"/>
                  <a:t> orientations</a:t>
                </a:r>
              </a:p>
              <a:p>
                <a:endParaRPr lang="en-IN" dirty="0"/>
              </a:p>
              <a:p>
                <a:r>
                  <a:rPr lang="en-IN" dirty="0"/>
                  <a:t>Frequency shifted (</a:t>
                </a:r>
                <a:r>
                  <a:rPr lang="el-GR" dirty="0"/>
                  <a:t>ν0 = 2136.97</a:t>
                </a:r>
                <a:r>
                  <a:rPr lang="en-IN" dirty="0"/>
                  <a:t>)</a:t>
                </a:r>
              </a:p>
              <a:p>
                <a:endParaRPr lang="en-IN" dirty="0"/>
              </a:p>
              <a:p>
                <a:r>
                  <a:rPr lang="de-DE" dirty="0"/>
                  <a:t>Theta = </a:t>
                </a:r>
                <a:r>
                  <a:rPr lang="de-DE" b="1" dirty="0"/>
                  <a:t>43</a:t>
                </a:r>
                <a:r>
                  <a:rPr lang="de-DE" dirty="0"/>
                  <a:t>°, </a:t>
                </a:r>
                <a14:m>
                  <m:oMath xmlns:m="http://schemas.openxmlformats.org/officeDocument/2006/math">
                    <m:r>
                      <a:rPr lang="de-DE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=0 and µ01 = 0.105</a:t>
                </a:r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8E945A7-064A-44D2-B79A-48E50FCB5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33" y="352697"/>
                <a:ext cx="2241369" cy="3139321"/>
              </a:xfrm>
              <a:prstGeom prst="rect">
                <a:avLst/>
              </a:prstGeom>
              <a:blipFill>
                <a:blip r:embed="rId3"/>
                <a:stretch>
                  <a:fillRect l="-2174" t="-1165" r="-2446" b="-21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CABFD287-D44C-411D-9667-E250086FCF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39653" y="383161"/>
            <a:ext cx="8739528" cy="6091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6075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E20137-DC67-9E6F-8602-3B57C6F949B9}"/>
              </a:ext>
            </a:extLst>
          </p:cNvPr>
          <p:cNvSpPr txBox="1"/>
          <p:nvPr/>
        </p:nvSpPr>
        <p:spPr>
          <a:xfrm>
            <a:off x="267129" y="186892"/>
            <a:ext cx="773649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Convergence tests with periodic boundary conditions switched on for all axis:</a:t>
            </a:r>
          </a:p>
          <a:p>
            <a:endParaRPr lang="en-US" dirty="0"/>
          </a:p>
          <a:p>
            <a:r>
              <a:rPr lang="en-US" dirty="0"/>
              <a:t>2x2x2:</a:t>
            </a:r>
          </a:p>
          <a:p>
            <a:endParaRPr lang="en-US" dirty="0"/>
          </a:p>
          <a:p>
            <a:r>
              <a:rPr lang="en-US" dirty="0"/>
              <a:t>rand on</a:t>
            </a:r>
          </a:p>
          <a:p>
            <a:br>
              <a:rPr lang="en-US" dirty="0"/>
            </a:br>
            <a:r>
              <a:rPr lang="el-GR" dirty="0"/>
              <a:t>ν0 = 2136.97</a:t>
            </a:r>
            <a:endParaRPr lang="en-US" dirty="0"/>
          </a:p>
          <a:p>
            <a:r>
              <a:rPr lang="en-US" dirty="0"/>
              <a:t>43° </a:t>
            </a:r>
            <a:r>
              <a:rPr lang="en-US" dirty="0" err="1"/>
              <a:t>inc</a:t>
            </a:r>
            <a:br>
              <a:rPr lang="en-US" dirty="0"/>
            </a:br>
            <a:r>
              <a:rPr lang="el-GR" dirty="0"/>
              <a:t>α = 0*</a:t>
            </a:r>
            <a:r>
              <a:rPr lang="en-US" dirty="0"/>
              <a:t>degrees </a:t>
            </a:r>
          </a:p>
          <a:p>
            <a:endParaRPr lang="en-US" dirty="0"/>
          </a:p>
        </p:txBody>
      </p:sp>
      <p:pic>
        <p:nvPicPr>
          <p:cNvPr id="6" name="Picture 5" descr="A graph of a graph&#10;&#10;Description automatically generated">
            <a:extLst>
              <a:ext uri="{FF2B5EF4-FFF2-40B4-BE49-F238E27FC236}">
                <a16:creationId xmlns:a16="http://schemas.microsoft.com/office/drawing/2014/main" id="{3CC08F09-43EA-D5E8-564D-0D84DF7CC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6829" y="498320"/>
            <a:ext cx="8598342" cy="601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6019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E6FA3-D855-B3C2-DC5E-4EA053AEE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F019E1-7EB8-788F-DBE9-76A9B1F5F21E}"/>
              </a:ext>
            </a:extLst>
          </p:cNvPr>
          <p:cNvSpPr txBox="1"/>
          <p:nvPr/>
        </p:nvSpPr>
        <p:spPr>
          <a:xfrm>
            <a:off x="588515" y="186892"/>
            <a:ext cx="74151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Convergence tests with periodic boundary conditions switched on for all axis:</a:t>
            </a:r>
          </a:p>
          <a:p>
            <a:endParaRPr lang="en-US" dirty="0"/>
          </a:p>
          <a:p>
            <a:r>
              <a:rPr lang="en-US" dirty="0"/>
              <a:t>4x4x4:</a:t>
            </a:r>
          </a:p>
          <a:p>
            <a:endParaRPr lang="en-US" dirty="0"/>
          </a:p>
          <a:p>
            <a:r>
              <a:rPr lang="en-US" dirty="0"/>
              <a:t>rand 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4F4CB8-890B-7D93-3EDB-C5457F9E1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0458" y="498320"/>
            <a:ext cx="8591083" cy="601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4611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AAC95-15B2-FF6A-91BA-F109D2928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1C44AC-D60E-312F-BE2F-DEB120A01AD9}"/>
              </a:ext>
            </a:extLst>
          </p:cNvPr>
          <p:cNvSpPr txBox="1"/>
          <p:nvPr/>
        </p:nvSpPr>
        <p:spPr>
          <a:xfrm>
            <a:off x="588515" y="186892"/>
            <a:ext cx="74151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Convergence tests with periodic boundary conditions switched on for all axis:</a:t>
            </a:r>
          </a:p>
          <a:p>
            <a:endParaRPr lang="en-US" dirty="0"/>
          </a:p>
          <a:p>
            <a:r>
              <a:rPr lang="en-US" dirty="0"/>
              <a:t>6x6x6:</a:t>
            </a:r>
          </a:p>
          <a:p>
            <a:endParaRPr lang="en-US" dirty="0"/>
          </a:p>
          <a:p>
            <a:r>
              <a:rPr lang="en-US" dirty="0"/>
              <a:t>rand 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A1C5D7-FE94-4AFC-773E-B3FFEBB0D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0458" y="498320"/>
            <a:ext cx="8591083" cy="601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5660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BFAE4-B7EB-351F-CEB2-C048B7194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FC55C8-58CE-8C73-E378-89A05F1B904F}"/>
              </a:ext>
            </a:extLst>
          </p:cNvPr>
          <p:cNvSpPr txBox="1"/>
          <p:nvPr/>
        </p:nvSpPr>
        <p:spPr>
          <a:xfrm>
            <a:off x="588515" y="186892"/>
            <a:ext cx="74151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Convergence tests with periodic boundary conditions switched on for all axis:</a:t>
            </a:r>
          </a:p>
          <a:p>
            <a:endParaRPr lang="en-US" dirty="0"/>
          </a:p>
          <a:p>
            <a:r>
              <a:rPr lang="en-US" dirty="0"/>
              <a:t>8x8x8:</a:t>
            </a:r>
          </a:p>
          <a:p>
            <a:endParaRPr lang="en-US" dirty="0"/>
          </a:p>
          <a:p>
            <a:r>
              <a:rPr lang="en-US" dirty="0"/>
              <a:t>rand 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59667F-70DE-3C8B-FBE1-63C58350B1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0458" y="498320"/>
            <a:ext cx="8591082" cy="601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238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919F3-69E6-4D51-2BAB-2AC2FFC03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6E0C7A-97F6-3544-C2A3-1B4812377492}"/>
              </a:ext>
            </a:extLst>
          </p:cNvPr>
          <p:cNvSpPr txBox="1"/>
          <p:nvPr/>
        </p:nvSpPr>
        <p:spPr>
          <a:xfrm>
            <a:off x="588515" y="186892"/>
            <a:ext cx="74151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Convergence tests with periodic boundary conditions switched on for all axis:</a:t>
            </a:r>
          </a:p>
          <a:p>
            <a:endParaRPr lang="en-US" dirty="0"/>
          </a:p>
          <a:p>
            <a:r>
              <a:rPr lang="en-US" dirty="0"/>
              <a:t>10x10x10:</a:t>
            </a:r>
          </a:p>
          <a:p>
            <a:endParaRPr lang="en-US" dirty="0"/>
          </a:p>
          <a:p>
            <a:r>
              <a:rPr lang="en-US" dirty="0"/>
              <a:t>rand 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87531E-CB97-BAFB-C259-38EA788C8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0458" y="498320"/>
            <a:ext cx="8591082" cy="601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830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86D0B-E0D4-5F8D-8CB5-F6941C35E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481639-6E5A-D94F-EF72-AE74561B2BAC}"/>
              </a:ext>
            </a:extLst>
          </p:cNvPr>
          <p:cNvSpPr txBox="1"/>
          <p:nvPr/>
        </p:nvSpPr>
        <p:spPr>
          <a:xfrm>
            <a:off x="588515" y="186892"/>
            <a:ext cx="74151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Convergence tests with periodic boundary conditions switched on for all axis:</a:t>
            </a:r>
          </a:p>
          <a:p>
            <a:endParaRPr lang="en-US" dirty="0"/>
          </a:p>
          <a:p>
            <a:r>
              <a:rPr lang="en-US" dirty="0"/>
              <a:t>12x12x12:</a:t>
            </a:r>
          </a:p>
          <a:p>
            <a:endParaRPr lang="en-US" dirty="0"/>
          </a:p>
          <a:p>
            <a:r>
              <a:rPr lang="en-US" dirty="0"/>
              <a:t>rand 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CEDE5B-C8D5-AC66-F247-703555BDD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0459" y="498320"/>
            <a:ext cx="8591080" cy="601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3091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EAB85-8F5C-838A-06D7-340A76329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80F9E5-CDD0-3D38-BC20-F19BF2D369C8}"/>
              </a:ext>
            </a:extLst>
          </p:cNvPr>
          <p:cNvSpPr txBox="1"/>
          <p:nvPr/>
        </p:nvSpPr>
        <p:spPr>
          <a:xfrm>
            <a:off x="588515" y="186892"/>
            <a:ext cx="74151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Convergence tests with periodic boundary conditions switched on for all axis:</a:t>
            </a:r>
          </a:p>
          <a:p>
            <a:endParaRPr lang="en-US" dirty="0"/>
          </a:p>
          <a:p>
            <a:r>
              <a:rPr lang="en-US" dirty="0"/>
              <a:t>14x14x14:</a:t>
            </a:r>
          </a:p>
          <a:p>
            <a:endParaRPr lang="en-US" dirty="0"/>
          </a:p>
          <a:p>
            <a:r>
              <a:rPr lang="en-US" dirty="0"/>
              <a:t>rand 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6D856C-9BB0-2E01-5D31-6FF1FD80CA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0459" y="498320"/>
            <a:ext cx="8591080" cy="601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4001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C9CFD-655E-1E98-2B46-831965C36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968B11-7C00-5A4E-10D7-EBC4350C7406}"/>
              </a:ext>
            </a:extLst>
          </p:cNvPr>
          <p:cNvSpPr txBox="1"/>
          <p:nvPr/>
        </p:nvSpPr>
        <p:spPr>
          <a:xfrm>
            <a:off x="588515" y="186892"/>
            <a:ext cx="74151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Convergence tests with periodic boundary conditions switched on for all axis:</a:t>
            </a:r>
          </a:p>
          <a:p>
            <a:endParaRPr lang="en-US" dirty="0"/>
          </a:p>
          <a:p>
            <a:r>
              <a:rPr lang="en-US" dirty="0"/>
              <a:t>16x16x16:</a:t>
            </a:r>
          </a:p>
          <a:p>
            <a:endParaRPr lang="en-US" dirty="0"/>
          </a:p>
          <a:p>
            <a:r>
              <a:rPr lang="en-US" dirty="0"/>
              <a:t>rand 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363934-18BA-31EC-7369-2F6507755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0459" y="498320"/>
            <a:ext cx="8591079" cy="601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4346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5211E-1102-2FD0-78EB-C9FCAC9F3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4E9728-04D8-EA48-D9FD-118A37B4EA16}"/>
              </a:ext>
            </a:extLst>
          </p:cNvPr>
          <p:cNvSpPr txBox="1"/>
          <p:nvPr/>
        </p:nvSpPr>
        <p:spPr>
          <a:xfrm>
            <a:off x="588515" y="186892"/>
            <a:ext cx="74151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Convergence tests with periodic boundary conditions switched on for all axis:</a:t>
            </a:r>
          </a:p>
          <a:p>
            <a:endParaRPr lang="en-US" dirty="0"/>
          </a:p>
          <a:p>
            <a:r>
              <a:rPr lang="en-US" dirty="0"/>
              <a:t>18x18x18:</a:t>
            </a:r>
          </a:p>
          <a:p>
            <a:endParaRPr lang="en-US" dirty="0"/>
          </a:p>
          <a:p>
            <a:r>
              <a:rPr lang="en-US" dirty="0"/>
              <a:t>rand 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AF8022-5C1E-65B1-9434-4302CEA63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0459" y="516344"/>
            <a:ext cx="8591079" cy="597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3381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5211E-1102-2FD0-78EB-C9FCAC9F3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4E9728-04D8-EA48-D9FD-118A37B4EA16}"/>
              </a:ext>
            </a:extLst>
          </p:cNvPr>
          <p:cNvSpPr txBox="1"/>
          <p:nvPr/>
        </p:nvSpPr>
        <p:spPr>
          <a:xfrm>
            <a:off x="588515" y="186892"/>
            <a:ext cx="74151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Convergence tests with periodic boundary conditions switched on for all axis:</a:t>
            </a:r>
          </a:p>
          <a:p>
            <a:endParaRPr lang="en-US" dirty="0"/>
          </a:p>
          <a:p>
            <a:r>
              <a:rPr lang="en-US" dirty="0"/>
              <a:t>20x20x20:</a:t>
            </a:r>
          </a:p>
          <a:p>
            <a:endParaRPr lang="en-US" dirty="0"/>
          </a:p>
          <a:p>
            <a:r>
              <a:rPr lang="en-US" dirty="0"/>
              <a:t>rand 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AF8022-5C1E-65B1-9434-4302CEA63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0460" y="516344"/>
            <a:ext cx="8591077" cy="5977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899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5211E-1102-2FD0-78EB-C9FCAC9F3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4E9728-04D8-EA48-D9FD-118A37B4EA16}"/>
              </a:ext>
            </a:extLst>
          </p:cNvPr>
          <p:cNvSpPr txBox="1"/>
          <p:nvPr/>
        </p:nvSpPr>
        <p:spPr>
          <a:xfrm>
            <a:off x="588515" y="186892"/>
            <a:ext cx="741510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Convergence tests with periodic boundary conditions switched on for all axis:</a:t>
            </a:r>
          </a:p>
          <a:p>
            <a:endParaRPr lang="en-US" dirty="0"/>
          </a:p>
          <a:p>
            <a:r>
              <a:rPr lang="en-US" dirty="0"/>
              <a:t>24x24x24:</a:t>
            </a:r>
          </a:p>
          <a:p>
            <a:endParaRPr lang="en-US" dirty="0"/>
          </a:p>
          <a:p>
            <a:r>
              <a:rPr lang="en-US" dirty="0"/>
              <a:t>rand 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AF8022-5C1E-65B1-9434-4302CEA63D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0460" y="516344"/>
            <a:ext cx="8591077" cy="597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1959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D48B3-26FB-0EFB-7B25-F53529CCB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71C22A-455B-B86F-8D82-0826CE3B49E5}"/>
              </a:ext>
            </a:extLst>
          </p:cNvPr>
          <p:cNvSpPr txBox="1"/>
          <p:nvPr/>
        </p:nvSpPr>
        <p:spPr>
          <a:xfrm>
            <a:off x="39876" y="52141"/>
            <a:ext cx="1030012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Convergence tests for interaction cut-off radius with periodic boundary conditions switched on for all axis:</a:t>
            </a:r>
          </a:p>
          <a:p>
            <a:endParaRPr lang="en-US" dirty="0"/>
          </a:p>
          <a:p>
            <a:r>
              <a:rPr lang="en-US" dirty="0"/>
              <a:t>10x10x10:</a:t>
            </a:r>
          </a:p>
          <a:p>
            <a:endParaRPr lang="en-US" dirty="0"/>
          </a:p>
          <a:p>
            <a:r>
              <a:rPr lang="en-US" dirty="0"/>
              <a:t>rand on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B484E92-8CBA-ECD4-5D1F-6BC1950F98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603410"/>
              </p:ext>
            </p:extLst>
          </p:nvPr>
        </p:nvGraphicFramePr>
        <p:xfrm>
          <a:off x="969697" y="1001722"/>
          <a:ext cx="3013023" cy="5598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9183">
                  <a:extLst>
                    <a:ext uri="{9D8B030D-6E8A-4147-A177-3AD203B41FA5}">
                      <a16:colId xmlns:a16="http://schemas.microsoft.com/office/drawing/2014/main" val="3041696817"/>
                    </a:ext>
                  </a:extLst>
                </a:gridCol>
                <a:gridCol w="1513840">
                  <a:extLst>
                    <a:ext uri="{9D8B030D-6E8A-4147-A177-3AD203B41FA5}">
                      <a16:colId xmlns:a16="http://schemas.microsoft.com/office/drawing/2014/main" val="749998270"/>
                    </a:ext>
                  </a:extLst>
                </a:gridCol>
              </a:tblGrid>
              <a:tr h="933157">
                <a:tc>
                  <a:txBody>
                    <a:bodyPr/>
                    <a:lstStyle/>
                    <a:p>
                      <a:r>
                        <a:rPr lang="en-US" dirty="0"/>
                        <a:t>Cut-off radius</a:t>
                      </a:r>
                      <a:br>
                        <a:rPr lang="en-US" dirty="0"/>
                      </a:br>
                      <a:r>
                        <a:rPr lang="en-US" dirty="0"/>
                        <a:t>/</a:t>
                      </a:r>
                      <a:r>
                        <a:rPr lang="en-US" baseline="0" dirty="0"/>
                        <a:t> m</a:t>
                      </a:r>
                      <a:endParaRPr lang="en-GB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345435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r>
                        <a:rPr lang="en-US" dirty="0"/>
                        <a:t>5e-9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457237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r>
                        <a:rPr lang="en-US" dirty="0"/>
                        <a:t>1e-8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443781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1e-7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987831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1e-14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096912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1e-13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595658"/>
                  </a:ext>
                </a:extLst>
              </a:tr>
            </a:tbl>
          </a:graphicData>
        </a:graphic>
      </p:graphicFrame>
      <p:pic>
        <p:nvPicPr>
          <p:cNvPr id="5" name="Picture 4" descr="A graph of a graph&#10;&#10;Description automatically generated">
            <a:extLst>
              <a:ext uri="{FF2B5EF4-FFF2-40B4-BE49-F238E27FC236}">
                <a16:creationId xmlns:a16="http://schemas.microsoft.com/office/drawing/2014/main" id="{D8BCAF49-A15D-4F73-FEC1-84D51694E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96" y="1916535"/>
            <a:ext cx="1364007" cy="954000"/>
          </a:xfrm>
          <a:prstGeom prst="rect">
            <a:avLst/>
          </a:prstGeom>
        </p:spPr>
      </p:pic>
      <p:pic>
        <p:nvPicPr>
          <p:cNvPr id="7" name="Picture 6" descr="A graph of a graph&#10;&#10;Description automatically generated">
            <a:extLst>
              <a:ext uri="{FF2B5EF4-FFF2-40B4-BE49-F238E27FC236}">
                <a16:creationId xmlns:a16="http://schemas.microsoft.com/office/drawing/2014/main" id="{E7A65CA0-22E9-B005-6071-3D2B7D1886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95" y="2846269"/>
            <a:ext cx="1364008" cy="954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C96162-6E7E-ECCF-A893-42131CF2B2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95" y="4679494"/>
            <a:ext cx="1364009" cy="954000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7598237-CB6A-95F9-DE69-E555A3EF9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0283295"/>
              </p:ext>
            </p:extLst>
          </p:nvPr>
        </p:nvGraphicFramePr>
        <p:xfrm>
          <a:off x="3982720" y="999666"/>
          <a:ext cx="3078480" cy="5598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407">
                  <a:extLst>
                    <a:ext uri="{9D8B030D-6E8A-4147-A177-3AD203B41FA5}">
                      <a16:colId xmlns:a16="http://schemas.microsoft.com/office/drawing/2014/main" val="3041696817"/>
                    </a:ext>
                  </a:extLst>
                </a:gridCol>
                <a:gridCol w="1535073">
                  <a:extLst>
                    <a:ext uri="{9D8B030D-6E8A-4147-A177-3AD203B41FA5}">
                      <a16:colId xmlns:a16="http://schemas.microsoft.com/office/drawing/2014/main" val="749998270"/>
                    </a:ext>
                  </a:extLst>
                </a:gridCol>
              </a:tblGrid>
              <a:tr h="933157">
                <a:tc>
                  <a:txBody>
                    <a:bodyPr/>
                    <a:lstStyle/>
                    <a:p>
                      <a:r>
                        <a:rPr lang="en-US" dirty="0"/>
                        <a:t>Cut-off radius</a:t>
                      </a:r>
                      <a:br>
                        <a:rPr lang="en-US" dirty="0"/>
                      </a:br>
                      <a:r>
                        <a:rPr lang="en-US" dirty="0"/>
                        <a:t>/</a:t>
                      </a:r>
                      <a:r>
                        <a:rPr lang="en-US" baseline="0" dirty="0"/>
                        <a:t> 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345435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r>
                        <a:rPr lang="en-GB" dirty="0"/>
                        <a:t>1e-12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457237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r>
                        <a:rPr lang="en-GB" dirty="0"/>
                        <a:t>1e-11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443781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r>
                        <a:rPr lang="en-GB" dirty="0"/>
                        <a:t>1e-10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987831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r>
                        <a:rPr lang="en-GB" dirty="0"/>
                        <a:t>1e-9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096912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1e-8</a:t>
                      </a: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595658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4E7F706C-64FB-CCFC-4E92-D09BD546A0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95" y="5657951"/>
            <a:ext cx="1364009" cy="954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79792D1-C3F2-A3E1-EC89-544E86A261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571" y="1933558"/>
            <a:ext cx="1364009" cy="954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321F029-9C1A-E74E-FDDC-4EF57034E2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571" y="2871459"/>
            <a:ext cx="1364008" cy="954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BF624D0-4A75-F8FF-CD59-34E1E33462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571" y="3801193"/>
            <a:ext cx="1364009" cy="954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EEE63A4-848A-9D4A-98BB-D774114CBF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571" y="4753679"/>
            <a:ext cx="1364008" cy="954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A1BBBA6-EBA5-C048-0E3D-A76A3B8A15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571" y="5692056"/>
            <a:ext cx="1364008" cy="954000"/>
          </a:xfrm>
          <a:prstGeom prst="rect">
            <a:avLst/>
          </a:prstGeom>
        </p:spPr>
      </p:pic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3826FCE2-ACD9-AB39-5EF8-FFFC663D1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552085"/>
              </p:ext>
            </p:extLst>
          </p:nvPr>
        </p:nvGraphicFramePr>
        <p:xfrm>
          <a:off x="7050943" y="1001723"/>
          <a:ext cx="3007457" cy="5598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3407">
                  <a:extLst>
                    <a:ext uri="{9D8B030D-6E8A-4147-A177-3AD203B41FA5}">
                      <a16:colId xmlns:a16="http://schemas.microsoft.com/office/drawing/2014/main" val="3041696817"/>
                    </a:ext>
                  </a:extLst>
                </a:gridCol>
                <a:gridCol w="1464050">
                  <a:extLst>
                    <a:ext uri="{9D8B030D-6E8A-4147-A177-3AD203B41FA5}">
                      <a16:colId xmlns:a16="http://schemas.microsoft.com/office/drawing/2014/main" val="749998270"/>
                    </a:ext>
                  </a:extLst>
                </a:gridCol>
              </a:tblGrid>
              <a:tr h="933157">
                <a:tc>
                  <a:txBody>
                    <a:bodyPr/>
                    <a:lstStyle/>
                    <a:p>
                      <a:r>
                        <a:rPr lang="en-US" dirty="0"/>
                        <a:t>Cut-off radius</a:t>
                      </a:r>
                      <a:br>
                        <a:rPr lang="en-US" dirty="0"/>
                      </a:br>
                      <a:r>
                        <a:rPr lang="en-US" dirty="0"/>
                        <a:t>/</a:t>
                      </a:r>
                      <a:r>
                        <a:rPr lang="en-US" baseline="0" dirty="0"/>
                        <a:t> 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345435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r>
                        <a:rPr lang="en-GB" dirty="0"/>
                        <a:t>3e-10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457237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r>
                        <a:rPr lang="en-GB" dirty="0"/>
                        <a:t>4e-10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443781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r>
                        <a:rPr lang="en-GB" dirty="0"/>
                        <a:t>5e-10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987831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r>
                        <a:rPr lang="en-GB" dirty="0"/>
                        <a:t>7e-10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096912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r>
                        <a:rPr lang="en-GB" dirty="0"/>
                        <a:t>9e-10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595658"/>
                  </a:ext>
                </a:extLst>
              </a:tr>
            </a:tbl>
          </a:graphicData>
        </a:graphic>
      </p:graphicFrame>
      <p:pic>
        <p:nvPicPr>
          <p:cNvPr id="30" name="Picture 29" descr="A graph of a graph&#10;&#10;Description automatically generated">
            <a:extLst>
              <a:ext uri="{FF2B5EF4-FFF2-40B4-BE49-F238E27FC236}">
                <a16:creationId xmlns:a16="http://schemas.microsoft.com/office/drawing/2014/main" id="{01AED83C-9CB7-DEB5-6B18-4F8F3321A9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8430" y="1942842"/>
            <a:ext cx="1364009" cy="954000"/>
          </a:xfrm>
          <a:prstGeom prst="rect">
            <a:avLst/>
          </a:prstGeom>
        </p:spPr>
      </p:pic>
      <p:pic>
        <p:nvPicPr>
          <p:cNvPr id="32" name="Picture 31" descr="A graph of a graph&#10;&#10;Description automatically generated">
            <a:extLst>
              <a:ext uri="{FF2B5EF4-FFF2-40B4-BE49-F238E27FC236}">
                <a16:creationId xmlns:a16="http://schemas.microsoft.com/office/drawing/2014/main" id="{20D33974-D10A-299F-B9AD-0A936028FC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8430" y="3829204"/>
            <a:ext cx="1364009" cy="954000"/>
          </a:xfrm>
          <a:prstGeom prst="rect">
            <a:avLst/>
          </a:prstGeom>
        </p:spPr>
      </p:pic>
      <p:pic>
        <p:nvPicPr>
          <p:cNvPr id="34" name="Picture 33" descr="A graph of a graph&#10;&#10;Description automatically generated">
            <a:extLst>
              <a:ext uri="{FF2B5EF4-FFF2-40B4-BE49-F238E27FC236}">
                <a16:creationId xmlns:a16="http://schemas.microsoft.com/office/drawing/2014/main" id="{E706CC21-816B-F7F9-1F7D-EA13D84451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8431" y="4759654"/>
            <a:ext cx="1364009" cy="954000"/>
          </a:xfrm>
          <a:prstGeom prst="rect">
            <a:avLst/>
          </a:prstGeom>
        </p:spPr>
      </p:pic>
      <p:pic>
        <p:nvPicPr>
          <p:cNvPr id="36" name="Picture 35" descr="A graph of a graph&#10;&#10;Description automatically generated">
            <a:extLst>
              <a:ext uri="{FF2B5EF4-FFF2-40B4-BE49-F238E27FC236}">
                <a16:creationId xmlns:a16="http://schemas.microsoft.com/office/drawing/2014/main" id="{C8E1CCA4-04BE-8C73-B9C7-477717AA771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8431" y="5692056"/>
            <a:ext cx="1364008" cy="954000"/>
          </a:xfrm>
          <a:prstGeom prst="rect">
            <a:avLst/>
          </a:prstGeom>
        </p:spPr>
      </p:pic>
      <p:pic>
        <p:nvPicPr>
          <p:cNvPr id="38" name="Picture 37" descr="A graph of a graph&#10;&#10;Description automatically generated">
            <a:extLst>
              <a:ext uri="{FF2B5EF4-FFF2-40B4-BE49-F238E27FC236}">
                <a16:creationId xmlns:a16="http://schemas.microsoft.com/office/drawing/2014/main" id="{D3E594B0-7BC9-B254-E3D7-38554A4BDD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8431" y="2874248"/>
            <a:ext cx="1364008" cy="954000"/>
          </a:xfrm>
          <a:prstGeom prst="rect">
            <a:avLst/>
          </a:prstGeom>
        </p:spPr>
      </p:pic>
      <p:pic>
        <p:nvPicPr>
          <p:cNvPr id="41" name="Picture 40" descr="A graph of a graph&#10;&#10;Description automatically generated">
            <a:extLst>
              <a:ext uri="{FF2B5EF4-FFF2-40B4-BE49-F238E27FC236}">
                <a16:creationId xmlns:a16="http://schemas.microsoft.com/office/drawing/2014/main" id="{2C1A57B6-99D6-89FE-DB5B-818795A3AD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8494" y="3794785"/>
            <a:ext cx="1364008" cy="954000"/>
          </a:xfrm>
          <a:prstGeom prst="rect">
            <a:avLst/>
          </a:prstGeom>
        </p:spPr>
      </p:pic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2EA2D8DC-63D6-889C-3C88-C6364B8D5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945745"/>
              </p:ext>
            </p:extLst>
          </p:nvPr>
        </p:nvGraphicFramePr>
        <p:xfrm>
          <a:off x="10014775" y="999626"/>
          <a:ext cx="2123537" cy="5598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4770">
                  <a:extLst>
                    <a:ext uri="{9D8B030D-6E8A-4147-A177-3AD203B41FA5}">
                      <a16:colId xmlns:a16="http://schemas.microsoft.com/office/drawing/2014/main" val="3041696817"/>
                    </a:ext>
                  </a:extLst>
                </a:gridCol>
                <a:gridCol w="1338767">
                  <a:extLst>
                    <a:ext uri="{9D8B030D-6E8A-4147-A177-3AD203B41FA5}">
                      <a16:colId xmlns:a16="http://schemas.microsoft.com/office/drawing/2014/main" val="749998270"/>
                    </a:ext>
                  </a:extLst>
                </a:gridCol>
              </a:tblGrid>
              <a:tr h="933157">
                <a:tc>
                  <a:txBody>
                    <a:bodyPr/>
                    <a:lstStyle/>
                    <a:p>
                      <a:r>
                        <a:rPr lang="en-US" dirty="0" err="1"/>
                        <a:t>R_cut</a:t>
                      </a:r>
                      <a:r>
                        <a:rPr lang="en-US" dirty="0"/>
                        <a:t> /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0345435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5.64e-10</a:t>
                      </a:r>
                    </a:p>
                    <a:p>
                      <a:r>
                        <a:rPr lang="en-GB" sz="1400" dirty="0"/>
                        <a:t>(a0_CO)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457237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r>
                        <a:rPr lang="en-GB" dirty="0"/>
                        <a:t>1e-1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443781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987831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096912"/>
                  </a:ext>
                </a:extLst>
              </a:tr>
              <a:tr h="93315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595658"/>
                  </a:ext>
                </a:extLst>
              </a:tr>
            </a:tbl>
          </a:graphicData>
        </a:graphic>
      </p:graphicFrame>
      <p:pic>
        <p:nvPicPr>
          <p:cNvPr id="44" name="Picture 43" descr="A graph of a graph&#10;&#10;Description automatically generated">
            <a:extLst>
              <a:ext uri="{FF2B5EF4-FFF2-40B4-BE49-F238E27FC236}">
                <a16:creationId xmlns:a16="http://schemas.microsoft.com/office/drawing/2014/main" id="{52ADE5C3-E85D-74A8-19E4-34C41AA67E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304" y="1942842"/>
            <a:ext cx="1364008" cy="954000"/>
          </a:xfrm>
          <a:prstGeom prst="rect">
            <a:avLst/>
          </a:prstGeom>
        </p:spPr>
      </p:pic>
      <p:pic>
        <p:nvPicPr>
          <p:cNvPr id="47" name="Picture 46" descr="A graph of a graph&#10;&#10;Description automatically generated">
            <a:extLst>
              <a:ext uri="{FF2B5EF4-FFF2-40B4-BE49-F238E27FC236}">
                <a16:creationId xmlns:a16="http://schemas.microsoft.com/office/drawing/2014/main" id="{749002CE-ACEE-FD32-4E98-989DE21CCF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4304" y="2833766"/>
            <a:ext cx="1364008" cy="9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730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6409946-0CC4-462E-8F65-F54B9D3ABA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689211"/>
              </p:ext>
            </p:extLst>
          </p:nvPr>
        </p:nvGraphicFramePr>
        <p:xfrm>
          <a:off x="2032000" y="719666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4900451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743820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copy_size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time / </a:t>
                      </a:r>
                      <a:r>
                        <a:rPr lang="de-DE" dirty="0" err="1"/>
                        <a:t>mins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2505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8182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34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OutOfMemoryError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995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3946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45 min </a:t>
                      </a:r>
                      <a:r>
                        <a:rPr lang="en-US" dirty="0" err="1"/>
                        <a:t>OutOfMemoryError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405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1785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OutOfMemoryError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232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27, </a:t>
                      </a:r>
                      <a:r>
                        <a:rPr lang="de-DE" dirty="0" err="1"/>
                        <a:t>no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boundary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cond</a:t>
                      </a:r>
                      <a:r>
                        <a:rPr lang="de-DE" dirty="0"/>
                        <a:t> in 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49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42424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E5E1EC7-1E6E-4CD9-B930-2A6B35FBDE28}"/>
              </a:ext>
            </a:extLst>
          </p:cNvPr>
          <p:cNvSpPr txBox="1"/>
          <p:nvPr/>
        </p:nvSpPr>
        <p:spPr>
          <a:xfrm>
            <a:off x="408397" y="277670"/>
            <a:ext cx="6097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Testing of time of force calculation with boundary conditions along all axis</a:t>
            </a:r>
          </a:p>
        </p:txBody>
      </p:sp>
    </p:spTree>
    <p:extLst>
      <p:ext uri="{BB962C8B-B14F-4D97-AF65-F5344CB8AC3E}">
        <p14:creationId xmlns:p14="http://schemas.microsoft.com/office/powerpoint/2010/main" val="40600271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B0D4E186-A4A0-4AF8-95EC-4BB90F74CDE6}"/>
              </a:ext>
            </a:extLst>
          </p:cNvPr>
          <p:cNvSpPr txBox="1"/>
          <p:nvPr/>
        </p:nvSpPr>
        <p:spPr>
          <a:xfrm>
            <a:off x="5510438" y="5263650"/>
            <a:ext cx="703673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Need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large h-matrix and f(n1,n2)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small</a:t>
            </a:r>
            <a:r>
              <a:rPr lang="de-DE" dirty="0"/>
              <a:t> box </a:t>
            </a:r>
            <a:r>
              <a:rPr lang="de-DE" dirty="0" err="1"/>
              <a:t>here</a:t>
            </a:r>
            <a:r>
              <a:rPr lang="de-DE" dirty="0"/>
              <a:t>:</a:t>
            </a:r>
          </a:p>
          <a:p>
            <a:endParaRPr lang="de-DE" dirty="0"/>
          </a:p>
          <a:p>
            <a:endParaRPr lang="en-US" dirty="0"/>
          </a:p>
          <a:p>
            <a:r>
              <a:rPr lang="en-US" dirty="0"/>
              <a:t>With different periodic boundary conditions in large vs small. So f(n1,n2) </a:t>
            </a:r>
            <a:br>
              <a:rPr lang="en-US" dirty="0"/>
            </a:br>
            <a:r>
              <a:rPr lang="en-US" dirty="0"/>
              <a:t>with small box interaction and small box periodic boundary conditions</a:t>
            </a:r>
          </a:p>
          <a:p>
            <a:endParaRPr lang="de-DE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2F2289-DA09-49A8-82C9-F3BFE6F26F8D}"/>
              </a:ext>
            </a:extLst>
          </p:cNvPr>
          <p:cNvSpPr txBox="1"/>
          <p:nvPr/>
        </p:nvSpPr>
        <p:spPr>
          <a:xfrm>
            <a:off x="408396" y="277670"/>
            <a:ext cx="1134164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H-matrix calculation procedure: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Use large simulation box: 40x40x10 (blue)</a:t>
            </a:r>
          </a:p>
          <a:p>
            <a:pPr marL="342900" indent="-342900">
              <a:buAutoNum type="arabicPeriod"/>
            </a:pPr>
            <a:r>
              <a:rPr lang="en-US" dirty="0"/>
              <a:t>Index all </a:t>
            </a:r>
            <a:r>
              <a:rPr lang="en-US" dirty="0" err="1"/>
              <a:t>molecs</a:t>
            </a:r>
            <a:r>
              <a:rPr lang="en-US" dirty="0"/>
              <a:t>. in box and get central cuboid (orange) with same height</a:t>
            </a:r>
          </a:p>
          <a:p>
            <a:pPr marL="342900" indent="-342900">
              <a:buAutoNum type="arabicPeriod"/>
            </a:pPr>
            <a:r>
              <a:rPr lang="en-US" dirty="0"/>
              <a:t>Do </a:t>
            </a:r>
            <a:r>
              <a:rPr lang="en-US" dirty="0" err="1"/>
              <a:t>calculationof</a:t>
            </a:r>
            <a:r>
              <a:rPr lang="en-US" dirty="0"/>
              <a:t> IR spectrum with inner cuboid with h-matrix of large </a:t>
            </a:r>
            <a:br>
              <a:rPr lang="en-US" dirty="0"/>
            </a:br>
            <a:r>
              <a:rPr lang="en-US" dirty="0"/>
              <a:t>simulation box, to maximum interaction range</a:t>
            </a:r>
          </a:p>
          <a:p>
            <a:pPr marL="342900" indent="-342900">
              <a:buAutoNum type="arabicPeriod"/>
            </a:pPr>
            <a:r>
              <a:rPr lang="en-US" dirty="0"/>
              <a:t>Change size of cuboid (10x10x10, 20x20x10, 30x30x10 </a:t>
            </a:r>
            <a:r>
              <a:rPr lang="en-US" dirty="0" err="1"/>
              <a:t>etc</a:t>
            </a:r>
            <a:r>
              <a:rPr lang="en-US" dirty="0"/>
              <a:t>) </a:t>
            </a:r>
            <a:br>
              <a:rPr lang="en-US" dirty="0"/>
            </a:br>
            <a:r>
              <a:rPr lang="en-US" dirty="0"/>
              <a:t>to get convergence</a:t>
            </a:r>
          </a:p>
          <a:p>
            <a:pPr marL="342900" indent="-342900">
              <a:buAutoNum type="arabicPeriod"/>
            </a:pPr>
            <a:r>
              <a:rPr lang="en-US" dirty="0"/>
              <a:t>Finally vary size z=10 to check if whole computation makes sense</a:t>
            </a:r>
          </a:p>
          <a:p>
            <a:r>
              <a:rPr lang="en-US" dirty="0"/>
              <a:t>Without </a:t>
            </a:r>
            <a:r>
              <a:rPr lang="en-US" dirty="0" err="1"/>
              <a:t>centred</a:t>
            </a:r>
            <a:r>
              <a:rPr lang="en-US" dirty="0"/>
              <a:t> piece at 10x10x4: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With </a:t>
            </a:r>
            <a:r>
              <a:rPr lang="en-US" dirty="0" err="1"/>
              <a:t>centre</a:t>
            </a:r>
            <a:r>
              <a:rPr lang="en-US" dirty="0"/>
              <a:t> piece at 4x4x4: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ube 4">
            <a:extLst>
              <a:ext uri="{FF2B5EF4-FFF2-40B4-BE49-F238E27FC236}">
                <a16:creationId xmlns:a16="http://schemas.microsoft.com/office/drawing/2014/main" id="{B2637376-0DC3-42DD-97CF-15A3A4E6AA75}"/>
              </a:ext>
            </a:extLst>
          </p:cNvPr>
          <p:cNvSpPr/>
          <p:nvPr/>
        </p:nvSpPr>
        <p:spPr>
          <a:xfrm>
            <a:off x="7973172" y="976227"/>
            <a:ext cx="3886200" cy="1676682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AC6CDB02-D1A3-44AF-AE2C-CE77EA07C275}"/>
              </a:ext>
            </a:extLst>
          </p:cNvPr>
          <p:cNvSpPr/>
          <p:nvPr/>
        </p:nvSpPr>
        <p:spPr>
          <a:xfrm>
            <a:off x="9043173" y="1005841"/>
            <a:ext cx="1481328" cy="1647068"/>
          </a:xfrm>
          <a:prstGeom prst="cub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6E81A9-DC19-4812-A810-5089AF282B00}"/>
              </a:ext>
            </a:extLst>
          </p:cNvPr>
          <p:cNvSpPr txBox="1"/>
          <p:nvPr/>
        </p:nvSpPr>
        <p:spPr>
          <a:xfrm>
            <a:off x="11796521" y="15417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10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C0BC1E-5F68-4142-A41B-2E1DD311EC7A}"/>
              </a:ext>
            </a:extLst>
          </p:cNvPr>
          <p:cNvSpPr txBox="1"/>
          <p:nvPr/>
        </p:nvSpPr>
        <p:spPr>
          <a:xfrm>
            <a:off x="9811185" y="63650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40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DD2DE-BB95-4F34-83E3-4476C6186C34}"/>
              </a:ext>
            </a:extLst>
          </p:cNvPr>
          <p:cNvSpPr txBox="1"/>
          <p:nvPr/>
        </p:nvSpPr>
        <p:spPr>
          <a:xfrm>
            <a:off x="11650020" y="237973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40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391A39-1600-44AF-9C89-7301ECE083AF}"/>
              </a:ext>
            </a:extLst>
          </p:cNvPr>
          <p:cNvSpPr txBox="1"/>
          <p:nvPr/>
        </p:nvSpPr>
        <p:spPr>
          <a:xfrm>
            <a:off x="10129038" y="16447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10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75B04C9-BF2B-451F-A198-86760FE62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26" y="3145536"/>
            <a:ext cx="1843362" cy="14633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53DB9B-B9E9-469B-BF98-2F51672F43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26" y="5117012"/>
            <a:ext cx="1843362" cy="14633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A8B6A9-31BF-4288-91A0-86F11598CA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411" y="5117012"/>
            <a:ext cx="1942514" cy="14633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6779B36-1695-4307-B29A-753520B4E8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9112" y="5632982"/>
            <a:ext cx="3352321" cy="369647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D6B49F-CB03-4F7C-BD8F-29A3387A0BAA}"/>
              </a:ext>
            </a:extLst>
          </p:cNvPr>
          <p:cNvCxnSpPr/>
          <p:nvPr/>
        </p:nvCxnSpPr>
        <p:spPr>
          <a:xfrm flipH="1">
            <a:off x="8642350" y="5556250"/>
            <a:ext cx="2755900" cy="234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86753BA-6AEE-4CEC-B04D-F30F31F86564}"/>
              </a:ext>
            </a:extLst>
          </p:cNvPr>
          <p:cNvCxnSpPr/>
          <p:nvPr/>
        </p:nvCxnSpPr>
        <p:spPr>
          <a:xfrm flipH="1">
            <a:off x="7792720" y="5556250"/>
            <a:ext cx="370840" cy="2349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37654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1B04C7-C8E8-443E-8279-D04E8EA7DA34}"/>
              </a:ext>
            </a:extLst>
          </p:cNvPr>
          <p:cNvSpPr txBox="1"/>
          <p:nvPr/>
        </p:nvSpPr>
        <p:spPr>
          <a:xfrm>
            <a:off x="260350" y="193239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Need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take</a:t>
            </a:r>
            <a:r>
              <a:rPr lang="de-DE" dirty="0"/>
              <a:t> </a:t>
            </a:r>
            <a:r>
              <a:rPr lang="de-DE" dirty="0" err="1"/>
              <a:t>sum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large h-matrix and f(n1,n2)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small</a:t>
            </a:r>
            <a:r>
              <a:rPr lang="de-DE" dirty="0"/>
              <a:t> box </a:t>
            </a:r>
            <a:r>
              <a:rPr lang="de-DE" dirty="0" err="1"/>
              <a:t>here</a:t>
            </a:r>
            <a:r>
              <a:rPr lang="de-DE" dirty="0"/>
              <a:t>:</a:t>
            </a:r>
          </a:p>
          <a:p>
            <a:endParaRPr lang="de-DE" dirty="0"/>
          </a:p>
          <a:p>
            <a:endParaRPr lang="en-US" dirty="0"/>
          </a:p>
          <a:p>
            <a:r>
              <a:rPr lang="en-US" dirty="0"/>
              <a:t>With different periodic boundary conditions in large vs small. So f(n1,n2) </a:t>
            </a:r>
            <a:br>
              <a:rPr lang="en-US" dirty="0"/>
            </a:br>
            <a:r>
              <a:rPr lang="en-US" dirty="0"/>
              <a:t>with small box interaction and small box periodic boundary conditions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15EFED-4DC4-454C-85EC-D81FBD483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11" y="787400"/>
            <a:ext cx="5372727" cy="59242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9B12FA3-CA63-43FD-B5C1-4D2B68184647}"/>
              </a:ext>
            </a:extLst>
          </p:cNvPr>
          <p:cNvSpPr/>
          <p:nvPr/>
        </p:nvSpPr>
        <p:spPr>
          <a:xfrm>
            <a:off x="4247251" y="880414"/>
            <a:ext cx="1296299" cy="406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059E6FE-1A46-4C16-833C-79239FC9F6A5}"/>
              </a:ext>
            </a:extLst>
          </p:cNvPr>
          <p:cNvSpPr/>
          <p:nvPr/>
        </p:nvSpPr>
        <p:spPr>
          <a:xfrm>
            <a:off x="1838089" y="880414"/>
            <a:ext cx="2346561" cy="406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47EF9A-9F7E-46B5-9EF2-F555B4E51676}"/>
              </a:ext>
            </a:extLst>
          </p:cNvPr>
          <p:cNvSpPr txBox="1"/>
          <p:nvPr/>
        </p:nvSpPr>
        <p:spPr>
          <a:xfrm>
            <a:off x="2504765" y="623406"/>
            <a:ext cx="16920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Large </a:t>
            </a:r>
            <a:r>
              <a:rPr lang="de-DE" sz="1400" dirty="0" err="1"/>
              <a:t>simulation</a:t>
            </a:r>
            <a:r>
              <a:rPr lang="de-DE" sz="1400" dirty="0"/>
              <a:t> box</a:t>
            </a: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A5D65A-6131-448E-BFC5-0CD904031129}"/>
              </a:ext>
            </a:extLst>
          </p:cNvPr>
          <p:cNvSpPr txBox="1"/>
          <p:nvPr/>
        </p:nvSpPr>
        <p:spPr>
          <a:xfrm>
            <a:off x="4306296" y="619258"/>
            <a:ext cx="11782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Small </a:t>
            </a:r>
            <a:r>
              <a:rPr lang="de-DE" sz="1400" dirty="0" err="1"/>
              <a:t>sim</a:t>
            </a:r>
            <a:r>
              <a:rPr lang="de-DE" sz="1400" dirty="0"/>
              <a:t> box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373762-0F74-4AB7-A2B5-DE8B9901E56B}"/>
              </a:ext>
            </a:extLst>
          </p:cNvPr>
          <p:cNvSpPr txBox="1"/>
          <p:nvPr/>
        </p:nvSpPr>
        <p:spPr>
          <a:xfrm>
            <a:off x="311311" y="2693098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Using </a:t>
            </a:r>
            <a:r>
              <a:rPr lang="pt-BR" b="0" dirty="0">
                <a:effectLst/>
                <a:latin typeface="Consolas" panose="020B0609020204030204" pitchFamily="49" charset="0"/>
              </a:rPr>
              <a:t>ev[n1] + unit1*(μ11 - μ00)*μ00*large_h_matrix_sum[n1]</a:t>
            </a:r>
          </a:p>
          <a:p>
            <a:r>
              <a:rPr lang="pt-BR" dirty="0">
                <a:latin typeface="Consolas" panose="020B0609020204030204" pitchFamily="49" charset="0"/>
              </a:rPr>
              <a:t>Which is wrong!</a:t>
            </a:r>
            <a:endParaRPr lang="pt-BR" b="0" dirty="0">
              <a:effectLst/>
              <a:latin typeface="Consolas" panose="020B0609020204030204" pitchFamily="49" charset="0"/>
            </a:endParaRPr>
          </a:p>
          <a:p>
            <a:r>
              <a:rPr lang="en-US" dirty="0"/>
              <a:t>with </a:t>
            </a:r>
            <a:r>
              <a:rPr lang="en-US" dirty="0" err="1"/>
              <a:t>centre</a:t>
            </a:r>
            <a:r>
              <a:rPr lang="en-US" dirty="0"/>
              <a:t> piece at 4x4x4 now the IR spectrum changes to: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changed to diagonal elements:</a:t>
            </a:r>
            <a:br>
              <a:rPr lang="en-US" dirty="0"/>
            </a:br>
            <a:r>
              <a:rPr lang="pt-BR" b="0" dirty="0">
                <a:effectLst/>
                <a:latin typeface="Consolas" panose="020B0609020204030204" pitchFamily="49" charset="0"/>
              </a:rPr>
              <a:t>h[n1,n1] = large_h_matrix_sum[n1]</a:t>
            </a:r>
          </a:p>
          <a:p>
            <a:r>
              <a:rPr lang="pt-BR" dirty="0">
                <a:latin typeface="Consolas" panose="020B0609020204030204" pitchFamily="49" charset="0"/>
              </a:rPr>
              <a:t>And get:</a:t>
            </a:r>
            <a:endParaRPr lang="pt-BR" b="0" dirty="0">
              <a:effectLst/>
              <a:latin typeface="Consolas" panose="020B0609020204030204" pitchFamily="49" charset="0"/>
            </a:endParaRPr>
          </a:p>
          <a:p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4D195C-3BE3-490F-9183-EC0C80EDA6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350" y="2101850"/>
            <a:ext cx="3022084" cy="2108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1CF1F5-7726-4E38-98A9-98DAB13BE0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350" y="4476514"/>
            <a:ext cx="3022084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4491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1298D2-C199-411D-9F92-CFF425E93F12}"/>
              </a:ext>
            </a:extLst>
          </p:cNvPr>
          <p:cNvSpPr txBox="1"/>
          <p:nvPr/>
        </p:nvSpPr>
        <p:spPr>
          <a:xfrm>
            <a:off x="260350" y="193239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Fixed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error</a:t>
            </a:r>
            <a:r>
              <a:rPr lang="de-DE" dirty="0"/>
              <a:t> in code so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always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same </a:t>
            </a:r>
            <a:r>
              <a:rPr lang="de-DE" dirty="0" err="1"/>
              <a:t>unit</a:t>
            </a:r>
            <a:r>
              <a:rPr lang="de-DE" dirty="0"/>
              <a:t> </a:t>
            </a:r>
            <a:r>
              <a:rPr lang="de-DE" dirty="0" err="1"/>
              <a:t>vectors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small</a:t>
            </a:r>
            <a:r>
              <a:rPr lang="de-DE" dirty="0"/>
              <a:t> </a:t>
            </a:r>
            <a:r>
              <a:rPr lang="de-DE" dirty="0" err="1"/>
              <a:t>simulation</a:t>
            </a:r>
            <a:r>
              <a:rPr lang="de-DE" dirty="0"/>
              <a:t> box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large </a:t>
            </a:r>
            <a:r>
              <a:rPr lang="de-DE" dirty="0" err="1"/>
              <a:t>one</a:t>
            </a:r>
            <a:r>
              <a:rPr lang="de-DE" dirty="0"/>
              <a:t>!</a:t>
            </a:r>
          </a:p>
          <a:p>
            <a:endParaRPr lang="de-DE" dirty="0"/>
          </a:p>
          <a:p>
            <a:r>
              <a:rPr lang="de-DE" b="1" dirty="0" err="1"/>
              <a:t>Without</a:t>
            </a:r>
            <a:r>
              <a:rPr lang="de-DE" dirty="0"/>
              <a:t> </a:t>
            </a:r>
            <a:r>
              <a:rPr lang="de-DE" dirty="0" err="1"/>
              <a:t>randomisation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simulation</a:t>
            </a:r>
            <a:r>
              <a:rPr lang="de-DE" dirty="0"/>
              <a:t> box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spectrum</a:t>
            </a:r>
            <a:r>
              <a:rPr lang="de-DE" dirty="0"/>
              <a:t> </a:t>
            </a:r>
            <a:r>
              <a:rPr lang="de-DE" dirty="0" err="1"/>
              <a:t>looks</a:t>
            </a:r>
            <a:r>
              <a:rPr lang="de-DE" dirty="0"/>
              <a:t> like </a:t>
            </a:r>
            <a:r>
              <a:rPr lang="de-DE" dirty="0" err="1"/>
              <a:t>this</a:t>
            </a:r>
            <a:r>
              <a:rPr lang="de-DE" dirty="0"/>
              <a:t>: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b="1" dirty="0"/>
              <a:t>WITH</a:t>
            </a:r>
            <a:r>
              <a:rPr lang="de-DE" dirty="0"/>
              <a:t> </a:t>
            </a:r>
            <a:r>
              <a:rPr lang="de-DE" dirty="0" err="1"/>
              <a:t>randomisation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simulation</a:t>
            </a:r>
            <a:r>
              <a:rPr lang="de-DE" dirty="0"/>
              <a:t> box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spectrum</a:t>
            </a:r>
            <a:r>
              <a:rPr lang="de-DE" dirty="0"/>
              <a:t> </a:t>
            </a:r>
            <a:r>
              <a:rPr lang="de-DE" dirty="0" err="1"/>
              <a:t>looks</a:t>
            </a:r>
            <a:r>
              <a:rPr lang="de-DE" dirty="0"/>
              <a:t> like </a:t>
            </a:r>
            <a:r>
              <a:rPr lang="de-DE" dirty="0" err="1"/>
              <a:t>this</a:t>
            </a:r>
            <a:r>
              <a:rPr lang="de-DE" dirty="0"/>
              <a:t>: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5944FA-7DB0-4E8A-9991-B03B41AD0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029" y="898567"/>
            <a:ext cx="3187621" cy="25304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A207C5F-2C3E-495A-90A6-ACB9AC570F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889" y="1168058"/>
            <a:ext cx="2848140" cy="22609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3725E9-571F-42B6-BEEB-E081BDCEA4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972" y="1485767"/>
            <a:ext cx="2447917" cy="19432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AA16FC-876B-488D-BC0A-A63CADE72A3C}"/>
              </a:ext>
            </a:extLst>
          </p:cNvPr>
          <p:cNvSpPr txBox="1"/>
          <p:nvPr/>
        </p:nvSpPr>
        <p:spPr>
          <a:xfrm>
            <a:off x="1572074" y="2782669"/>
            <a:ext cx="1875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10x10x4 large box</a:t>
            </a:r>
          </a:p>
          <a:p>
            <a:r>
              <a:rPr lang="de-DE" dirty="0"/>
              <a:t>4x4x4 </a:t>
            </a:r>
            <a:r>
              <a:rPr lang="de-DE" dirty="0" err="1"/>
              <a:t>small</a:t>
            </a:r>
            <a:r>
              <a:rPr lang="de-DE" dirty="0"/>
              <a:t> box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35122E2-ECD8-4586-824D-7CB0907CFC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4029" y="4141011"/>
            <a:ext cx="3187621" cy="22236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AF5368-6A72-4B49-83D9-3CD252E9A6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888" y="4172052"/>
            <a:ext cx="2848141" cy="22609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1155332-AC64-48B4-A568-B72AAEC182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971" y="4488619"/>
            <a:ext cx="2447917" cy="194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5214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F23E75-E3D1-4D63-A9B1-8BA47C2FD2A7}"/>
              </a:ext>
            </a:extLst>
          </p:cNvPr>
          <p:cNvSpPr txBox="1"/>
          <p:nvPr/>
        </p:nvSpPr>
        <p:spPr>
          <a:xfrm>
            <a:off x="244719" y="169793"/>
            <a:ext cx="364734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10x10x4, </a:t>
            </a:r>
          </a:p>
          <a:p>
            <a:r>
              <a:rPr lang="de-DE" dirty="0" err="1"/>
              <a:t>Subset</a:t>
            </a:r>
            <a:r>
              <a:rPr lang="de-DE" dirty="0"/>
              <a:t>: </a:t>
            </a:r>
            <a:r>
              <a:rPr lang="en-US" b="1" dirty="0" err="1"/>
              <a:t>small_box_size_fraction</a:t>
            </a:r>
            <a:r>
              <a:rPr lang="en-US" b="1" dirty="0"/>
              <a:t> </a:t>
            </a:r>
            <a:r>
              <a:rPr lang="en-US" dirty="0"/>
              <a:t>= </a:t>
            </a:r>
          </a:p>
          <a:p>
            <a:endParaRPr lang="en-US" dirty="0"/>
          </a:p>
          <a:p>
            <a:r>
              <a:rPr lang="en-US" b="1" dirty="0"/>
              <a:t>= 5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=4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=3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845370-9C86-42AA-BE43-AD4A07061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68" y="955699"/>
            <a:ext cx="2557533" cy="20302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A86EF0-8348-4EE0-88C2-3A62AF029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68" y="3191399"/>
            <a:ext cx="2561649" cy="17870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3EFF0F-BA31-4EB5-8D48-EA68040D3F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68" y="5040124"/>
            <a:ext cx="2557533" cy="17841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8938ABD-DCE3-4D2A-BDE0-476FF2F45B93}"/>
              </a:ext>
            </a:extLst>
          </p:cNvPr>
          <p:cNvSpPr txBox="1"/>
          <p:nvPr/>
        </p:nvSpPr>
        <p:spPr>
          <a:xfrm>
            <a:off x="4031273" y="843677"/>
            <a:ext cx="364734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= 2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=1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BE6705-B417-4371-9A68-2FCA4D7A7E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275" y="955698"/>
            <a:ext cx="2910341" cy="20302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AC70537-A5E8-4EE1-A82D-652AFC9541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8275" y="3191399"/>
            <a:ext cx="2910341" cy="203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6268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A1ADB8-908E-4634-9B3C-35360F965004}"/>
              </a:ext>
            </a:extLst>
          </p:cNvPr>
          <p:cNvSpPr txBox="1"/>
          <p:nvPr/>
        </p:nvSpPr>
        <p:spPr>
          <a:xfrm>
            <a:off x="260350" y="193239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largest</a:t>
            </a:r>
            <a:r>
              <a:rPr lang="de-DE" dirty="0"/>
              <a:t> possible box (40x40x10) and </a:t>
            </a:r>
            <a:r>
              <a:rPr lang="de-DE" dirty="0" err="1"/>
              <a:t>repeat</a:t>
            </a:r>
            <a:r>
              <a:rPr lang="de-DE" dirty="0"/>
              <a:t> </a:t>
            </a:r>
            <a:r>
              <a:rPr lang="de-DE" dirty="0" err="1"/>
              <a:t>subset</a:t>
            </a:r>
            <a:r>
              <a:rPr lang="de-DE" dirty="0"/>
              <a:t>: </a:t>
            </a:r>
            <a:r>
              <a:rPr lang="en-US" b="1" dirty="0" err="1"/>
              <a:t>small_box_size_fraction</a:t>
            </a:r>
            <a:r>
              <a:rPr lang="en-US" b="1" dirty="0"/>
              <a:t> </a:t>
            </a:r>
            <a:r>
              <a:rPr lang="en-US" dirty="0"/>
              <a:t>= </a:t>
            </a:r>
          </a:p>
          <a:p>
            <a:endParaRPr lang="en-US" dirty="0"/>
          </a:p>
          <a:p>
            <a:r>
              <a:rPr lang="en-US" b="1" dirty="0"/>
              <a:t>= 5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=4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=3</a:t>
            </a:r>
          </a:p>
          <a:p>
            <a:r>
              <a:rPr lang="de-DE" dirty="0"/>
              <a:t>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5CA23-A50A-4692-A54C-BB45C13BF8E4}"/>
              </a:ext>
            </a:extLst>
          </p:cNvPr>
          <p:cNvSpPr txBox="1"/>
          <p:nvPr/>
        </p:nvSpPr>
        <p:spPr>
          <a:xfrm>
            <a:off x="4031273" y="843677"/>
            <a:ext cx="364734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= 2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=1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BEF827-0B82-4DC3-8912-35B0564FD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21" y="1032450"/>
            <a:ext cx="2395729" cy="19018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696377-800E-4374-A17E-AB88726141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21" y="3034018"/>
            <a:ext cx="2395729" cy="16712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03B008-4CBA-4BED-B110-DDCC499067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90" y="1956211"/>
            <a:ext cx="1117699" cy="8872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3F21C8-976B-4250-BEC2-A6DBDB9AFF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22" y="4902411"/>
            <a:ext cx="2395728" cy="16712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E39A0A-7862-419E-9B7F-96363FF203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835" y="941671"/>
            <a:ext cx="2726217" cy="19018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7DB8381-D6F3-4C9B-932B-CC039D991E54}"/>
              </a:ext>
            </a:extLst>
          </p:cNvPr>
          <p:cNvSpPr txBox="1"/>
          <p:nvPr/>
        </p:nvSpPr>
        <p:spPr>
          <a:xfrm>
            <a:off x="4491835" y="3331029"/>
            <a:ext cx="2168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Too</a:t>
            </a:r>
            <a:r>
              <a:rPr lang="de-DE" dirty="0"/>
              <a:t> large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calculate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1B34D7-11DF-4959-8523-36C857D4371A}"/>
              </a:ext>
            </a:extLst>
          </p:cNvPr>
          <p:cNvSpPr txBox="1"/>
          <p:nvPr/>
        </p:nvSpPr>
        <p:spPr>
          <a:xfrm>
            <a:off x="8033658" y="43542"/>
            <a:ext cx="2448106" cy="5078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Without</a:t>
            </a:r>
            <a:r>
              <a:rPr lang="de-DE" dirty="0"/>
              <a:t> </a:t>
            </a:r>
            <a:r>
              <a:rPr lang="de-DE" dirty="0" err="1"/>
              <a:t>randomisation</a:t>
            </a:r>
            <a:r>
              <a:rPr lang="de-DE" dirty="0"/>
              <a:t>:</a:t>
            </a:r>
          </a:p>
          <a:p>
            <a:r>
              <a:rPr lang="de-DE" dirty="0" err="1"/>
              <a:t>Small_box_size_fraction</a:t>
            </a:r>
            <a:endParaRPr lang="de-DE" dirty="0"/>
          </a:p>
          <a:p>
            <a:r>
              <a:rPr lang="de-DE" dirty="0"/>
              <a:t>=5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=4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=3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B60854-F5E6-4E83-AC8E-4937D2DFA4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1438" y="671214"/>
            <a:ext cx="2895488" cy="20175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9D0803B-0218-416B-B54D-BAABC1A0B4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1438" y="2688770"/>
            <a:ext cx="2895488" cy="201755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D644EB6-4854-455D-A815-19DB15126B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1437" y="4715809"/>
            <a:ext cx="2895488" cy="201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707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BFA8A5-DCF8-49F2-862D-4D402B7373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890" y="1482913"/>
            <a:ext cx="5138914" cy="35848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A994CB-40FA-4402-94CA-85D3B913D583}"/>
              </a:ext>
            </a:extLst>
          </p:cNvPr>
          <p:cNvSpPr txBox="1"/>
          <p:nvPr/>
        </p:nvSpPr>
        <p:spPr>
          <a:xfrm>
            <a:off x="-958041" y="5275457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h[n1,n1]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</a:t>
            </a: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h[n2,n2]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3C79E4-D17B-4E33-AAF1-AC5529C269E5}"/>
              </a:ext>
            </a:extLst>
          </p:cNvPr>
          <p:cNvSpPr txBox="1"/>
          <p:nvPr/>
        </p:nvSpPr>
        <p:spPr>
          <a:xfrm>
            <a:off x="4780512" y="5275456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h[n1,n1]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force</a:t>
            </a:r>
            <a:endParaRPr lang="pt-B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h[n2,n2] </a:t>
            </a:r>
            <a:r>
              <a:rPr lang="pt-BR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pt-B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force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EAC0B9-6294-4C44-B9C6-46083A167A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482913"/>
            <a:ext cx="4519353" cy="358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480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1606</Words>
  <Application>Microsoft Office PowerPoint</Application>
  <PresentationFormat>Widescreen</PresentationFormat>
  <Paragraphs>458</Paragraphs>
  <Slides>42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Choudhury, Arnab</dc:creator>
  <cp:lastModifiedBy>Crowley, Daniel</cp:lastModifiedBy>
  <cp:revision>176</cp:revision>
  <dcterms:created xsi:type="dcterms:W3CDTF">2024-02-27T13:40:40Z</dcterms:created>
  <dcterms:modified xsi:type="dcterms:W3CDTF">2025-01-17T14:03:00Z</dcterms:modified>
</cp:coreProperties>
</file>