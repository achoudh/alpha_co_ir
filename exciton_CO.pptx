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tmp" ContentType="image/png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8"/>
  </p:notesMasterIdLst>
  <p:sldIdLst>
    <p:sldId id="256" r:id="rId2"/>
    <p:sldId id="257" r:id="rId3"/>
    <p:sldId id="258" r:id="rId4"/>
    <p:sldId id="259" r:id="rId5"/>
    <p:sldId id="260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  <p:sldId id="280" r:id="rId25"/>
    <p:sldId id="282" r:id="rId26"/>
    <p:sldId id="283" r:id="rId27"/>
    <p:sldId id="284" r:id="rId28"/>
    <p:sldId id="285" r:id="rId29"/>
    <p:sldId id="286" r:id="rId30"/>
    <p:sldId id="287" r:id="rId31"/>
    <p:sldId id="288" r:id="rId32"/>
    <p:sldId id="289" r:id="rId33"/>
    <p:sldId id="290" r:id="rId34"/>
    <p:sldId id="291" r:id="rId35"/>
    <p:sldId id="293" r:id="rId36"/>
    <p:sldId id="294" r:id="rId3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30E470E7-932E-4312-B43D-6B1A3023FDD4}">
          <p14:sldIdLst>
            <p14:sldId id="256"/>
            <p14:sldId id="257"/>
            <p14:sldId id="258"/>
            <p14:sldId id="259"/>
            <p14:sldId id="260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</p14:sldIdLst>
        </p14:section>
        <p14:section name="Convergence test periodic boundary" id="{C4E8E7E6-8AC1-44A3-AE0D-1B64905C0DEA}">
          <p14:sldIdLst>
            <p14:sldId id="280"/>
            <p14:sldId id="282"/>
            <p14:sldId id="283"/>
            <p14:sldId id="284"/>
            <p14:sldId id="285"/>
            <p14:sldId id="286"/>
            <p14:sldId id="287"/>
            <p14:sldId id="288"/>
            <p14:sldId id="289"/>
            <p14:sldId id="290"/>
            <p14:sldId id="291"/>
          </p14:sldIdLst>
        </p14:section>
        <p14:section name="Interaction cut off radius" id="{3413A47D-7F2B-463C-8D74-DE9B7704671C}">
          <p14:sldIdLst>
            <p14:sldId id="293"/>
          </p14:sldIdLst>
        </p14:section>
        <p14:section name="Testing of time of force calculation" id="{A4FCF94F-9D4C-4911-8C5F-A3764E8CB44D}">
          <p14:sldIdLst>
            <p14:sldId id="294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049" autoAdjust="0"/>
  </p:normalViewPr>
  <p:slideViewPr>
    <p:cSldViewPr snapToGrid="0" showGuides="1">
      <p:cViewPr varScale="1">
        <p:scale>
          <a:sx n="62" d="100"/>
          <a:sy n="62" d="100"/>
        </p:scale>
        <p:origin x="804" y="5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presProps" Target="pres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B214083-9EE7-4E8F-81A4-DA52BC10460F}" type="datetimeFigureOut">
              <a:rPr lang="en-US" smtClean="0"/>
              <a:t>12/23/2024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3ADA3BE-8651-44EF-90D8-D9C485CA26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39002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Takes </a:t>
            </a:r>
            <a:r>
              <a:rPr lang="de-DE" dirty="0" err="1"/>
              <a:t>about</a:t>
            </a:r>
            <a:r>
              <a:rPr lang="de-DE" dirty="0"/>
              <a:t> 5 </a:t>
            </a:r>
            <a:r>
              <a:rPr lang="de-DE" dirty="0" err="1"/>
              <a:t>mins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ADA3BE-8651-44EF-90D8-D9C485CA2681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515129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Takes </a:t>
            </a:r>
            <a:r>
              <a:rPr lang="de-DE" dirty="0" err="1"/>
              <a:t>about</a:t>
            </a:r>
            <a:r>
              <a:rPr lang="de-DE" dirty="0"/>
              <a:t> 33 </a:t>
            </a:r>
            <a:r>
              <a:rPr lang="de-DE" dirty="0" err="1"/>
              <a:t>mins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ADA3BE-8651-44EF-90D8-D9C485CA2681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648957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Takes </a:t>
            </a:r>
            <a:r>
              <a:rPr lang="de-DE" dirty="0" err="1"/>
              <a:t>about</a:t>
            </a:r>
            <a:r>
              <a:rPr lang="de-DE" dirty="0"/>
              <a:t> 150 </a:t>
            </a:r>
            <a:r>
              <a:rPr lang="de-DE" dirty="0" err="1"/>
              <a:t>mins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ADA3BE-8651-44EF-90D8-D9C485CA2681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545312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Takes </a:t>
            </a:r>
            <a:r>
              <a:rPr lang="de-DE" dirty="0" err="1"/>
              <a:t>about</a:t>
            </a:r>
            <a:r>
              <a:rPr lang="de-DE" dirty="0"/>
              <a:t> 196 </a:t>
            </a:r>
            <a:r>
              <a:rPr lang="de-DE" dirty="0" err="1"/>
              <a:t>mins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ADA3BE-8651-44EF-90D8-D9C485CA2681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180765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Takes </a:t>
            </a:r>
            <a:r>
              <a:rPr lang="de-DE" dirty="0" err="1"/>
              <a:t>about</a:t>
            </a:r>
            <a:r>
              <a:rPr lang="de-DE" dirty="0"/>
              <a:t> 196 </a:t>
            </a:r>
            <a:r>
              <a:rPr lang="de-DE" dirty="0" err="1"/>
              <a:t>mins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ADA3BE-8651-44EF-90D8-D9C485CA2681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69912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ADA3BE-8651-44EF-90D8-D9C485CA2681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3922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ADA3BE-8651-44EF-90D8-D9C485CA2681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119870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l-GR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ν0 </a:t>
            </a:r>
            <a:r>
              <a:rPr lang="el-G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l-GR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l-GR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2130.937</a:t>
            </a:r>
            <a:endParaRPr lang="el-GR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ADA3BE-8651-44EF-90D8-D9C485CA2681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831721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Takes </a:t>
            </a:r>
            <a:r>
              <a:rPr lang="de-DE" dirty="0" err="1"/>
              <a:t>about</a:t>
            </a:r>
            <a:r>
              <a:rPr lang="de-DE" dirty="0"/>
              <a:t> 44s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ADA3BE-8651-44EF-90D8-D9C485CA2681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563425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Takes </a:t>
            </a:r>
            <a:r>
              <a:rPr lang="de-DE" dirty="0" err="1"/>
              <a:t>about</a:t>
            </a:r>
            <a:r>
              <a:rPr lang="de-DE" dirty="0"/>
              <a:t> 2 </a:t>
            </a:r>
            <a:r>
              <a:rPr lang="de-DE" dirty="0" err="1"/>
              <a:t>mins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ADA3BE-8651-44EF-90D8-D9C485CA2681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52108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Takes </a:t>
            </a:r>
            <a:r>
              <a:rPr lang="de-DE" dirty="0" err="1"/>
              <a:t>about</a:t>
            </a:r>
            <a:r>
              <a:rPr lang="de-DE" dirty="0"/>
              <a:t> 6 min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ADA3BE-8651-44EF-90D8-D9C485CA2681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591771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Takes </a:t>
            </a:r>
            <a:r>
              <a:rPr lang="de-DE" dirty="0" err="1"/>
              <a:t>about</a:t>
            </a:r>
            <a:r>
              <a:rPr lang="de-DE" dirty="0"/>
              <a:t> 30 min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ADA3BE-8651-44EF-90D8-D9C485CA2681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081329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~7 </a:t>
            </a:r>
            <a:r>
              <a:rPr lang="de-DE" dirty="0" err="1"/>
              <a:t>mins</a:t>
            </a:r>
            <a:r>
              <a:rPr lang="de-DE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ADA3BE-8651-44EF-90D8-D9C485CA2681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873438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~20 </a:t>
            </a:r>
            <a:r>
              <a:rPr lang="de-DE" dirty="0" err="1"/>
              <a:t>mins</a:t>
            </a:r>
            <a:r>
              <a:rPr lang="de-DE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ADA3BE-8651-44EF-90D8-D9C485CA2681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046330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~43 </a:t>
            </a:r>
            <a:r>
              <a:rPr lang="de-DE" dirty="0" err="1"/>
              <a:t>mins</a:t>
            </a:r>
            <a:r>
              <a:rPr lang="de-DE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ADA3BE-8651-44EF-90D8-D9C485CA2681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460067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~45 </a:t>
            </a:r>
            <a:r>
              <a:rPr lang="de-DE" dirty="0" err="1"/>
              <a:t>mins</a:t>
            </a:r>
            <a:r>
              <a:rPr lang="de-DE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ADA3BE-8651-44EF-90D8-D9C485CA2681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082028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~38 </a:t>
            </a:r>
            <a:r>
              <a:rPr lang="de-DE" dirty="0" err="1"/>
              <a:t>mins</a:t>
            </a:r>
            <a:r>
              <a:rPr lang="de-DE" dirty="0"/>
              <a:t> </a:t>
            </a:r>
          </a:p>
          <a:p>
            <a:endParaRPr lang="de-DE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/>
              <a:t>Best </a:t>
            </a:r>
            <a:r>
              <a:rPr lang="de-DE" dirty="0" err="1"/>
              <a:t>would</a:t>
            </a:r>
            <a:r>
              <a:rPr lang="de-DE" dirty="0"/>
              <a:t> </a:t>
            </a:r>
            <a:r>
              <a:rPr lang="de-DE" dirty="0" err="1"/>
              <a:t>be</a:t>
            </a:r>
            <a:r>
              <a:rPr lang="de-DE" dirty="0"/>
              <a:t> </a:t>
            </a:r>
            <a:r>
              <a:rPr lang="de-DE" dirty="0" err="1"/>
              <a:t>somehting</a:t>
            </a:r>
            <a:r>
              <a:rPr lang="de-DE" dirty="0"/>
              <a:t> like 15.5 -&gt; </a:t>
            </a:r>
            <a:r>
              <a:rPr lang="de-DE" dirty="0" err="1"/>
              <a:t>only</a:t>
            </a:r>
            <a:r>
              <a:rPr lang="de-DE" dirty="0"/>
              <a:t> </a:t>
            </a:r>
            <a:r>
              <a:rPr lang="de-DE" dirty="0" err="1"/>
              <a:t>integers</a:t>
            </a:r>
            <a:r>
              <a:rPr lang="de-DE" dirty="0"/>
              <a:t> possible -&gt; 48x48x30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good</a:t>
            </a:r>
            <a:r>
              <a:rPr lang="de-DE" dirty="0"/>
              <a:t> but </a:t>
            </a:r>
            <a:r>
              <a:rPr lang="de-DE" dirty="0" err="1"/>
              <a:t>computationally</a:t>
            </a:r>
            <a:r>
              <a:rPr lang="de-DE" dirty="0"/>
              <a:t> </a:t>
            </a:r>
            <a:r>
              <a:rPr lang="de-DE" dirty="0" err="1"/>
              <a:t>too</a:t>
            </a:r>
            <a:r>
              <a:rPr lang="de-DE" dirty="0"/>
              <a:t> expansive.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ADA3BE-8651-44EF-90D8-D9C485CA2681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72738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ADA3BE-8651-44EF-90D8-D9C485CA2681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090217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ADA3BE-8651-44EF-90D8-D9C485CA2681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123919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ADA3BE-8651-44EF-90D8-D9C485CA2681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918908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ADA3BE-8651-44EF-90D8-D9C485CA2681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904745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Takes 1min 16s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ADA3BE-8651-44EF-90D8-D9C485CA2681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54852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846B2A-FA9D-961D-F182-96A4D8FB50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BD4336C-0FF0-C39F-2797-2A0AB80538C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0E8BCBD-3916-CE67-CFDD-369768221B5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Takes  6 min 51s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579D482-8D21-87DF-D7B6-061596ED4AB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ADA3BE-8651-44EF-90D8-D9C485CA2681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5775782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8DCB16-EA5A-FF36-2FBD-39AD253A97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30F4B89-1681-CB25-5ECF-C0627D6D777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DC5C598-783A-F748-2B2A-69D3489485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Takes  12 min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D0B768A-97BD-444F-7E24-6C294BE2615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ADA3BE-8651-44EF-90D8-D9C485CA2681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4347979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C2CFE9-9F5C-4CCE-9E95-E1E8A5643D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E164A8A-BC63-DDB8-4BC0-B705592CB29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0C9B13A-DFFB-A6ED-8E77-B968C2B3D11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Takes  34 min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FCC0A0-8EF7-2F9E-E454-20C7E462CA0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ADA3BE-8651-44EF-90D8-D9C485CA2681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9012574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E54212-1F55-7E58-8CD7-FA3AFE01C2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A27FC9E-8329-6541-2CCC-CFEAEA666F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8479481-0182-ACB8-6701-AEE17C98C92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Takes  46 min </a:t>
            </a:r>
          </a:p>
          <a:p>
            <a:endParaRPr lang="en-US" dirty="0"/>
          </a:p>
          <a:p>
            <a:r>
              <a:rPr lang="en-US" dirty="0"/>
              <a:t>18x18x18 not possible with Lenovo laptop (8GB)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C923C90-28C9-7796-7DFB-7AFB275A2B4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ADA3BE-8651-44EF-90D8-D9C485CA2681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58531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E54212-1F55-7E58-8CD7-FA3AFE01C2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A27FC9E-8329-6541-2CCC-CFEAEA666F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8479481-0182-ACB8-6701-AEE17C98C92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Takes  51 min </a:t>
            </a:r>
          </a:p>
          <a:p>
            <a:endParaRPr lang="en-US" dirty="0"/>
          </a:p>
          <a:p>
            <a:r>
              <a:rPr lang="en-US" dirty="0"/>
              <a:t>18x18x18 not possible with Lenovo laptop (8GB)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C923C90-28C9-7796-7DFB-7AFB275A2B4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ADA3BE-8651-44EF-90D8-D9C485CA2681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0449794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E54212-1F55-7E58-8CD7-FA3AFE01C2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A27FC9E-8329-6541-2CCC-CFEAEA666F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8479481-0182-ACB8-6701-AEE17C98C92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Takes 226 min </a:t>
            </a:r>
          </a:p>
          <a:p>
            <a:endParaRPr lang="en-US" dirty="0"/>
          </a:p>
          <a:p>
            <a:r>
              <a:rPr lang="en-US" dirty="0"/>
              <a:t>18x18x18 not possible with Lenovo laptop (8GB)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C923C90-28C9-7796-7DFB-7AFB275A2B4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ADA3BE-8651-44EF-90D8-D9C485CA2681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056777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 laptop: takes about 1 min to calc.</a:t>
            </a:r>
          </a:p>
          <a:p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If r12 &gt; </a:t>
            </a:r>
            <a:r>
              <a:rPr lang="en-US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interaction_cut_off_radius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: interaction is switched off -&gt; ( [</a:t>
            </a:r>
            <a:r>
              <a:rPr lang="pt-B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(dot(eu[n1][:], eu[n2][:]) - </a:t>
            </a:r>
            <a:r>
              <a:rPr lang="pt-BR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3.0</a:t>
            </a:r>
            <a:r>
              <a:rPr lang="pt-B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*dot(en, eu[n1][:])*dot(en, eu[n2][:])) / r12^</a:t>
            </a:r>
            <a:r>
              <a:rPr lang="pt-BR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3] </a:t>
            </a:r>
            <a:r>
              <a:rPr lang="pt-B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is set to 0</a:t>
            </a:r>
            <a:endParaRPr lang="en-US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ADA3BE-8651-44EF-90D8-D9C485CA2681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716327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309A65-EB45-4687-B3EC-20DA07D9958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AA22D04-DEEB-45C2-B1BA-8E25BA50D2D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F07BA42-2B82-4B74-968A-F0BD81C11A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EC6751-3BEE-4E9B-B2EE-26D93AD5FB0C}" type="datetimeFigureOut">
              <a:rPr lang="en-IN" smtClean="0"/>
              <a:t>23-12-2024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5AD446-8609-4A7C-9CA2-E8BD1478C4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AC5314-C5C2-4FBE-9D9A-01A74CBFC8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B6140B-808E-42BF-A636-97BE4D19933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077745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ED3790-5F73-4984-B95F-C80D6C3A5E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7E09FD-8781-41C4-B347-7DA4F73F12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0CD98F-0BA2-4FA2-9406-C6A18DF14B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EC6751-3BEE-4E9B-B2EE-26D93AD5FB0C}" type="datetimeFigureOut">
              <a:rPr lang="en-IN" smtClean="0"/>
              <a:t>23-12-2024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206024-7219-4A3F-AC41-9DE3E8513E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C45BFC-7A5C-49B7-B2CE-E7E86C0ED1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B6140B-808E-42BF-A636-97BE4D19933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512591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817370-168A-4F15-9DB3-6E758375FA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AF04BB7-E5AC-4BEA-A001-D9E4CE1C8D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96E4618-B3D2-4A1A-B85E-AD586D55C8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EC6751-3BEE-4E9B-B2EE-26D93AD5FB0C}" type="datetimeFigureOut">
              <a:rPr lang="en-IN" smtClean="0"/>
              <a:t>23-12-2024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2FAF2CA-4C7E-456B-A956-8E0BCBC831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8ADBCD-CCB3-444F-A30E-10785420E0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B6140B-808E-42BF-A636-97BE4D19933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2944751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B4D420-87CF-44F1-9932-6588522BC3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AC053D-9005-4825-9C45-787677F9126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654EF8B-A10A-493F-9B93-75542F5B8A0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1A257D2-15D5-446F-9353-97E84B687E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EC6751-3BEE-4E9B-B2EE-26D93AD5FB0C}" type="datetimeFigureOut">
              <a:rPr lang="en-IN" smtClean="0"/>
              <a:t>23-12-2024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F70AFF4-36B2-4CF8-981E-8074B71190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D760575-33FA-470C-A7CE-6B1A15E09A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B6140B-808E-42BF-A636-97BE4D19933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984809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D6A64B-16F6-467C-A818-2CA1D61E28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AA45F9D-40EE-4279-9909-1D0B8C932B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FEF1E0E-5F6E-44D6-AF8E-416A05CAAAF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9E4165A-3E53-48FE-8FFC-CCCB96B9EEC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4354B8E-65A4-4647-A7E3-EEF598EECCF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F8341E3-9503-4331-8B36-56770F2C3E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EC6751-3BEE-4E9B-B2EE-26D93AD5FB0C}" type="datetimeFigureOut">
              <a:rPr lang="en-IN" smtClean="0"/>
              <a:t>23-12-2024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EAF0ECF-2742-4A47-A224-AE9D943349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E79D682-2AC7-4673-9D3F-45DD9CCCAE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B6140B-808E-42BF-A636-97BE4D19933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29106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9CE854-532F-4D61-85A2-AC9AE2889E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AE89999-3EA1-4690-8957-B08C8B2A6A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EC6751-3BEE-4E9B-B2EE-26D93AD5FB0C}" type="datetimeFigureOut">
              <a:rPr lang="en-IN" smtClean="0"/>
              <a:t>23-12-2024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9A20045-E540-4BA7-BF10-9F20C6501F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9AF0B9C-5BDF-4877-BFD1-6BD5D47700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B6140B-808E-42BF-A636-97BE4D19933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596152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1272748-8390-4BE6-A5C9-D207F8B301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EC6751-3BEE-4E9B-B2EE-26D93AD5FB0C}" type="datetimeFigureOut">
              <a:rPr lang="en-IN" smtClean="0"/>
              <a:t>23-12-2024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27E147D-7E34-47F1-8D3A-F8F5751D4F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E496BA-B9BE-4FFC-81CE-87761490DD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B6140B-808E-42BF-A636-97BE4D19933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040520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DC53B9-0EB9-4167-926B-2FAF6B3766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0DBB3D-C970-4733-A0A4-83B7DAC805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F228BC1-979F-4297-A848-DDAB9E4E6E2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33D7CA2-331B-4864-AC45-ED641329CF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EC6751-3BEE-4E9B-B2EE-26D93AD5FB0C}" type="datetimeFigureOut">
              <a:rPr lang="en-IN" smtClean="0"/>
              <a:t>23-12-2024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63FB937-7000-46FA-BA30-0E4F4C36AA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09D63CF-E58A-437A-9E27-EFB7B33EB5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B6140B-808E-42BF-A636-97BE4D19933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329220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9E0399-02A1-4AD4-88EA-B61051FA2A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DDDD96A-B073-427C-9E5D-ADD0BFAF327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998C3B7-AC05-4D19-A369-565985E1B45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8AB9D40-7FFB-476F-9EAD-5E9FCE0D7E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EC6751-3BEE-4E9B-B2EE-26D93AD5FB0C}" type="datetimeFigureOut">
              <a:rPr lang="en-IN" smtClean="0"/>
              <a:t>23-12-2024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7F07E6C-0046-4E85-8573-70BA3F95D9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A48AFDD-2101-4C61-A9A0-18E52FE9AA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B6140B-808E-42BF-A636-97BE4D19933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810359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5AFEC7-DA4A-42CB-8AC1-02628C5F67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6EBD537-3ECC-4DB2-A37B-CECF292747C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ACBB616-8CD9-4FE3-BF58-B8B975FF13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EC6751-3BEE-4E9B-B2EE-26D93AD5FB0C}" type="datetimeFigureOut">
              <a:rPr lang="en-IN" smtClean="0"/>
              <a:t>23-12-2024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502726-0FEE-4935-8F52-CC0D186D34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644E00-987F-450B-BFF1-65EB61DF96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B6140B-808E-42BF-A636-97BE4D19933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406284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32C8B47-B5B5-4814-9CB4-6D78AAE04BB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174487B-7CAE-44D2-8EE3-6E7F367A89B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5E486F4-0BC7-4E49-83AF-2ADEE1C733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EC6751-3BEE-4E9B-B2EE-26D93AD5FB0C}" type="datetimeFigureOut">
              <a:rPr lang="en-IN" smtClean="0"/>
              <a:t>23-12-2024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029EBF-8D3D-487F-B0B3-C71F1FB498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8AB5EA4-CC54-4389-8419-04346926C5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B6140B-808E-42BF-A636-97BE4D19933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744995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F02218A-EABC-46A2-B9D2-F37EE91A16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F2D5374-9DCD-433C-8FAC-ED51CB981A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1F1DAA-1281-4A0F-BFC4-80ACB546B58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2EC6751-3BEE-4E9B-B2EE-26D93AD5FB0C}" type="datetimeFigureOut">
              <a:rPr lang="en-IN" smtClean="0"/>
              <a:t>23-12-2024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CA0EFF0-6315-4DB1-A322-26F89F5259A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93FE08-37D1-46CC-B363-C0E9C1D5223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9B6140B-808E-42BF-A636-97BE4D19933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976173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tmp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tmp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tmp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.tmp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tmp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tmp"/><Relationship Id="rId3" Type="http://schemas.openxmlformats.org/officeDocument/2006/relationships/image" Target="../media/image11.tmp"/><Relationship Id="rId7" Type="http://schemas.openxmlformats.org/officeDocument/2006/relationships/image" Target="../media/image15.tmp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4.tmp"/><Relationship Id="rId11" Type="http://schemas.openxmlformats.org/officeDocument/2006/relationships/image" Target="../media/image23.png"/><Relationship Id="rId5" Type="http://schemas.openxmlformats.org/officeDocument/2006/relationships/image" Target="../media/image13.tmp"/><Relationship Id="rId10" Type="http://schemas.openxmlformats.org/officeDocument/2006/relationships/image" Target="../media/image18.tmp"/><Relationship Id="rId4" Type="http://schemas.openxmlformats.org/officeDocument/2006/relationships/image" Target="../media/image12.tmp"/><Relationship Id="rId9" Type="http://schemas.openxmlformats.org/officeDocument/2006/relationships/image" Target="../media/image17.tmp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0.tmp"/><Relationship Id="rId4" Type="http://schemas.openxmlformats.org/officeDocument/2006/relationships/image" Target="../media/image19.tmp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1.tmp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5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6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7.tmp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5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7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9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1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2.tmp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3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5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tmp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2.tmp"/><Relationship Id="rId3" Type="http://schemas.openxmlformats.org/officeDocument/2006/relationships/image" Target="../media/image57.tmp"/><Relationship Id="rId7" Type="http://schemas.openxmlformats.org/officeDocument/2006/relationships/image" Target="../media/image61.tmp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0.tmp"/><Relationship Id="rId5" Type="http://schemas.openxmlformats.org/officeDocument/2006/relationships/image" Target="../media/image59.tmp"/><Relationship Id="rId4" Type="http://schemas.openxmlformats.org/officeDocument/2006/relationships/image" Target="../media/image58.tmp"/><Relationship Id="rId9" Type="http://schemas.openxmlformats.org/officeDocument/2006/relationships/image" Target="../media/image63.tmp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5F82CD-C342-43B4-9200-E981975D94E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34B07E9-4868-4EE7-995A-08FCE5D803E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683375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FBECB70-C6BE-4BC1-B747-74C10BE49E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05000" y="0"/>
            <a:ext cx="10287000" cy="68580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918EE88-9342-467E-B5E8-69B2B065BBA6}"/>
                  </a:ext>
                </a:extLst>
              </p:cNvPr>
              <p:cNvSpPr txBox="1"/>
              <p:nvPr/>
            </p:nvSpPr>
            <p:spPr>
              <a:xfrm>
                <a:off x="149133" y="352697"/>
                <a:ext cx="2241369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Unit cells </a:t>
                </a:r>
                <a:r>
                  <a:rPr lang="en-US" b="1" dirty="0"/>
                  <a:t>15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×</m:t>
                    </m:r>
                  </m:oMath>
                </a14:m>
                <a:r>
                  <a:rPr lang="en-IN" b="1" dirty="0"/>
                  <a:t>15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×</m:t>
                    </m:r>
                  </m:oMath>
                </a14:m>
                <a:r>
                  <a:rPr lang="en-IN" b="1" dirty="0"/>
                  <a:t>15</a:t>
                </a:r>
              </a:p>
              <a:p>
                <a:endParaRPr lang="en-US" dirty="0"/>
              </a:p>
              <a:p>
                <a:r>
                  <a:rPr lang="en-US" dirty="0"/>
                  <a:t>R</a:t>
                </a:r>
                <a:r>
                  <a:rPr lang="en-IN" dirty="0" err="1"/>
                  <a:t>andom</a:t>
                </a:r>
                <a:r>
                  <a:rPr lang="en-IN" dirty="0"/>
                  <a:t> orientations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918EE88-9342-467E-B5E8-69B2B065BB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9133" y="352697"/>
                <a:ext cx="2241369" cy="923330"/>
              </a:xfrm>
              <a:prstGeom prst="rect">
                <a:avLst/>
              </a:prstGeom>
              <a:blipFill>
                <a:blip r:embed="rId4"/>
                <a:stretch>
                  <a:fillRect l="-2174" t="-3974" b="-993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4404147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918EE88-9342-467E-B5E8-69B2B065BBA6}"/>
                  </a:ext>
                </a:extLst>
              </p:cNvPr>
              <p:cNvSpPr txBox="1"/>
              <p:nvPr/>
            </p:nvSpPr>
            <p:spPr>
              <a:xfrm>
                <a:off x="149133" y="352697"/>
                <a:ext cx="2241369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Unit cells </a:t>
                </a:r>
                <a:r>
                  <a:rPr lang="en-US" b="1" dirty="0"/>
                  <a:t>20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×</m:t>
                    </m:r>
                  </m:oMath>
                </a14:m>
                <a:r>
                  <a:rPr lang="en-IN" b="1" dirty="0"/>
                  <a:t>20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×</m:t>
                    </m:r>
                  </m:oMath>
                </a14:m>
                <a:r>
                  <a:rPr lang="en-IN" b="1" dirty="0"/>
                  <a:t>20</a:t>
                </a:r>
              </a:p>
              <a:p>
                <a:endParaRPr lang="en-US" dirty="0"/>
              </a:p>
              <a:p>
                <a:r>
                  <a:rPr lang="en-US" dirty="0"/>
                  <a:t>R</a:t>
                </a:r>
                <a:r>
                  <a:rPr lang="en-IN" dirty="0" err="1"/>
                  <a:t>andom</a:t>
                </a:r>
                <a:r>
                  <a:rPr lang="en-IN" dirty="0"/>
                  <a:t> orientations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918EE88-9342-467E-B5E8-69B2B065BB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9133" y="352697"/>
                <a:ext cx="2241369" cy="923330"/>
              </a:xfrm>
              <a:prstGeom prst="rect">
                <a:avLst/>
              </a:prstGeom>
              <a:blipFill>
                <a:blip r:embed="rId3"/>
                <a:stretch>
                  <a:fillRect l="-2174" t="-3974" b="-993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id="{0ED52FC0-8C67-4A57-BBE9-B82BCCFAE74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32986" y="126008"/>
            <a:ext cx="9859014" cy="66059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613432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918EE88-9342-467E-B5E8-69B2B065BBA6}"/>
                  </a:ext>
                </a:extLst>
              </p:cNvPr>
              <p:cNvSpPr txBox="1"/>
              <p:nvPr/>
            </p:nvSpPr>
            <p:spPr>
              <a:xfrm>
                <a:off x="149133" y="352697"/>
                <a:ext cx="2241369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Unit cells </a:t>
                </a:r>
                <a:r>
                  <a:rPr lang="en-US" b="1" dirty="0"/>
                  <a:t>23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×</m:t>
                    </m:r>
                  </m:oMath>
                </a14:m>
                <a:r>
                  <a:rPr lang="en-IN" b="1" dirty="0"/>
                  <a:t>23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×</m:t>
                    </m:r>
                  </m:oMath>
                </a14:m>
                <a:r>
                  <a:rPr lang="en-IN" b="1" dirty="0"/>
                  <a:t>23</a:t>
                </a:r>
              </a:p>
              <a:p>
                <a:endParaRPr lang="en-US" dirty="0"/>
              </a:p>
              <a:p>
                <a:r>
                  <a:rPr lang="en-US" dirty="0"/>
                  <a:t>R</a:t>
                </a:r>
                <a:r>
                  <a:rPr lang="en-IN" dirty="0" err="1"/>
                  <a:t>andom</a:t>
                </a:r>
                <a:r>
                  <a:rPr lang="en-IN" dirty="0"/>
                  <a:t> orientations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918EE88-9342-467E-B5E8-69B2B065BB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9133" y="352697"/>
                <a:ext cx="2241369" cy="923330"/>
              </a:xfrm>
              <a:prstGeom prst="rect">
                <a:avLst/>
              </a:prstGeom>
              <a:blipFill>
                <a:blip r:embed="rId3"/>
                <a:stretch>
                  <a:fillRect l="-2174" t="-3974" b="-993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Picture 2">
            <a:extLst>
              <a:ext uri="{FF2B5EF4-FFF2-40B4-BE49-F238E27FC236}">
                <a16:creationId xmlns:a16="http://schemas.microsoft.com/office/drawing/2014/main" id="{E25467AA-962C-4048-BD5F-33693B0915E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90502" y="352697"/>
            <a:ext cx="9213610" cy="60830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32171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918EE88-9342-467E-B5E8-69B2B065BBA6}"/>
                  </a:ext>
                </a:extLst>
              </p:cNvPr>
              <p:cNvSpPr txBox="1"/>
              <p:nvPr/>
            </p:nvSpPr>
            <p:spPr>
              <a:xfrm>
                <a:off x="149133" y="352697"/>
                <a:ext cx="2241369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Unit cells </a:t>
                </a:r>
                <a:r>
                  <a:rPr lang="en-US" b="1" dirty="0"/>
                  <a:t>24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×</m:t>
                    </m:r>
                  </m:oMath>
                </a14:m>
                <a:r>
                  <a:rPr lang="en-IN" b="1" dirty="0"/>
                  <a:t>24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×</m:t>
                    </m:r>
                  </m:oMath>
                </a14:m>
                <a:r>
                  <a:rPr lang="en-IN" b="1" dirty="0"/>
                  <a:t>24</a:t>
                </a:r>
              </a:p>
              <a:p>
                <a:endParaRPr lang="en-US" dirty="0"/>
              </a:p>
              <a:p>
                <a:r>
                  <a:rPr lang="en-US" dirty="0"/>
                  <a:t>R</a:t>
                </a:r>
                <a:r>
                  <a:rPr lang="en-IN" dirty="0" err="1"/>
                  <a:t>andom</a:t>
                </a:r>
                <a:r>
                  <a:rPr lang="en-IN" dirty="0"/>
                  <a:t> orientations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918EE88-9342-467E-B5E8-69B2B065BB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9133" y="352697"/>
                <a:ext cx="2241369" cy="923330"/>
              </a:xfrm>
              <a:prstGeom prst="rect">
                <a:avLst/>
              </a:prstGeom>
              <a:blipFill>
                <a:blip r:embed="rId3"/>
                <a:stretch>
                  <a:fillRect l="-2174" t="-3974" b="-993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36C4215D-E0AA-405E-824E-65CF83778C2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07662" y="352697"/>
            <a:ext cx="9163638" cy="60227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547231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918EE88-9342-467E-B5E8-69B2B065BBA6}"/>
                  </a:ext>
                </a:extLst>
              </p:cNvPr>
              <p:cNvSpPr txBox="1"/>
              <p:nvPr/>
            </p:nvSpPr>
            <p:spPr>
              <a:xfrm>
                <a:off x="149133" y="352697"/>
                <a:ext cx="2241369" cy="147732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Unit cells </a:t>
                </a:r>
                <a:r>
                  <a:rPr lang="en-US" b="1" dirty="0"/>
                  <a:t>24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×</m:t>
                    </m:r>
                  </m:oMath>
                </a14:m>
                <a:r>
                  <a:rPr lang="en-IN" b="1" dirty="0"/>
                  <a:t>24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×</m:t>
                    </m:r>
                  </m:oMath>
                </a14:m>
                <a:r>
                  <a:rPr lang="en-IN" b="1" dirty="0"/>
                  <a:t>24</a:t>
                </a:r>
              </a:p>
              <a:p>
                <a:endParaRPr lang="en-US" dirty="0"/>
              </a:p>
              <a:p>
                <a:r>
                  <a:rPr lang="en-US" dirty="0"/>
                  <a:t>R</a:t>
                </a:r>
                <a:r>
                  <a:rPr lang="en-IN" dirty="0" err="1"/>
                  <a:t>andom</a:t>
                </a:r>
                <a:r>
                  <a:rPr lang="en-IN" dirty="0"/>
                  <a:t> orientations</a:t>
                </a:r>
              </a:p>
              <a:p>
                <a:endParaRPr lang="en-IN" dirty="0"/>
              </a:p>
              <a:p>
                <a:r>
                  <a:rPr lang="en-IN" dirty="0"/>
                  <a:t>Frequency shifted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918EE88-9342-467E-B5E8-69B2B065BB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9133" y="352697"/>
                <a:ext cx="2241369" cy="1477328"/>
              </a:xfrm>
              <a:prstGeom prst="rect">
                <a:avLst/>
              </a:prstGeom>
              <a:blipFill>
                <a:blip r:embed="rId3"/>
                <a:stretch>
                  <a:fillRect l="-2174" t="-2479" b="-57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Picture 2">
            <a:extLst>
              <a:ext uri="{FF2B5EF4-FFF2-40B4-BE49-F238E27FC236}">
                <a16:creationId xmlns:a16="http://schemas.microsoft.com/office/drawing/2014/main" id="{43B40E11-AF8D-475B-AC02-89B47FB6F07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17086" y="352697"/>
            <a:ext cx="9016002" cy="59915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977864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918EE88-9342-467E-B5E8-69B2B065BBA6}"/>
                  </a:ext>
                </a:extLst>
              </p:cNvPr>
              <p:cNvSpPr txBox="1"/>
              <p:nvPr/>
            </p:nvSpPr>
            <p:spPr>
              <a:xfrm>
                <a:off x="149133" y="352697"/>
                <a:ext cx="2460717" cy="424731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Unit cells </a:t>
                </a:r>
                <a:r>
                  <a:rPr lang="en-US" b="1" dirty="0"/>
                  <a:t>24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×</m:t>
                    </m:r>
                  </m:oMath>
                </a14:m>
                <a:r>
                  <a:rPr lang="en-IN" b="1" dirty="0"/>
                  <a:t>24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×</m:t>
                    </m:r>
                  </m:oMath>
                </a14:m>
                <a:r>
                  <a:rPr lang="en-IN" b="1" dirty="0"/>
                  <a:t>24</a:t>
                </a:r>
              </a:p>
              <a:p>
                <a:endParaRPr lang="en-US" dirty="0"/>
              </a:p>
              <a:p>
                <a:r>
                  <a:rPr lang="en-US" dirty="0"/>
                  <a:t>R</a:t>
                </a:r>
                <a:r>
                  <a:rPr lang="en-IN" dirty="0" err="1"/>
                  <a:t>andom</a:t>
                </a:r>
                <a:r>
                  <a:rPr lang="en-IN" dirty="0"/>
                  <a:t> orientations</a:t>
                </a:r>
              </a:p>
              <a:p>
                <a:endParaRPr lang="en-IN" dirty="0"/>
              </a:p>
              <a:p>
                <a:r>
                  <a:rPr lang="en-IN" dirty="0"/>
                  <a:t>Frequency shifted</a:t>
                </a:r>
              </a:p>
              <a:p>
                <a:endParaRPr lang="en-IN" dirty="0"/>
              </a:p>
              <a:p>
                <a:r>
                  <a:rPr lang="en-IN" dirty="0"/>
                  <a:t>With FTIR</a:t>
                </a:r>
              </a:p>
              <a:p>
                <a:endParaRPr lang="en-IN" dirty="0"/>
              </a:p>
              <a:p>
                <a:r>
                  <a:rPr lang="de-DE" dirty="0"/>
                  <a:t>Takes </a:t>
                </a:r>
                <a:r>
                  <a:rPr lang="de-DE" dirty="0" err="1"/>
                  <a:t>about</a:t>
                </a:r>
                <a:r>
                  <a:rPr lang="de-DE" dirty="0"/>
                  <a:t> 211 </a:t>
                </a:r>
                <a:r>
                  <a:rPr lang="de-DE" dirty="0" err="1"/>
                  <a:t>mins</a:t>
                </a:r>
                <a:endParaRPr lang="de-DE" dirty="0"/>
              </a:p>
              <a:p>
                <a:endParaRPr lang="de-DE" dirty="0"/>
              </a:p>
              <a:p>
                <a:r>
                  <a:rPr lang="de-DE" dirty="0"/>
                  <a:t>25x25x25 </a:t>
                </a:r>
                <a:r>
                  <a:rPr lang="de-DE" dirty="0" err="1"/>
                  <a:t>crashes</a:t>
                </a:r>
                <a:r>
                  <a:rPr lang="de-DE" dirty="0"/>
                  <a:t> after ~300 min </a:t>
                </a:r>
              </a:p>
              <a:p>
                <a:endParaRPr lang="de-DE" dirty="0"/>
              </a:p>
              <a:p>
                <a:r>
                  <a:rPr lang="de-DE" dirty="0"/>
                  <a:t>(</a:t>
                </a:r>
                <a:r>
                  <a:rPr lang="de-DE" dirty="0" err="1"/>
                  <a:t>OutOfMemoryError</a:t>
                </a:r>
                <a:r>
                  <a:rPr lang="de-DE" dirty="0"/>
                  <a:t>() )</a:t>
                </a:r>
                <a:endParaRPr lang="en-US" dirty="0"/>
              </a:p>
              <a:p>
                <a:endParaRPr lang="en-IN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918EE88-9342-467E-B5E8-69B2B065BB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9133" y="352697"/>
                <a:ext cx="2460717" cy="4247317"/>
              </a:xfrm>
              <a:prstGeom prst="rect">
                <a:avLst/>
              </a:prstGeom>
              <a:blipFill>
                <a:blip r:embed="rId3"/>
                <a:stretch>
                  <a:fillRect l="-1980" t="-8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564EB86F-2AC5-4C26-8AEF-452F66132390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65" t="6044" r="1808" b="2823"/>
          <a:stretch/>
        </p:blipFill>
        <p:spPr>
          <a:xfrm>
            <a:off x="3149600" y="701040"/>
            <a:ext cx="7934960" cy="52527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182161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918EE88-9342-467E-B5E8-69B2B065BBA6}"/>
              </a:ext>
            </a:extLst>
          </p:cNvPr>
          <p:cNvSpPr txBox="1"/>
          <p:nvPr/>
        </p:nvSpPr>
        <p:spPr>
          <a:xfrm>
            <a:off x="149133" y="352697"/>
            <a:ext cx="2241369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Unit cells </a:t>
            </a:r>
            <a:r>
              <a:rPr lang="de-DE" b="1" dirty="0"/>
              <a:t>10x10x10</a:t>
            </a:r>
            <a:endParaRPr lang="en-IN" b="1" dirty="0"/>
          </a:p>
          <a:p>
            <a:endParaRPr lang="en-US" dirty="0"/>
          </a:p>
          <a:p>
            <a:r>
              <a:rPr lang="en-US" dirty="0"/>
              <a:t>R</a:t>
            </a:r>
            <a:r>
              <a:rPr lang="en-IN" dirty="0" err="1"/>
              <a:t>andom</a:t>
            </a:r>
            <a:r>
              <a:rPr lang="en-IN" dirty="0"/>
              <a:t> orientations</a:t>
            </a:r>
          </a:p>
          <a:p>
            <a:endParaRPr lang="en-IN" dirty="0"/>
          </a:p>
          <a:p>
            <a:r>
              <a:rPr lang="en-IN" dirty="0"/>
              <a:t>Frequency shifted</a:t>
            </a:r>
          </a:p>
          <a:p>
            <a:endParaRPr lang="en-IN" dirty="0"/>
          </a:p>
          <a:p>
            <a:r>
              <a:rPr lang="en-IN" dirty="0"/>
              <a:t>With FTIR</a:t>
            </a:r>
          </a:p>
          <a:p>
            <a:endParaRPr lang="en-IN" dirty="0"/>
          </a:p>
          <a:p>
            <a:r>
              <a:rPr lang="en-IN" dirty="0"/>
              <a:t>With </a:t>
            </a:r>
            <a:r>
              <a:rPr lang="en-IN" b="1" dirty="0"/>
              <a:t>periodic boundary conditions in z</a:t>
            </a:r>
            <a:r>
              <a:rPr lang="en-IN" dirty="0"/>
              <a:t> at </a:t>
            </a:r>
            <a:r>
              <a:rPr lang="el-GR" dirty="0"/>
              <a:t>ν0 = 2138.0</a:t>
            </a:r>
            <a:endParaRPr lang="en-IN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3D0A187-008F-4852-948D-CE4FE73D30D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22279" y="666364"/>
            <a:ext cx="8430802" cy="55252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3979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2">
            <a:extLst>
              <a:ext uri="{FF2B5EF4-FFF2-40B4-BE49-F238E27FC236}">
                <a16:creationId xmlns:a16="http://schemas.microsoft.com/office/drawing/2014/main" id="{7962AFBC-8A73-4F7C-8ABA-480A423D716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39602738"/>
              </p:ext>
            </p:extLst>
          </p:nvPr>
        </p:nvGraphicFramePr>
        <p:xfrm>
          <a:off x="2032000" y="197153"/>
          <a:ext cx="9778998" cy="590465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4785">
                  <a:extLst>
                    <a:ext uri="{9D8B030D-6E8A-4147-A177-3AD203B41FA5}">
                      <a16:colId xmlns:a16="http://schemas.microsoft.com/office/drawing/2014/main" val="4204726471"/>
                    </a:ext>
                  </a:extLst>
                </a:gridCol>
                <a:gridCol w="1852662">
                  <a:extLst>
                    <a:ext uri="{9D8B030D-6E8A-4147-A177-3AD203B41FA5}">
                      <a16:colId xmlns:a16="http://schemas.microsoft.com/office/drawing/2014/main" val="3903638488"/>
                    </a:ext>
                  </a:extLst>
                </a:gridCol>
                <a:gridCol w="1279673">
                  <a:extLst>
                    <a:ext uri="{9D8B030D-6E8A-4147-A177-3AD203B41FA5}">
                      <a16:colId xmlns:a16="http://schemas.microsoft.com/office/drawing/2014/main" val="831239979"/>
                    </a:ext>
                  </a:extLst>
                </a:gridCol>
                <a:gridCol w="1862212">
                  <a:extLst>
                    <a:ext uri="{9D8B030D-6E8A-4147-A177-3AD203B41FA5}">
                      <a16:colId xmlns:a16="http://schemas.microsoft.com/office/drawing/2014/main" val="3251779691"/>
                    </a:ext>
                  </a:extLst>
                </a:gridCol>
                <a:gridCol w="1482354">
                  <a:extLst>
                    <a:ext uri="{9D8B030D-6E8A-4147-A177-3AD203B41FA5}">
                      <a16:colId xmlns:a16="http://schemas.microsoft.com/office/drawing/2014/main" val="1876126318"/>
                    </a:ext>
                  </a:extLst>
                </a:gridCol>
                <a:gridCol w="1777312">
                  <a:extLst>
                    <a:ext uri="{9D8B030D-6E8A-4147-A177-3AD203B41FA5}">
                      <a16:colId xmlns:a16="http://schemas.microsoft.com/office/drawing/2014/main" val="262517577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 dirty="0" err="1"/>
                        <a:t>Incident</a:t>
                      </a:r>
                      <a:r>
                        <a:rPr lang="de-DE" dirty="0"/>
                        <a:t> angle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µ</a:t>
                      </a:r>
                      <a:r>
                        <a:rPr lang="el-GR" dirty="0"/>
                        <a:t>01</a:t>
                      </a:r>
                      <a:r>
                        <a:rPr lang="de-DE" dirty="0"/>
                        <a:t> @ 45°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l-GR" dirty="0"/>
                        <a:t>α </a:t>
                      </a:r>
                      <a:r>
                        <a:rPr lang="de-DE" dirty="0"/>
                        <a:t>@ 45,0.105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721329"/>
                  </a:ext>
                </a:extLst>
              </a:tr>
              <a:tr h="1538394">
                <a:tc>
                  <a:txBody>
                    <a:bodyPr/>
                    <a:lstStyle/>
                    <a:p>
                      <a:r>
                        <a:rPr lang="de-DE" dirty="0"/>
                        <a:t>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0.08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b="1" dirty="0"/>
                        <a:t>0</a:t>
                      </a:r>
                      <a:endParaRPr lang="en-US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90694068"/>
                  </a:ext>
                </a:extLst>
              </a:tr>
              <a:tr h="1435100">
                <a:tc>
                  <a:txBody>
                    <a:bodyPr/>
                    <a:lstStyle/>
                    <a:p>
                      <a:r>
                        <a:rPr lang="de-DE" b="1" dirty="0"/>
                        <a:t>45</a:t>
                      </a:r>
                      <a:r>
                        <a:rPr lang="de-DE" dirty="0"/>
                        <a:t> 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  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0.105</a:t>
                      </a:r>
                    </a:p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30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73891925"/>
                  </a:ext>
                </a:extLst>
              </a:tr>
              <a:tr h="1447800">
                <a:tc>
                  <a:txBody>
                    <a:bodyPr/>
                    <a:lstStyle/>
                    <a:p>
                      <a:r>
                        <a:rPr lang="de-DE" dirty="0"/>
                        <a:t>60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0.13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60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218773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90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458491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534938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3931318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D2D19CD9-2BFE-4B1B-9401-122F254F2F48}"/>
              </a:ext>
            </a:extLst>
          </p:cNvPr>
          <p:cNvSpPr txBox="1"/>
          <p:nvPr/>
        </p:nvSpPr>
        <p:spPr>
          <a:xfrm>
            <a:off x="304800" y="180340"/>
            <a:ext cx="189992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err="1"/>
              <a:t>For</a:t>
            </a:r>
            <a:r>
              <a:rPr lang="de-DE" dirty="0"/>
              <a:t> 10x10x10 </a:t>
            </a:r>
            <a:r>
              <a:rPr lang="de-DE" dirty="0" err="1"/>
              <a:t>crystal</a:t>
            </a:r>
            <a:r>
              <a:rPr lang="de-DE" dirty="0"/>
              <a:t>,</a:t>
            </a:r>
          </a:p>
          <a:p>
            <a:r>
              <a:rPr lang="el-GR" dirty="0"/>
              <a:t>ν0 = 2138.0</a:t>
            </a:r>
            <a:endParaRPr lang="en-US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D00E6BC8-26EC-45D2-806B-5D7697885A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41529" y="2214229"/>
            <a:ext cx="1711521" cy="1192321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E0D5E128-F3D3-4B1A-8F85-4CBEAD8D2F9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41529" y="750612"/>
            <a:ext cx="1711520" cy="1193954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13DB5669-FEE0-4F23-A1E9-C49B6BFF268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41528" y="3676213"/>
            <a:ext cx="1711520" cy="1193954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A242B640-4856-4C09-A0FD-3CA25C4B46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2752" y="2214229"/>
            <a:ext cx="1711521" cy="1192321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3F40E265-619D-42F2-AC73-561A33CC409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62753" y="750613"/>
            <a:ext cx="1711520" cy="1193953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64609F17-9DD6-4EFC-85EE-900EF6C94AA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62752" y="3691564"/>
            <a:ext cx="1709180" cy="1192321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737FD9DC-5689-4A7A-9189-6CB7AA742601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63718" y="752245"/>
            <a:ext cx="1709180" cy="1192321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F29B43B1-1FD9-4FB5-8E83-6CF1EB26226E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63718" y="2214229"/>
            <a:ext cx="1709180" cy="1192321"/>
          </a:xfrm>
          <a:prstGeom prst="rect">
            <a:avLst/>
          </a:prstGeom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0FCB0DFD-48E6-4F34-899F-7FED2E969AF8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61379" y="3691564"/>
            <a:ext cx="1709180" cy="1192321"/>
          </a:xfrm>
          <a:prstGeom prst="rect">
            <a:avLst/>
          </a:prstGeom>
        </p:spPr>
      </p:pic>
      <p:pic>
        <p:nvPicPr>
          <p:cNvPr id="39" name="Picture 38">
            <a:extLst>
              <a:ext uri="{FF2B5EF4-FFF2-40B4-BE49-F238E27FC236}">
                <a16:creationId xmlns:a16="http://schemas.microsoft.com/office/drawing/2014/main" id="{D376920F-6513-4336-BCC1-7D6B872A781B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61378" y="5005785"/>
            <a:ext cx="1709181" cy="119232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88BB03CE-35E6-4800-877F-FC293445A98A}"/>
                  </a:ext>
                </a:extLst>
              </p:cNvPr>
              <p:cNvSpPr txBox="1"/>
              <p:nvPr/>
            </p:nvSpPr>
            <p:spPr>
              <a:xfrm>
                <a:off x="238125" y="6394461"/>
                <a:ext cx="9214446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dirty="0"/>
                  <a:t>Choose Theta = 50°,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dirty="0"/>
                  <a:t>=0 and µ01 increased to 0.195 (0.105 before) to match measured spectra</a:t>
                </a:r>
              </a:p>
              <a:p>
                <a:r>
                  <a:rPr lang="en-US" dirty="0"/>
                  <a:t> </a:t>
                </a:r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88BB03CE-35E6-4800-877F-FC293445A9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8125" y="6394461"/>
                <a:ext cx="9214446" cy="646331"/>
              </a:xfrm>
              <a:prstGeom prst="rect">
                <a:avLst/>
              </a:prstGeom>
              <a:blipFill>
                <a:blip r:embed="rId11"/>
                <a:stretch>
                  <a:fillRect l="-529" t="-566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244147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7156A1CE-21DE-493D-9DB5-E6AD484E0208}"/>
                  </a:ext>
                </a:extLst>
              </p:cNvPr>
              <p:cNvSpPr txBox="1"/>
              <p:nvPr/>
            </p:nvSpPr>
            <p:spPr>
              <a:xfrm>
                <a:off x="200025" y="333375"/>
                <a:ext cx="9757864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dirty="0"/>
                  <a:t>Choose </a:t>
                </a:r>
                <a:r>
                  <a:rPr lang="de-DE" b="1" dirty="0"/>
                  <a:t>Theta = 50°,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dirty="0"/>
                  <a:t>=0 and </a:t>
                </a:r>
                <a:r>
                  <a:rPr lang="en-US" b="1" dirty="0"/>
                  <a:t>µ01</a:t>
                </a:r>
                <a:r>
                  <a:rPr lang="en-US" dirty="0"/>
                  <a:t> increased to </a:t>
                </a:r>
                <a:r>
                  <a:rPr lang="en-US" b="1" dirty="0"/>
                  <a:t>0.195</a:t>
                </a:r>
                <a:r>
                  <a:rPr lang="en-US" dirty="0"/>
                  <a:t> (0.105 before) to match measured spectra, 8x8x8</a:t>
                </a:r>
              </a:p>
              <a:p>
                <a:r>
                  <a:rPr lang="en-US" dirty="0"/>
                  <a:t> </a:t>
                </a: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7156A1CE-21DE-493D-9DB5-E6AD484E02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0025" y="333375"/>
                <a:ext cx="9757864" cy="646331"/>
              </a:xfrm>
              <a:prstGeom prst="rect">
                <a:avLst/>
              </a:prstGeom>
              <a:blipFill>
                <a:blip r:embed="rId3"/>
                <a:stretch>
                  <a:fillRect l="-562" t="-566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91364D4F-4BB3-4B43-AF2F-B11246C4C7F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4513" y="1751651"/>
            <a:ext cx="4578693" cy="319408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DF2EEDF-70A4-4A8E-8393-F10BA7609CFA}"/>
              </a:ext>
            </a:extLst>
          </p:cNvPr>
          <p:cNvSpPr txBox="1"/>
          <p:nvPr/>
        </p:nvSpPr>
        <p:spPr>
          <a:xfrm>
            <a:off x="1877454" y="1382319"/>
            <a:ext cx="16466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Randomised</a:t>
            </a:r>
            <a:r>
              <a:rPr lang="de-DE" dirty="0"/>
              <a:t> on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763A915-E8EE-4452-B67C-B8E7E678ABF5}"/>
              </a:ext>
            </a:extLst>
          </p:cNvPr>
          <p:cNvSpPr txBox="1"/>
          <p:nvPr/>
        </p:nvSpPr>
        <p:spPr>
          <a:xfrm>
            <a:off x="8405941" y="1382319"/>
            <a:ext cx="16635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Randomised</a:t>
            </a:r>
            <a:r>
              <a:rPr lang="de-DE" dirty="0"/>
              <a:t> off</a:t>
            </a:r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BB7482C-B248-4011-B5F3-D447871515C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08596" y="1751651"/>
            <a:ext cx="4578693" cy="31940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233999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918EE88-9342-467E-B5E8-69B2B065BBA6}"/>
                  </a:ext>
                </a:extLst>
              </p:cNvPr>
              <p:cNvSpPr txBox="1"/>
              <p:nvPr/>
            </p:nvSpPr>
            <p:spPr>
              <a:xfrm>
                <a:off x="149133" y="352697"/>
                <a:ext cx="2241369" cy="258532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Unit cells </a:t>
                </a:r>
                <a:r>
                  <a:rPr lang="de-DE" dirty="0"/>
                  <a:t>12x12x12</a:t>
                </a:r>
                <a:endParaRPr lang="en-US" dirty="0"/>
              </a:p>
              <a:p>
                <a:r>
                  <a:rPr lang="en-US" dirty="0"/>
                  <a:t>R</a:t>
                </a:r>
                <a:r>
                  <a:rPr lang="en-IN" dirty="0" err="1"/>
                  <a:t>andom</a:t>
                </a:r>
                <a:r>
                  <a:rPr lang="en-IN" dirty="0"/>
                  <a:t> orientations</a:t>
                </a:r>
              </a:p>
              <a:p>
                <a:endParaRPr lang="en-IN" dirty="0"/>
              </a:p>
              <a:p>
                <a:r>
                  <a:rPr lang="en-IN" dirty="0"/>
                  <a:t>Frequency shifted (</a:t>
                </a:r>
                <a:r>
                  <a:rPr lang="el-GR" dirty="0"/>
                  <a:t>ν0 = 2130.937</a:t>
                </a:r>
                <a:r>
                  <a:rPr lang="en-IN" dirty="0"/>
                  <a:t>)</a:t>
                </a:r>
              </a:p>
              <a:p>
                <a:endParaRPr lang="en-IN" dirty="0"/>
              </a:p>
              <a:p>
                <a:r>
                  <a:rPr lang="de-DE" dirty="0"/>
                  <a:t>Theta = 50°,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dirty="0"/>
                  <a:t>=0 and µ01 increased to 0.195</a:t>
                </a:r>
                <a:endParaRPr lang="en-IN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918EE88-9342-467E-B5E8-69B2B065BB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9133" y="352697"/>
                <a:ext cx="2241369" cy="2585323"/>
              </a:xfrm>
              <a:prstGeom prst="rect">
                <a:avLst/>
              </a:prstGeom>
              <a:blipFill>
                <a:blip r:embed="rId3"/>
                <a:stretch>
                  <a:fillRect l="-2174" t="-1415" r="-2446" b="-28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15819FDE-1B20-4BC3-9F30-25812423393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56891" y="352697"/>
            <a:ext cx="8726118" cy="6087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477725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918EE88-9342-467E-B5E8-69B2B065BBA6}"/>
                  </a:ext>
                </a:extLst>
              </p:cNvPr>
              <p:cNvSpPr txBox="1"/>
              <p:nvPr/>
            </p:nvSpPr>
            <p:spPr>
              <a:xfrm>
                <a:off x="149133" y="352697"/>
                <a:ext cx="2241369" cy="258532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Unit cells </a:t>
                </a:r>
                <a:r>
                  <a:rPr lang="de-DE" dirty="0"/>
                  <a:t>14x14x14</a:t>
                </a:r>
                <a:endParaRPr lang="en-US" dirty="0"/>
              </a:p>
              <a:p>
                <a:r>
                  <a:rPr lang="en-US" dirty="0"/>
                  <a:t>R</a:t>
                </a:r>
                <a:r>
                  <a:rPr lang="en-IN" dirty="0" err="1"/>
                  <a:t>andom</a:t>
                </a:r>
                <a:r>
                  <a:rPr lang="en-IN" dirty="0"/>
                  <a:t> orientations</a:t>
                </a:r>
              </a:p>
              <a:p>
                <a:endParaRPr lang="en-IN" dirty="0"/>
              </a:p>
              <a:p>
                <a:r>
                  <a:rPr lang="en-IN" dirty="0"/>
                  <a:t>Frequency shifted (</a:t>
                </a:r>
                <a:r>
                  <a:rPr lang="el-GR" dirty="0"/>
                  <a:t>ν0 = 2130.937</a:t>
                </a:r>
                <a:r>
                  <a:rPr lang="en-IN" dirty="0"/>
                  <a:t>)</a:t>
                </a:r>
              </a:p>
              <a:p>
                <a:endParaRPr lang="en-IN" dirty="0"/>
              </a:p>
              <a:p>
                <a:r>
                  <a:rPr lang="de-DE" dirty="0"/>
                  <a:t>Theta = 50°,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dirty="0"/>
                  <a:t>=0 and µ01 increased to 0.195</a:t>
                </a:r>
                <a:endParaRPr lang="en-IN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918EE88-9342-467E-B5E8-69B2B065BB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9133" y="352697"/>
                <a:ext cx="2241369" cy="2585323"/>
              </a:xfrm>
              <a:prstGeom prst="rect">
                <a:avLst/>
              </a:prstGeom>
              <a:blipFill>
                <a:blip r:embed="rId3"/>
                <a:stretch>
                  <a:fillRect l="-2174" t="-1415" r="-2446" b="-28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15819FDE-1B20-4BC3-9F30-25812423393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857062" y="352697"/>
            <a:ext cx="8725775" cy="6087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661460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918EE88-9342-467E-B5E8-69B2B065BBA6}"/>
                  </a:ext>
                </a:extLst>
              </p:cNvPr>
              <p:cNvSpPr txBox="1"/>
              <p:nvPr/>
            </p:nvSpPr>
            <p:spPr>
              <a:xfrm>
                <a:off x="149133" y="352697"/>
                <a:ext cx="2241369" cy="258532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Unit cells </a:t>
                </a:r>
                <a:r>
                  <a:rPr lang="de-DE" dirty="0"/>
                  <a:t>16x16x16</a:t>
                </a:r>
                <a:endParaRPr lang="en-US" dirty="0"/>
              </a:p>
              <a:p>
                <a:r>
                  <a:rPr lang="en-US" dirty="0"/>
                  <a:t>R</a:t>
                </a:r>
                <a:r>
                  <a:rPr lang="en-IN" dirty="0" err="1"/>
                  <a:t>andom</a:t>
                </a:r>
                <a:r>
                  <a:rPr lang="en-IN" dirty="0"/>
                  <a:t> orientations</a:t>
                </a:r>
              </a:p>
              <a:p>
                <a:endParaRPr lang="en-IN" dirty="0"/>
              </a:p>
              <a:p>
                <a:r>
                  <a:rPr lang="en-IN" dirty="0"/>
                  <a:t>Frequency shifted (</a:t>
                </a:r>
                <a:r>
                  <a:rPr lang="el-GR" dirty="0"/>
                  <a:t>ν0 = 2130.937</a:t>
                </a:r>
                <a:r>
                  <a:rPr lang="en-IN" dirty="0"/>
                  <a:t>)</a:t>
                </a:r>
              </a:p>
              <a:p>
                <a:endParaRPr lang="en-IN" dirty="0"/>
              </a:p>
              <a:p>
                <a:r>
                  <a:rPr lang="de-DE" dirty="0"/>
                  <a:t>Theta = 50°,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dirty="0"/>
                  <a:t>=0 and µ01 increased to 0.195</a:t>
                </a:r>
                <a:endParaRPr lang="en-IN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918EE88-9342-467E-B5E8-69B2B065BB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9133" y="352697"/>
                <a:ext cx="2241369" cy="2585323"/>
              </a:xfrm>
              <a:prstGeom prst="rect">
                <a:avLst/>
              </a:prstGeom>
              <a:blipFill>
                <a:blip r:embed="rId3"/>
                <a:stretch>
                  <a:fillRect l="-2174" t="-1415" r="-2446" b="-28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801FD322-D6ED-44CF-82D5-29919DADDC2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857062" y="352697"/>
            <a:ext cx="8725775" cy="60873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791108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918EE88-9342-467E-B5E8-69B2B065BBA6}"/>
                  </a:ext>
                </a:extLst>
              </p:cNvPr>
              <p:cNvSpPr txBox="1"/>
              <p:nvPr/>
            </p:nvSpPr>
            <p:spPr>
              <a:xfrm>
                <a:off x="149133" y="352697"/>
                <a:ext cx="2241369" cy="258532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Unit cells </a:t>
                </a:r>
                <a:r>
                  <a:rPr lang="de-DE" dirty="0"/>
                  <a:t>20x20x20</a:t>
                </a:r>
                <a:endParaRPr lang="en-US" dirty="0"/>
              </a:p>
              <a:p>
                <a:r>
                  <a:rPr lang="en-US" dirty="0"/>
                  <a:t>R</a:t>
                </a:r>
                <a:r>
                  <a:rPr lang="en-IN" dirty="0" err="1"/>
                  <a:t>andom</a:t>
                </a:r>
                <a:r>
                  <a:rPr lang="en-IN" dirty="0"/>
                  <a:t> orientations</a:t>
                </a:r>
              </a:p>
              <a:p>
                <a:endParaRPr lang="en-IN" dirty="0"/>
              </a:p>
              <a:p>
                <a:r>
                  <a:rPr lang="en-IN" dirty="0"/>
                  <a:t>Frequency shifted (</a:t>
                </a:r>
                <a:r>
                  <a:rPr lang="el-GR" dirty="0"/>
                  <a:t>ν0 = 2130.937</a:t>
                </a:r>
                <a:r>
                  <a:rPr lang="en-IN" dirty="0"/>
                  <a:t>)</a:t>
                </a:r>
              </a:p>
              <a:p>
                <a:endParaRPr lang="en-IN" dirty="0"/>
              </a:p>
              <a:p>
                <a:r>
                  <a:rPr lang="de-DE" dirty="0"/>
                  <a:t>Theta = 50°,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dirty="0"/>
                  <a:t>=0 and µ01 increased to 0.195</a:t>
                </a:r>
                <a:endParaRPr lang="en-IN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918EE88-9342-467E-B5E8-69B2B065BB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9133" y="352697"/>
                <a:ext cx="2241369" cy="2585323"/>
              </a:xfrm>
              <a:prstGeom prst="rect">
                <a:avLst/>
              </a:prstGeom>
              <a:blipFill>
                <a:blip r:embed="rId3"/>
                <a:stretch>
                  <a:fillRect l="-2174" t="-1415" r="-2446" b="-28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874968B1-EC28-47AF-9971-6F00D8543D7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857063" y="352697"/>
            <a:ext cx="8725773" cy="60873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228198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68E945A7-064A-44D2-B79A-48E50FCB50A2}"/>
                  </a:ext>
                </a:extLst>
              </p:cNvPr>
              <p:cNvSpPr txBox="1"/>
              <p:nvPr/>
            </p:nvSpPr>
            <p:spPr>
              <a:xfrm>
                <a:off x="149133" y="352697"/>
                <a:ext cx="2241369" cy="31393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b="1" dirty="0"/>
                  <a:t>Build slab with different sizes in z:</a:t>
                </a:r>
              </a:p>
              <a:p>
                <a:endParaRPr lang="en-US" dirty="0"/>
              </a:p>
              <a:p>
                <a:r>
                  <a:rPr lang="en-US" dirty="0"/>
                  <a:t>Unit cells </a:t>
                </a:r>
                <a:r>
                  <a:rPr lang="de-DE" dirty="0"/>
                  <a:t>24x24x</a:t>
                </a:r>
                <a:r>
                  <a:rPr lang="de-DE" b="1" dirty="0"/>
                  <a:t>8</a:t>
                </a:r>
                <a:endParaRPr lang="en-US" b="1" dirty="0"/>
              </a:p>
              <a:p>
                <a:r>
                  <a:rPr lang="en-US" dirty="0"/>
                  <a:t>R</a:t>
                </a:r>
                <a:r>
                  <a:rPr lang="en-IN" dirty="0" err="1"/>
                  <a:t>andom</a:t>
                </a:r>
                <a:r>
                  <a:rPr lang="en-IN" dirty="0"/>
                  <a:t> orientations</a:t>
                </a:r>
              </a:p>
              <a:p>
                <a:endParaRPr lang="en-IN" dirty="0"/>
              </a:p>
              <a:p>
                <a:r>
                  <a:rPr lang="en-IN" dirty="0"/>
                  <a:t>Frequency shifted (</a:t>
                </a:r>
                <a:r>
                  <a:rPr lang="el-GR" dirty="0"/>
                  <a:t>ν0 = 2138.0</a:t>
                </a:r>
                <a:r>
                  <a:rPr lang="en-IN" dirty="0"/>
                  <a:t>)</a:t>
                </a:r>
              </a:p>
              <a:p>
                <a:endParaRPr lang="en-IN" dirty="0"/>
              </a:p>
              <a:p>
                <a:r>
                  <a:rPr lang="de-DE" dirty="0"/>
                  <a:t>Theta = 50°,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dirty="0"/>
                  <a:t>=0 and µ01 = 0.105</a:t>
                </a:r>
                <a:endParaRPr lang="en-IN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68E945A7-064A-44D2-B79A-48E50FCB50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9133" y="352697"/>
                <a:ext cx="2241369" cy="3139321"/>
              </a:xfrm>
              <a:prstGeom prst="rect">
                <a:avLst/>
              </a:prstGeom>
              <a:blipFill>
                <a:blip r:embed="rId3"/>
                <a:stretch>
                  <a:fillRect l="-2174" t="-1165" r="-2446" b="-21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4BB7E91A-5135-4274-9AD4-A502AAF58FD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52694" y="536166"/>
            <a:ext cx="8726118" cy="6087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070699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68E945A7-064A-44D2-B79A-48E50FCB50A2}"/>
                  </a:ext>
                </a:extLst>
              </p:cNvPr>
              <p:cNvSpPr txBox="1"/>
              <p:nvPr/>
            </p:nvSpPr>
            <p:spPr>
              <a:xfrm>
                <a:off x="149133" y="352697"/>
                <a:ext cx="2241369" cy="31393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b="1" dirty="0"/>
                  <a:t>Build slab with different sizes in z:</a:t>
                </a:r>
              </a:p>
              <a:p>
                <a:endParaRPr lang="en-US" dirty="0"/>
              </a:p>
              <a:p>
                <a:r>
                  <a:rPr lang="en-US" dirty="0"/>
                  <a:t>Unit cells </a:t>
                </a:r>
                <a:r>
                  <a:rPr lang="de-DE" dirty="0"/>
                  <a:t>24x24x</a:t>
                </a:r>
                <a:r>
                  <a:rPr lang="de-DE" b="1" dirty="0"/>
                  <a:t>12</a:t>
                </a:r>
                <a:endParaRPr lang="en-US" b="1" dirty="0"/>
              </a:p>
              <a:p>
                <a:r>
                  <a:rPr lang="en-US" dirty="0"/>
                  <a:t>R</a:t>
                </a:r>
                <a:r>
                  <a:rPr lang="en-IN" dirty="0" err="1"/>
                  <a:t>andom</a:t>
                </a:r>
                <a:r>
                  <a:rPr lang="en-IN" dirty="0"/>
                  <a:t> orientations</a:t>
                </a:r>
              </a:p>
              <a:p>
                <a:endParaRPr lang="en-IN" dirty="0"/>
              </a:p>
              <a:p>
                <a:r>
                  <a:rPr lang="en-IN" dirty="0"/>
                  <a:t>Frequency shifted (</a:t>
                </a:r>
                <a:r>
                  <a:rPr lang="el-GR" dirty="0"/>
                  <a:t>ν0 = 2138.0</a:t>
                </a:r>
                <a:r>
                  <a:rPr lang="en-IN" dirty="0"/>
                  <a:t>)</a:t>
                </a:r>
              </a:p>
              <a:p>
                <a:endParaRPr lang="en-IN" dirty="0"/>
              </a:p>
              <a:p>
                <a:r>
                  <a:rPr lang="de-DE" dirty="0"/>
                  <a:t>Theta = 45°,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dirty="0"/>
                  <a:t>=0 and µ01 = 0.105</a:t>
                </a:r>
                <a:endParaRPr lang="en-IN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68E945A7-064A-44D2-B79A-48E50FCB50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9133" y="352697"/>
                <a:ext cx="2241369" cy="3139321"/>
              </a:xfrm>
              <a:prstGeom prst="rect">
                <a:avLst/>
              </a:prstGeom>
              <a:blipFill>
                <a:blip r:embed="rId3"/>
                <a:stretch>
                  <a:fillRect l="-2174" t="-1165" r="-2446" b="-21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4BB7E91A-5135-4274-9AD4-A502AAF58FD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052865" y="536166"/>
            <a:ext cx="8725775" cy="6087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294943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68E945A7-064A-44D2-B79A-48E50FCB50A2}"/>
                  </a:ext>
                </a:extLst>
              </p:cNvPr>
              <p:cNvSpPr txBox="1"/>
              <p:nvPr/>
            </p:nvSpPr>
            <p:spPr>
              <a:xfrm>
                <a:off x="149133" y="352697"/>
                <a:ext cx="2241369" cy="31393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b="1" dirty="0"/>
                  <a:t>Build slab with different sizes in z:</a:t>
                </a:r>
              </a:p>
              <a:p>
                <a:endParaRPr lang="en-US" dirty="0"/>
              </a:p>
              <a:p>
                <a:r>
                  <a:rPr lang="en-US" dirty="0"/>
                  <a:t>Unit cells </a:t>
                </a:r>
                <a:r>
                  <a:rPr lang="de-DE" dirty="0"/>
                  <a:t>24x24x</a:t>
                </a:r>
                <a:r>
                  <a:rPr lang="de-DE" b="1" dirty="0"/>
                  <a:t>16</a:t>
                </a:r>
                <a:endParaRPr lang="en-US" b="1" dirty="0"/>
              </a:p>
              <a:p>
                <a:r>
                  <a:rPr lang="en-US" dirty="0"/>
                  <a:t>R</a:t>
                </a:r>
                <a:r>
                  <a:rPr lang="en-IN" dirty="0" err="1"/>
                  <a:t>andom</a:t>
                </a:r>
                <a:r>
                  <a:rPr lang="en-IN" dirty="0"/>
                  <a:t> orientations</a:t>
                </a:r>
              </a:p>
              <a:p>
                <a:endParaRPr lang="en-IN" dirty="0"/>
              </a:p>
              <a:p>
                <a:r>
                  <a:rPr lang="en-IN" dirty="0"/>
                  <a:t>Frequency shifted (</a:t>
                </a:r>
                <a:r>
                  <a:rPr lang="el-GR" dirty="0"/>
                  <a:t>ν0 = 213</a:t>
                </a:r>
                <a:r>
                  <a:rPr lang="de-DE" dirty="0"/>
                  <a:t>7</a:t>
                </a:r>
                <a:r>
                  <a:rPr lang="el-GR" dirty="0"/>
                  <a:t>.</a:t>
                </a:r>
                <a:r>
                  <a:rPr lang="de-DE" dirty="0"/>
                  <a:t>4</a:t>
                </a:r>
                <a:r>
                  <a:rPr lang="en-IN" dirty="0"/>
                  <a:t>)</a:t>
                </a:r>
              </a:p>
              <a:p>
                <a:endParaRPr lang="en-IN" dirty="0"/>
              </a:p>
              <a:p>
                <a:r>
                  <a:rPr lang="de-DE" dirty="0"/>
                  <a:t>Theta = 45°,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dirty="0"/>
                  <a:t>=0 and µ01 = 0.105</a:t>
                </a:r>
                <a:endParaRPr lang="en-IN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68E945A7-064A-44D2-B79A-48E50FCB50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9133" y="352697"/>
                <a:ext cx="2241369" cy="3139321"/>
              </a:xfrm>
              <a:prstGeom prst="rect">
                <a:avLst/>
              </a:prstGeom>
              <a:blipFill>
                <a:blip r:embed="rId3"/>
                <a:stretch>
                  <a:fillRect l="-2174" t="-1165" r="-2446" b="-21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4BB7E91A-5135-4274-9AD4-A502AAF58FD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052865" y="536166"/>
            <a:ext cx="8725775" cy="60873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144666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68E945A7-064A-44D2-B79A-48E50FCB50A2}"/>
                  </a:ext>
                </a:extLst>
              </p:cNvPr>
              <p:cNvSpPr txBox="1"/>
              <p:nvPr/>
            </p:nvSpPr>
            <p:spPr>
              <a:xfrm>
                <a:off x="149133" y="352697"/>
                <a:ext cx="2241369" cy="31393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b="1" dirty="0"/>
                  <a:t>Build slab with different sizes in z:</a:t>
                </a:r>
              </a:p>
              <a:p>
                <a:endParaRPr lang="en-US" dirty="0"/>
              </a:p>
              <a:p>
                <a:r>
                  <a:rPr lang="en-US" dirty="0"/>
                  <a:t>Unit cells </a:t>
                </a:r>
                <a:r>
                  <a:rPr lang="de-DE" dirty="0"/>
                  <a:t>24x24x</a:t>
                </a:r>
                <a:r>
                  <a:rPr lang="de-DE" b="1" dirty="0"/>
                  <a:t>16</a:t>
                </a:r>
                <a:endParaRPr lang="en-US" b="1" dirty="0"/>
              </a:p>
              <a:p>
                <a:r>
                  <a:rPr lang="en-US" dirty="0"/>
                  <a:t>R</a:t>
                </a:r>
                <a:r>
                  <a:rPr lang="en-IN" dirty="0" err="1"/>
                  <a:t>andom</a:t>
                </a:r>
                <a:r>
                  <a:rPr lang="en-IN" dirty="0"/>
                  <a:t> orientations</a:t>
                </a:r>
              </a:p>
              <a:p>
                <a:endParaRPr lang="en-IN" dirty="0"/>
              </a:p>
              <a:p>
                <a:r>
                  <a:rPr lang="en-IN" dirty="0"/>
                  <a:t>Frequency shifted (</a:t>
                </a:r>
                <a:r>
                  <a:rPr lang="el-GR" dirty="0"/>
                  <a:t>ν0 = 213</a:t>
                </a:r>
                <a:r>
                  <a:rPr lang="de-DE" dirty="0"/>
                  <a:t>7</a:t>
                </a:r>
                <a:r>
                  <a:rPr lang="el-GR" dirty="0"/>
                  <a:t>.</a:t>
                </a:r>
                <a:r>
                  <a:rPr lang="de-DE" dirty="0"/>
                  <a:t>4</a:t>
                </a:r>
                <a:r>
                  <a:rPr lang="en-IN" dirty="0"/>
                  <a:t>)</a:t>
                </a:r>
              </a:p>
              <a:p>
                <a:endParaRPr lang="en-IN" dirty="0"/>
              </a:p>
              <a:p>
                <a:r>
                  <a:rPr lang="de-DE" dirty="0"/>
                  <a:t>Theta = </a:t>
                </a:r>
                <a:r>
                  <a:rPr lang="de-DE" b="1" dirty="0"/>
                  <a:t>42</a:t>
                </a:r>
                <a:r>
                  <a:rPr lang="de-DE" dirty="0"/>
                  <a:t>°,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dirty="0"/>
                  <a:t>=0 and µ01 = 0.105</a:t>
                </a:r>
                <a:endParaRPr lang="en-IN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68E945A7-064A-44D2-B79A-48E50FCB50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9133" y="352697"/>
                <a:ext cx="2241369" cy="3139321"/>
              </a:xfrm>
              <a:prstGeom prst="rect">
                <a:avLst/>
              </a:prstGeom>
              <a:blipFill>
                <a:blip r:embed="rId3"/>
                <a:stretch>
                  <a:fillRect l="-2174" t="-1165" r="-2446" b="-21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4BB7E91A-5135-4274-9AD4-A502AAF58FD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052866" y="536166"/>
            <a:ext cx="8725773" cy="60873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34689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68E945A7-064A-44D2-B79A-48E50FCB50A2}"/>
                  </a:ext>
                </a:extLst>
              </p:cNvPr>
              <p:cNvSpPr txBox="1"/>
              <p:nvPr/>
            </p:nvSpPr>
            <p:spPr>
              <a:xfrm>
                <a:off x="149133" y="352697"/>
                <a:ext cx="2241369" cy="31393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b="1" dirty="0"/>
                  <a:t>Build slab with different sizes in z:</a:t>
                </a:r>
              </a:p>
              <a:p>
                <a:endParaRPr lang="en-US" dirty="0"/>
              </a:p>
              <a:p>
                <a:r>
                  <a:rPr lang="en-US" dirty="0"/>
                  <a:t>Unit cells </a:t>
                </a:r>
                <a:r>
                  <a:rPr lang="de-DE" dirty="0"/>
                  <a:t>24x24x</a:t>
                </a:r>
                <a:r>
                  <a:rPr lang="de-DE" b="1" dirty="0"/>
                  <a:t>15</a:t>
                </a:r>
                <a:endParaRPr lang="en-US" b="1" dirty="0"/>
              </a:p>
              <a:p>
                <a:r>
                  <a:rPr lang="en-US" dirty="0"/>
                  <a:t>R</a:t>
                </a:r>
                <a:r>
                  <a:rPr lang="en-IN" dirty="0" err="1"/>
                  <a:t>andom</a:t>
                </a:r>
                <a:r>
                  <a:rPr lang="en-IN" dirty="0"/>
                  <a:t> orientations</a:t>
                </a:r>
              </a:p>
              <a:p>
                <a:endParaRPr lang="en-IN" dirty="0"/>
              </a:p>
              <a:p>
                <a:r>
                  <a:rPr lang="en-IN" dirty="0"/>
                  <a:t>Frequency shifted (</a:t>
                </a:r>
                <a:r>
                  <a:rPr lang="el-GR" dirty="0"/>
                  <a:t>ν0 = 2136.97</a:t>
                </a:r>
                <a:r>
                  <a:rPr lang="en-IN" dirty="0"/>
                  <a:t>)</a:t>
                </a:r>
              </a:p>
              <a:p>
                <a:endParaRPr lang="en-IN" dirty="0"/>
              </a:p>
              <a:p>
                <a:r>
                  <a:rPr lang="de-DE" dirty="0"/>
                  <a:t>Theta = </a:t>
                </a:r>
                <a:r>
                  <a:rPr lang="de-DE" b="1" dirty="0"/>
                  <a:t>41</a:t>
                </a:r>
                <a:r>
                  <a:rPr lang="de-DE" dirty="0"/>
                  <a:t>°,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dirty="0"/>
                  <a:t>=0 and µ01 = 0.105</a:t>
                </a:r>
                <a:endParaRPr lang="en-IN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68E945A7-064A-44D2-B79A-48E50FCB50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9133" y="352697"/>
                <a:ext cx="2241369" cy="3139321"/>
              </a:xfrm>
              <a:prstGeom prst="rect">
                <a:avLst/>
              </a:prstGeom>
              <a:blipFill>
                <a:blip r:embed="rId3"/>
                <a:stretch>
                  <a:fillRect l="-2174" t="-1165" r="-2446" b="-21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4BB7E91A-5135-4274-9AD4-A502AAF58FD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052866" y="536166"/>
            <a:ext cx="8725773" cy="60873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004832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68E945A7-064A-44D2-B79A-48E50FCB50A2}"/>
                  </a:ext>
                </a:extLst>
              </p:cNvPr>
              <p:cNvSpPr txBox="1"/>
              <p:nvPr/>
            </p:nvSpPr>
            <p:spPr>
              <a:xfrm>
                <a:off x="149133" y="352697"/>
                <a:ext cx="2241369" cy="31393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b="1" dirty="0"/>
                  <a:t>Build slab with different sizes in z:</a:t>
                </a:r>
              </a:p>
              <a:p>
                <a:endParaRPr lang="en-US" dirty="0"/>
              </a:p>
              <a:p>
                <a:r>
                  <a:rPr lang="en-US" dirty="0"/>
                  <a:t>Unit cells </a:t>
                </a:r>
                <a:r>
                  <a:rPr lang="de-DE" dirty="0"/>
                  <a:t>24x24x</a:t>
                </a:r>
                <a:r>
                  <a:rPr lang="de-DE" b="1" dirty="0"/>
                  <a:t>15</a:t>
                </a:r>
                <a:endParaRPr lang="en-US" b="1" dirty="0"/>
              </a:p>
              <a:p>
                <a:r>
                  <a:rPr lang="en-US" dirty="0"/>
                  <a:t>R</a:t>
                </a:r>
                <a:r>
                  <a:rPr lang="en-IN" dirty="0" err="1"/>
                  <a:t>andom</a:t>
                </a:r>
                <a:r>
                  <a:rPr lang="en-IN" dirty="0"/>
                  <a:t> orientations</a:t>
                </a:r>
              </a:p>
              <a:p>
                <a:endParaRPr lang="en-IN" dirty="0"/>
              </a:p>
              <a:p>
                <a:r>
                  <a:rPr lang="en-IN" dirty="0"/>
                  <a:t>Frequency shifted (</a:t>
                </a:r>
                <a:r>
                  <a:rPr lang="el-GR" dirty="0"/>
                  <a:t>ν0 = 2136.97</a:t>
                </a:r>
                <a:r>
                  <a:rPr lang="en-IN" dirty="0"/>
                  <a:t>)</a:t>
                </a:r>
              </a:p>
              <a:p>
                <a:endParaRPr lang="en-IN" dirty="0"/>
              </a:p>
              <a:p>
                <a:r>
                  <a:rPr lang="de-DE" dirty="0"/>
                  <a:t>Theta = </a:t>
                </a:r>
                <a:r>
                  <a:rPr lang="de-DE" b="1" dirty="0"/>
                  <a:t>41.5</a:t>
                </a:r>
                <a:r>
                  <a:rPr lang="de-DE" dirty="0"/>
                  <a:t>°,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dirty="0"/>
                  <a:t>=0 and µ01 = 0.105</a:t>
                </a:r>
                <a:endParaRPr lang="en-IN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68E945A7-064A-44D2-B79A-48E50FCB50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9133" y="352697"/>
                <a:ext cx="2241369" cy="3139321"/>
              </a:xfrm>
              <a:prstGeom prst="rect">
                <a:avLst/>
              </a:prstGeom>
              <a:blipFill>
                <a:blip r:embed="rId3"/>
                <a:stretch>
                  <a:fillRect l="-2174" t="-1165" r="-2446" b="-21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4BB7E91A-5135-4274-9AD4-A502AAF58FD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052866" y="538782"/>
            <a:ext cx="8725773" cy="60820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215787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68E945A7-064A-44D2-B79A-48E50FCB50A2}"/>
                  </a:ext>
                </a:extLst>
              </p:cNvPr>
              <p:cNvSpPr txBox="1"/>
              <p:nvPr/>
            </p:nvSpPr>
            <p:spPr>
              <a:xfrm>
                <a:off x="149133" y="352697"/>
                <a:ext cx="2241369" cy="31393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b="1" dirty="0"/>
                  <a:t>Build slab with different sizes in z:</a:t>
                </a:r>
              </a:p>
              <a:p>
                <a:endParaRPr lang="en-US" dirty="0"/>
              </a:p>
              <a:p>
                <a:r>
                  <a:rPr lang="en-US" dirty="0"/>
                  <a:t>Unit cells </a:t>
                </a:r>
                <a:r>
                  <a:rPr lang="de-DE" dirty="0"/>
                  <a:t>24x24x</a:t>
                </a:r>
                <a:r>
                  <a:rPr lang="de-DE" b="1" dirty="0"/>
                  <a:t>15</a:t>
                </a:r>
                <a:endParaRPr lang="en-US" b="1" dirty="0"/>
              </a:p>
              <a:p>
                <a:r>
                  <a:rPr lang="en-US" dirty="0"/>
                  <a:t>R</a:t>
                </a:r>
                <a:r>
                  <a:rPr lang="en-IN" dirty="0" err="1"/>
                  <a:t>andom</a:t>
                </a:r>
                <a:r>
                  <a:rPr lang="en-IN" dirty="0"/>
                  <a:t> orientations</a:t>
                </a:r>
              </a:p>
              <a:p>
                <a:endParaRPr lang="en-IN" dirty="0"/>
              </a:p>
              <a:p>
                <a:r>
                  <a:rPr lang="en-IN" dirty="0"/>
                  <a:t>Frequency shifted (</a:t>
                </a:r>
                <a:r>
                  <a:rPr lang="el-GR" dirty="0"/>
                  <a:t>ν0 = 2136.97</a:t>
                </a:r>
                <a:r>
                  <a:rPr lang="en-IN" dirty="0"/>
                  <a:t>)</a:t>
                </a:r>
              </a:p>
              <a:p>
                <a:endParaRPr lang="en-IN" dirty="0"/>
              </a:p>
              <a:p>
                <a:r>
                  <a:rPr lang="de-DE" dirty="0"/>
                  <a:t>Theta = </a:t>
                </a:r>
                <a:r>
                  <a:rPr lang="de-DE" b="1" dirty="0"/>
                  <a:t>42</a:t>
                </a:r>
                <a:r>
                  <a:rPr lang="de-DE" dirty="0"/>
                  <a:t>°,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dirty="0"/>
                  <a:t>=0 and µ01 = 0.105</a:t>
                </a:r>
                <a:endParaRPr lang="en-IN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68E945A7-064A-44D2-B79A-48E50FCB50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9133" y="352697"/>
                <a:ext cx="2241369" cy="3139321"/>
              </a:xfrm>
              <a:prstGeom prst="rect">
                <a:avLst/>
              </a:prstGeom>
              <a:blipFill>
                <a:blip r:embed="rId3"/>
                <a:stretch>
                  <a:fillRect l="-2174" t="-1165" r="-2446" b="-21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id="{CABFD287-D44C-411D-9667-E250086FCFE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38192" y="383161"/>
            <a:ext cx="8742450" cy="60916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734883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68E945A7-064A-44D2-B79A-48E50FCB50A2}"/>
                  </a:ext>
                </a:extLst>
              </p:cNvPr>
              <p:cNvSpPr txBox="1"/>
              <p:nvPr/>
            </p:nvSpPr>
            <p:spPr>
              <a:xfrm>
                <a:off x="149133" y="352697"/>
                <a:ext cx="2241369" cy="424731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b="1" dirty="0"/>
                  <a:t>Build slab with different sizes in z:</a:t>
                </a:r>
              </a:p>
              <a:p>
                <a:endParaRPr lang="en-US" dirty="0"/>
              </a:p>
              <a:p>
                <a:r>
                  <a:rPr lang="en-US" dirty="0"/>
                  <a:t>Unit cells </a:t>
                </a:r>
                <a:r>
                  <a:rPr lang="de-DE" dirty="0"/>
                  <a:t>24x24x</a:t>
                </a:r>
                <a:r>
                  <a:rPr lang="de-DE" b="1" dirty="0"/>
                  <a:t>15</a:t>
                </a:r>
                <a:endParaRPr lang="en-US" b="1" dirty="0"/>
              </a:p>
              <a:p>
                <a:r>
                  <a:rPr lang="en-US" dirty="0"/>
                  <a:t>R</a:t>
                </a:r>
                <a:r>
                  <a:rPr lang="en-IN" dirty="0" err="1"/>
                  <a:t>andom</a:t>
                </a:r>
                <a:r>
                  <a:rPr lang="en-IN" dirty="0"/>
                  <a:t> orientations</a:t>
                </a:r>
              </a:p>
              <a:p>
                <a:endParaRPr lang="en-IN" dirty="0"/>
              </a:p>
              <a:p>
                <a:r>
                  <a:rPr lang="en-IN" dirty="0"/>
                  <a:t>Frequency shifted (</a:t>
                </a:r>
                <a:r>
                  <a:rPr lang="el-GR" dirty="0"/>
                  <a:t>ν0 = </a:t>
                </a:r>
                <a:r>
                  <a:rPr lang="el-GR" b="1" dirty="0"/>
                  <a:t>21</a:t>
                </a:r>
                <a:r>
                  <a:rPr lang="de-DE" b="1" dirty="0"/>
                  <a:t>38.0</a:t>
                </a:r>
                <a:r>
                  <a:rPr lang="en-IN" b="1" dirty="0"/>
                  <a:t>), shifted afterwards by 1.03 cm-1 again. -&gt;f </a:t>
                </a:r>
                <a:r>
                  <a:rPr lang="en-IN" b="1" dirty="0" err="1"/>
                  <a:t>requencies</a:t>
                </a:r>
                <a:r>
                  <a:rPr lang="en-IN" b="1" dirty="0"/>
                  <a:t> can be shifted afterwards</a:t>
                </a:r>
              </a:p>
              <a:p>
                <a:endParaRPr lang="en-IN" dirty="0"/>
              </a:p>
              <a:p>
                <a:r>
                  <a:rPr lang="de-DE" dirty="0"/>
                  <a:t>Theta = 42°,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dirty="0"/>
                  <a:t>=0 and µ01 = 0.105</a:t>
                </a:r>
                <a:endParaRPr lang="en-IN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68E945A7-064A-44D2-B79A-48E50FCB50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9133" y="352697"/>
                <a:ext cx="2241369" cy="4247317"/>
              </a:xfrm>
              <a:prstGeom prst="rect">
                <a:avLst/>
              </a:prstGeom>
              <a:blipFill>
                <a:blip r:embed="rId3"/>
                <a:stretch>
                  <a:fillRect l="-2174" t="-861" r="-2446" b="-12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id="{CABFD287-D44C-411D-9667-E250086FCFE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839653" y="383161"/>
            <a:ext cx="8739528" cy="60916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928277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68E945A7-064A-44D2-B79A-48E50FCB50A2}"/>
                  </a:ext>
                </a:extLst>
              </p:cNvPr>
              <p:cNvSpPr txBox="1"/>
              <p:nvPr/>
            </p:nvSpPr>
            <p:spPr>
              <a:xfrm>
                <a:off x="149133" y="352697"/>
                <a:ext cx="2241369" cy="31393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b="1" dirty="0"/>
                  <a:t>Build slab with different sizes in z:</a:t>
                </a:r>
              </a:p>
              <a:p>
                <a:endParaRPr lang="en-US" dirty="0"/>
              </a:p>
              <a:p>
                <a:r>
                  <a:rPr lang="en-US" dirty="0"/>
                  <a:t>Unit cells </a:t>
                </a:r>
                <a:r>
                  <a:rPr lang="de-DE" dirty="0"/>
                  <a:t>24x24x15</a:t>
                </a:r>
                <a:endParaRPr lang="en-US" dirty="0"/>
              </a:p>
              <a:p>
                <a:r>
                  <a:rPr lang="en-US" dirty="0"/>
                  <a:t>R</a:t>
                </a:r>
                <a:r>
                  <a:rPr lang="en-IN" dirty="0" err="1"/>
                  <a:t>andom</a:t>
                </a:r>
                <a:r>
                  <a:rPr lang="en-IN" dirty="0"/>
                  <a:t> orientations</a:t>
                </a:r>
              </a:p>
              <a:p>
                <a:endParaRPr lang="en-IN" dirty="0"/>
              </a:p>
              <a:p>
                <a:r>
                  <a:rPr lang="en-IN" dirty="0"/>
                  <a:t>Frequency shifted (</a:t>
                </a:r>
                <a:r>
                  <a:rPr lang="el-GR" dirty="0"/>
                  <a:t>ν0 = 2136.97</a:t>
                </a:r>
                <a:r>
                  <a:rPr lang="en-IN" dirty="0"/>
                  <a:t>)</a:t>
                </a:r>
              </a:p>
              <a:p>
                <a:endParaRPr lang="en-IN" dirty="0"/>
              </a:p>
              <a:p>
                <a:r>
                  <a:rPr lang="de-DE" dirty="0"/>
                  <a:t>Theta = </a:t>
                </a:r>
                <a:r>
                  <a:rPr lang="de-DE" b="1" dirty="0"/>
                  <a:t>43</a:t>
                </a:r>
                <a:r>
                  <a:rPr lang="de-DE" dirty="0"/>
                  <a:t>°,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dirty="0"/>
                  <a:t>=0 and µ01 = 0.105</a:t>
                </a:r>
                <a:endParaRPr lang="en-IN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68E945A7-064A-44D2-B79A-48E50FCB50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9133" y="352697"/>
                <a:ext cx="2241369" cy="3139321"/>
              </a:xfrm>
              <a:prstGeom prst="rect">
                <a:avLst/>
              </a:prstGeom>
              <a:blipFill>
                <a:blip r:embed="rId3"/>
                <a:stretch>
                  <a:fillRect l="-2174" t="-1165" r="-2446" b="-21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id="{CABFD287-D44C-411D-9667-E250086FCFE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839653" y="383161"/>
            <a:ext cx="8739528" cy="60916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060752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1E20137-DC67-9E6F-8602-3B57C6F949B9}"/>
              </a:ext>
            </a:extLst>
          </p:cNvPr>
          <p:cNvSpPr txBox="1"/>
          <p:nvPr/>
        </p:nvSpPr>
        <p:spPr>
          <a:xfrm>
            <a:off x="267129" y="186892"/>
            <a:ext cx="7736494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u="sng" dirty="0"/>
              <a:t>Convergence tests with periodic boundary conditions switched on for all axis:</a:t>
            </a:r>
          </a:p>
          <a:p>
            <a:endParaRPr lang="en-US" dirty="0"/>
          </a:p>
          <a:p>
            <a:r>
              <a:rPr lang="en-US" dirty="0"/>
              <a:t>2x2x2:</a:t>
            </a:r>
          </a:p>
          <a:p>
            <a:endParaRPr lang="en-US" dirty="0"/>
          </a:p>
          <a:p>
            <a:r>
              <a:rPr lang="en-US" dirty="0"/>
              <a:t>rand on</a:t>
            </a:r>
          </a:p>
          <a:p>
            <a:br>
              <a:rPr lang="en-US" dirty="0"/>
            </a:br>
            <a:r>
              <a:rPr lang="el-GR" dirty="0"/>
              <a:t>ν0 = 2136.97</a:t>
            </a:r>
            <a:endParaRPr lang="en-US" dirty="0"/>
          </a:p>
          <a:p>
            <a:r>
              <a:rPr lang="en-US" dirty="0"/>
              <a:t>43° </a:t>
            </a:r>
            <a:r>
              <a:rPr lang="en-US" dirty="0" err="1"/>
              <a:t>inc</a:t>
            </a:r>
            <a:br>
              <a:rPr lang="en-US" dirty="0"/>
            </a:br>
            <a:r>
              <a:rPr lang="el-GR" dirty="0"/>
              <a:t>α = 0*</a:t>
            </a:r>
            <a:r>
              <a:rPr lang="en-US" dirty="0"/>
              <a:t>degrees </a:t>
            </a:r>
          </a:p>
          <a:p>
            <a:endParaRPr lang="en-US" dirty="0"/>
          </a:p>
        </p:txBody>
      </p:sp>
      <p:pic>
        <p:nvPicPr>
          <p:cNvPr id="6" name="Picture 5" descr="A graph of a graph&#10;&#10;Description automatically generated">
            <a:extLst>
              <a:ext uri="{FF2B5EF4-FFF2-40B4-BE49-F238E27FC236}">
                <a16:creationId xmlns:a16="http://schemas.microsoft.com/office/drawing/2014/main" id="{3CC08F09-43EA-D5E8-564D-0D84DF7CCA9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96829" y="498320"/>
            <a:ext cx="8598342" cy="60137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560195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3E6FA3-D855-B3C2-DC5E-4EA053AEE7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DF019E1-7EB8-788F-DBE9-76A9B1F5F21E}"/>
              </a:ext>
            </a:extLst>
          </p:cNvPr>
          <p:cNvSpPr txBox="1"/>
          <p:nvPr/>
        </p:nvSpPr>
        <p:spPr>
          <a:xfrm>
            <a:off x="588515" y="186892"/>
            <a:ext cx="7415107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Convergence tests with periodic boundary conditions switched on for all axis:</a:t>
            </a:r>
          </a:p>
          <a:p>
            <a:endParaRPr lang="en-US" dirty="0"/>
          </a:p>
          <a:p>
            <a:r>
              <a:rPr lang="en-US" dirty="0"/>
              <a:t>4x4x4:</a:t>
            </a:r>
          </a:p>
          <a:p>
            <a:endParaRPr lang="en-US" dirty="0"/>
          </a:p>
          <a:p>
            <a:r>
              <a:rPr lang="en-US" dirty="0"/>
              <a:t>rand on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84F4CB8-890B-7D93-3EDB-C5457F9E179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800458" y="498320"/>
            <a:ext cx="8591083" cy="60137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646118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DAAC95-15B2-FF6A-91BA-F109D2928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61C44AC-D60E-312F-BE2F-DEB120A01AD9}"/>
              </a:ext>
            </a:extLst>
          </p:cNvPr>
          <p:cNvSpPr txBox="1"/>
          <p:nvPr/>
        </p:nvSpPr>
        <p:spPr>
          <a:xfrm>
            <a:off x="588515" y="186892"/>
            <a:ext cx="7415107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Convergence tests with periodic boundary conditions switched on for all axis:</a:t>
            </a:r>
          </a:p>
          <a:p>
            <a:endParaRPr lang="en-US" dirty="0"/>
          </a:p>
          <a:p>
            <a:r>
              <a:rPr lang="en-US" dirty="0"/>
              <a:t>6x6x6:</a:t>
            </a:r>
          </a:p>
          <a:p>
            <a:endParaRPr lang="en-US" dirty="0"/>
          </a:p>
          <a:p>
            <a:r>
              <a:rPr lang="en-US" dirty="0"/>
              <a:t>rand on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3A1C5D7-FE94-4AFC-773E-B3FFEBB0D55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800458" y="498320"/>
            <a:ext cx="8591083" cy="60137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856606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6BFAE4-B7EB-351F-CEB2-C048B7194D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4FC55C8-58CE-8C73-E378-89A05F1B904F}"/>
              </a:ext>
            </a:extLst>
          </p:cNvPr>
          <p:cNvSpPr txBox="1"/>
          <p:nvPr/>
        </p:nvSpPr>
        <p:spPr>
          <a:xfrm>
            <a:off x="588515" y="186892"/>
            <a:ext cx="7415107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Convergence tests with periodic boundary conditions switched on for all axis:</a:t>
            </a:r>
          </a:p>
          <a:p>
            <a:endParaRPr lang="en-US" dirty="0"/>
          </a:p>
          <a:p>
            <a:r>
              <a:rPr lang="en-US" dirty="0"/>
              <a:t>8x8x8:</a:t>
            </a:r>
          </a:p>
          <a:p>
            <a:endParaRPr lang="en-US" dirty="0"/>
          </a:p>
          <a:p>
            <a:r>
              <a:rPr lang="en-US" dirty="0"/>
              <a:t>rand on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659667F-70DE-3C8B-FBE1-63C58350B12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800458" y="498320"/>
            <a:ext cx="8591082" cy="60137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423882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6919F3-69E6-4D51-2BAB-2AC2FFC034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26E0C7A-97F6-3544-C2A3-1B4812377492}"/>
              </a:ext>
            </a:extLst>
          </p:cNvPr>
          <p:cNvSpPr txBox="1"/>
          <p:nvPr/>
        </p:nvSpPr>
        <p:spPr>
          <a:xfrm>
            <a:off x="588515" y="186892"/>
            <a:ext cx="7415107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Convergence tests with periodic boundary conditions switched on for all axis:</a:t>
            </a:r>
          </a:p>
          <a:p>
            <a:endParaRPr lang="en-US" dirty="0"/>
          </a:p>
          <a:p>
            <a:r>
              <a:rPr lang="en-US" dirty="0"/>
              <a:t>10x10x10:</a:t>
            </a:r>
          </a:p>
          <a:p>
            <a:endParaRPr lang="en-US" dirty="0"/>
          </a:p>
          <a:p>
            <a:r>
              <a:rPr lang="en-US" dirty="0"/>
              <a:t>rand on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687531E-CB97-BAFB-C259-38EA788C84A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800458" y="498320"/>
            <a:ext cx="8591082" cy="60137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183091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986D0B-E0D4-5F8D-8CB5-F6941C35E5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F481639-6E5A-D94F-EF72-AE74561B2BAC}"/>
              </a:ext>
            </a:extLst>
          </p:cNvPr>
          <p:cNvSpPr txBox="1"/>
          <p:nvPr/>
        </p:nvSpPr>
        <p:spPr>
          <a:xfrm>
            <a:off x="588515" y="186892"/>
            <a:ext cx="7415107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Convergence tests with periodic boundary conditions switched on for all axis:</a:t>
            </a:r>
          </a:p>
          <a:p>
            <a:endParaRPr lang="en-US" dirty="0"/>
          </a:p>
          <a:p>
            <a:r>
              <a:rPr lang="en-US" dirty="0"/>
              <a:t>12x12x12:</a:t>
            </a:r>
          </a:p>
          <a:p>
            <a:endParaRPr lang="en-US" dirty="0"/>
          </a:p>
          <a:p>
            <a:r>
              <a:rPr lang="en-US" dirty="0"/>
              <a:t>rand on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1CEDE5B-C8D5-AC66-F247-703555BDD3F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800459" y="498320"/>
            <a:ext cx="8591080" cy="60137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330911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DEAB85-8F5C-838A-06D7-340A763290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E80F9E5-CDD0-3D38-BC20-F19BF2D369C8}"/>
              </a:ext>
            </a:extLst>
          </p:cNvPr>
          <p:cNvSpPr txBox="1"/>
          <p:nvPr/>
        </p:nvSpPr>
        <p:spPr>
          <a:xfrm>
            <a:off x="588515" y="186892"/>
            <a:ext cx="7415107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Convergence tests with periodic boundary conditions switched on for all axis:</a:t>
            </a:r>
          </a:p>
          <a:p>
            <a:endParaRPr lang="en-US" dirty="0"/>
          </a:p>
          <a:p>
            <a:r>
              <a:rPr lang="en-US" dirty="0"/>
              <a:t>14x14x14:</a:t>
            </a:r>
          </a:p>
          <a:p>
            <a:endParaRPr lang="en-US" dirty="0"/>
          </a:p>
          <a:p>
            <a:r>
              <a:rPr lang="en-US" dirty="0"/>
              <a:t>rand on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06D856C-9BB0-2E01-5D31-6FF1FD80CA8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800459" y="498320"/>
            <a:ext cx="8591080" cy="60137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640012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DC9CFD-655E-1E98-2B46-831965C366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4968B11-7C00-5A4E-10D7-EBC4350C7406}"/>
              </a:ext>
            </a:extLst>
          </p:cNvPr>
          <p:cNvSpPr txBox="1"/>
          <p:nvPr/>
        </p:nvSpPr>
        <p:spPr>
          <a:xfrm>
            <a:off x="588515" y="186892"/>
            <a:ext cx="7415107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Convergence tests with periodic boundary conditions switched on for all axis:</a:t>
            </a:r>
          </a:p>
          <a:p>
            <a:endParaRPr lang="en-US" dirty="0"/>
          </a:p>
          <a:p>
            <a:r>
              <a:rPr lang="en-US" dirty="0"/>
              <a:t>16x16x16:</a:t>
            </a:r>
          </a:p>
          <a:p>
            <a:endParaRPr lang="en-US" dirty="0"/>
          </a:p>
          <a:p>
            <a:r>
              <a:rPr lang="en-US" dirty="0"/>
              <a:t>rand on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E363934-18BA-31EC-7369-2F650775522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800459" y="498320"/>
            <a:ext cx="8591079" cy="60137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443460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75211E-1102-2FD0-78EB-C9FCAC9F3E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C4E9728-04D8-EA48-D9FD-118A37B4EA16}"/>
              </a:ext>
            </a:extLst>
          </p:cNvPr>
          <p:cNvSpPr txBox="1"/>
          <p:nvPr/>
        </p:nvSpPr>
        <p:spPr>
          <a:xfrm>
            <a:off x="588515" y="186892"/>
            <a:ext cx="7415107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Convergence tests with periodic boundary conditions switched on for all axis:</a:t>
            </a:r>
          </a:p>
          <a:p>
            <a:endParaRPr lang="en-US" dirty="0"/>
          </a:p>
          <a:p>
            <a:r>
              <a:rPr lang="en-US" dirty="0"/>
              <a:t>18x18x18:</a:t>
            </a:r>
          </a:p>
          <a:p>
            <a:endParaRPr lang="en-US" dirty="0"/>
          </a:p>
          <a:p>
            <a:r>
              <a:rPr lang="en-US" dirty="0"/>
              <a:t>rand on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EAF8022-5C1E-65B1-9434-4302CEA63DA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800459" y="516344"/>
            <a:ext cx="8591079" cy="59777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233818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75211E-1102-2FD0-78EB-C9FCAC9F3E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C4E9728-04D8-EA48-D9FD-118A37B4EA16}"/>
              </a:ext>
            </a:extLst>
          </p:cNvPr>
          <p:cNvSpPr txBox="1"/>
          <p:nvPr/>
        </p:nvSpPr>
        <p:spPr>
          <a:xfrm>
            <a:off x="588515" y="186892"/>
            <a:ext cx="7415107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Convergence tests with periodic boundary conditions switched on for all axis:</a:t>
            </a:r>
          </a:p>
          <a:p>
            <a:endParaRPr lang="en-US" dirty="0"/>
          </a:p>
          <a:p>
            <a:r>
              <a:rPr lang="en-US" dirty="0"/>
              <a:t>20x20x20:</a:t>
            </a:r>
          </a:p>
          <a:p>
            <a:endParaRPr lang="en-US" dirty="0"/>
          </a:p>
          <a:p>
            <a:r>
              <a:rPr lang="en-US" dirty="0"/>
              <a:t>rand on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EAF8022-5C1E-65B1-9434-4302CEA63DA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800460" y="516344"/>
            <a:ext cx="8591077" cy="59777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958995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75211E-1102-2FD0-78EB-C9FCAC9F3E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C4E9728-04D8-EA48-D9FD-118A37B4EA16}"/>
              </a:ext>
            </a:extLst>
          </p:cNvPr>
          <p:cNvSpPr txBox="1"/>
          <p:nvPr/>
        </p:nvSpPr>
        <p:spPr>
          <a:xfrm>
            <a:off x="588515" y="186892"/>
            <a:ext cx="7415107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Convergence tests with periodic boundary conditions switched on for all axis:</a:t>
            </a:r>
          </a:p>
          <a:p>
            <a:endParaRPr lang="en-US" dirty="0"/>
          </a:p>
          <a:p>
            <a:r>
              <a:rPr lang="en-US" dirty="0"/>
              <a:t>24x24x24:</a:t>
            </a:r>
          </a:p>
          <a:p>
            <a:endParaRPr lang="en-US" dirty="0"/>
          </a:p>
          <a:p>
            <a:r>
              <a:rPr lang="en-US" dirty="0"/>
              <a:t>rand on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EAF8022-5C1E-65B1-9434-4302CEA63DA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800460" y="516344"/>
            <a:ext cx="8591077" cy="59777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319593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0D48B3-26FB-0EFB-7B25-F53529CCB7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771C22A-455B-B86F-8D82-0826CE3B49E5}"/>
              </a:ext>
            </a:extLst>
          </p:cNvPr>
          <p:cNvSpPr txBox="1"/>
          <p:nvPr/>
        </p:nvSpPr>
        <p:spPr>
          <a:xfrm>
            <a:off x="39876" y="52141"/>
            <a:ext cx="10300127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u="sng" dirty="0"/>
              <a:t>Convergence tests for interaction cut-off radius with periodic boundary conditions switched on for all axis:</a:t>
            </a:r>
          </a:p>
          <a:p>
            <a:endParaRPr lang="en-US" dirty="0"/>
          </a:p>
          <a:p>
            <a:r>
              <a:rPr lang="en-US" dirty="0"/>
              <a:t>10x10x10:</a:t>
            </a:r>
          </a:p>
          <a:p>
            <a:endParaRPr lang="en-US" dirty="0"/>
          </a:p>
          <a:p>
            <a:r>
              <a:rPr lang="en-US" dirty="0"/>
              <a:t>rand on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2B484E92-8CBA-ECD4-5D1F-6BC1950F98B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84603410"/>
              </p:ext>
            </p:extLst>
          </p:nvPr>
        </p:nvGraphicFramePr>
        <p:xfrm>
          <a:off x="969697" y="1001722"/>
          <a:ext cx="3013023" cy="559894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9183">
                  <a:extLst>
                    <a:ext uri="{9D8B030D-6E8A-4147-A177-3AD203B41FA5}">
                      <a16:colId xmlns:a16="http://schemas.microsoft.com/office/drawing/2014/main" val="3041696817"/>
                    </a:ext>
                  </a:extLst>
                </a:gridCol>
                <a:gridCol w="1513840">
                  <a:extLst>
                    <a:ext uri="{9D8B030D-6E8A-4147-A177-3AD203B41FA5}">
                      <a16:colId xmlns:a16="http://schemas.microsoft.com/office/drawing/2014/main" val="749998270"/>
                    </a:ext>
                  </a:extLst>
                </a:gridCol>
              </a:tblGrid>
              <a:tr h="933157">
                <a:tc>
                  <a:txBody>
                    <a:bodyPr/>
                    <a:lstStyle/>
                    <a:p>
                      <a:r>
                        <a:rPr lang="en-US" dirty="0"/>
                        <a:t>Cut-off radius</a:t>
                      </a:r>
                      <a:br>
                        <a:rPr lang="en-US" dirty="0"/>
                      </a:br>
                      <a:r>
                        <a:rPr lang="en-US" dirty="0"/>
                        <a:t>/</a:t>
                      </a:r>
                      <a:r>
                        <a:rPr lang="en-US" baseline="0" dirty="0"/>
                        <a:t> m</a:t>
                      </a:r>
                      <a:endParaRPr lang="en-GB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60345435"/>
                  </a:ext>
                </a:extLst>
              </a:tr>
              <a:tr h="933157">
                <a:tc>
                  <a:txBody>
                    <a:bodyPr/>
                    <a:lstStyle/>
                    <a:p>
                      <a:r>
                        <a:rPr lang="en-US" dirty="0"/>
                        <a:t>5e-9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42457237"/>
                  </a:ext>
                </a:extLst>
              </a:tr>
              <a:tr h="933157">
                <a:tc>
                  <a:txBody>
                    <a:bodyPr/>
                    <a:lstStyle/>
                    <a:p>
                      <a:r>
                        <a:rPr lang="en-US" dirty="0"/>
                        <a:t>1e-8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23443781"/>
                  </a:ext>
                </a:extLst>
              </a:tr>
              <a:tr h="93315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1e-7</a:t>
                      </a:r>
                    </a:p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21987831"/>
                  </a:ext>
                </a:extLst>
              </a:tr>
              <a:tr h="93315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1e-14</a:t>
                      </a:r>
                    </a:p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94096912"/>
                  </a:ext>
                </a:extLst>
              </a:tr>
              <a:tr h="93315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1e-13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9595658"/>
                  </a:ext>
                </a:extLst>
              </a:tr>
            </a:tbl>
          </a:graphicData>
        </a:graphic>
      </p:graphicFrame>
      <p:pic>
        <p:nvPicPr>
          <p:cNvPr id="5" name="Picture 4" descr="A graph of a graph&#10;&#10;Description automatically generated">
            <a:extLst>
              <a:ext uri="{FF2B5EF4-FFF2-40B4-BE49-F238E27FC236}">
                <a16:creationId xmlns:a16="http://schemas.microsoft.com/office/drawing/2014/main" id="{D8BCAF49-A15D-4F73-FEC1-84D51694E8F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8496" y="1916535"/>
            <a:ext cx="1364007" cy="954000"/>
          </a:xfrm>
          <a:prstGeom prst="rect">
            <a:avLst/>
          </a:prstGeom>
        </p:spPr>
      </p:pic>
      <p:pic>
        <p:nvPicPr>
          <p:cNvPr id="7" name="Picture 6" descr="A graph of a graph&#10;&#10;Description automatically generated">
            <a:extLst>
              <a:ext uri="{FF2B5EF4-FFF2-40B4-BE49-F238E27FC236}">
                <a16:creationId xmlns:a16="http://schemas.microsoft.com/office/drawing/2014/main" id="{E7A65CA0-22E9-B005-6071-3D2B7D1886A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8495" y="2846269"/>
            <a:ext cx="1364008" cy="95400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44C96162-6E7E-ECCF-A893-42131CF2B2A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8495" y="4679494"/>
            <a:ext cx="1364009" cy="954000"/>
          </a:xfrm>
          <a:prstGeom prst="rect">
            <a:avLst/>
          </a:prstGeom>
        </p:spPr>
      </p:pic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B7598237-CB6A-95F9-DE69-E555A3EF952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20283295"/>
              </p:ext>
            </p:extLst>
          </p:nvPr>
        </p:nvGraphicFramePr>
        <p:xfrm>
          <a:off x="3982720" y="999666"/>
          <a:ext cx="3078480" cy="559894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43407">
                  <a:extLst>
                    <a:ext uri="{9D8B030D-6E8A-4147-A177-3AD203B41FA5}">
                      <a16:colId xmlns:a16="http://schemas.microsoft.com/office/drawing/2014/main" val="3041696817"/>
                    </a:ext>
                  </a:extLst>
                </a:gridCol>
                <a:gridCol w="1535073">
                  <a:extLst>
                    <a:ext uri="{9D8B030D-6E8A-4147-A177-3AD203B41FA5}">
                      <a16:colId xmlns:a16="http://schemas.microsoft.com/office/drawing/2014/main" val="749998270"/>
                    </a:ext>
                  </a:extLst>
                </a:gridCol>
              </a:tblGrid>
              <a:tr h="933157">
                <a:tc>
                  <a:txBody>
                    <a:bodyPr/>
                    <a:lstStyle/>
                    <a:p>
                      <a:r>
                        <a:rPr lang="en-US" dirty="0"/>
                        <a:t>Cut-off radius</a:t>
                      </a:r>
                      <a:br>
                        <a:rPr lang="en-US" dirty="0"/>
                      </a:br>
                      <a:r>
                        <a:rPr lang="en-US" dirty="0"/>
                        <a:t>/</a:t>
                      </a:r>
                      <a:r>
                        <a:rPr lang="en-US" baseline="0" dirty="0"/>
                        <a:t> m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60345435"/>
                  </a:ext>
                </a:extLst>
              </a:tr>
              <a:tr h="933157">
                <a:tc>
                  <a:txBody>
                    <a:bodyPr/>
                    <a:lstStyle/>
                    <a:p>
                      <a:r>
                        <a:rPr lang="en-GB" dirty="0"/>
                        <a:t>1e-12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42457237"/>
                  </a:ext>
                </a:extLst>
              </a:tr>
              <a:tr h="933157">
                <a:tc>
                  <a:txBody>
                    <a:bodyPr/>
                    <a:lstStyle/>
                    <a:p>
                      <a:r>
                        <a:rPr lang="en-GB" dirty="0"/>
                        <a:t>1e-11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23443781"/>
                  </a:ext>
                </a:extLst>
              </a:tr>
              <a:tr h="933157">
                <a:tc>
                  <a:txBody>
                    <a:bodyPr/>
                    <a:lstStyle/>
                    <a:p>
                      <a:r>
                        <a:rPr lang="en-GB" dirty="0"/>
                        <a:t>1e-10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21987831"/>
                  </a:ext>
                </a:extLst>
              </a:tr>
              <a:tr h="933157">
                <a:tc>
                  <a:txBody>
                    <a:bodyPr/>
                    <a:lstStyle/>
                    <a:p>
                      <a:r>
                        <a:rPr lang="en-GB" dirty="0"/>
                        <a:t>1e-9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94096912"/>
                  </a:ext>
                </a:extLst>
              </a:tr>
              <a:tr h="93315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8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1e-8</a:t>
                      </a:r>
                      <a:endParaRPr lang="en-US" sz="1800" b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9595658"/>
                  </a:ext>
                </a:extLst>
              </a:tr>
            </a:tbl>
          </a:graphicData>
        </a:graphic>
      </p:graphicFrame>
      <p:pic>
        <p:nvPicPr>
          <p:cNvPr id="14" name="Picture 13">
            <a:extLst>
              <a:ext uri="{FF2B5EF4-FFF2-40B4-BE49-F238E27FC236}">
                <a16:creationId xmlns:a16="http://schemas.microsoft.com/office/drawing/2014/main" id="{4E7F706C-64FB-CCFC-4E92-D09BD546A05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8495" y="5657951"/>
            <a:ext cx="1364009" cy="95400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A79792D1-C3F2-A3E1-EC89-544E86A261B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18571" y="1933558"/>
            <a:ext cx="1364009" cy="954000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3321F029-9C1A-E74E-FDDC-4EF57034E2C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18571" y="2871459"/>
            <a:ext cx="1364008" cy="954000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4BF624D0-4A75-F8FF-CD59-34E1E334620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18571" y="3801193"/>
            <a:ext cx="1364009" cy="954000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8EEE63A4-848A-9D4A-98BB-D774114CBF8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18571" y="4753679"/>
            <a:ext cx="1364008" cy="954000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3A1BBBA6-EBA5-C048-0E3D-A76A3B8A15A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18571" y="5692056"/>
            <a:ext cx="1364008" cy="954000"/>
          </a:xfrm>
          <a:prstGeom prst="rect">
            <a:avLst/>
          </a:prstGeom>
        </p:spPr>
      </p:pic>
      <p:graphicFrame>
        <p:nvGraphicFramePr>
          <p:cNvPr id="25" name="Table 24">
            <a:extLst>
              <a:ext uri="{FF2B5EF4-FFF2-40B4-BE49-F238E27FC236}">
                <a16:creationId xmlns:a16="http://schemas.microsoft.com/office/drawing/2014/main" id="{3826FCE2-ACD9-AB39-5EF8-FFFC663D14D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92552085"/>
              </p:ext>
            </p:extLst>
          </p:nvPr>
        </p:nvGraphicFramePr>
        <p:xfrm>
          <a:off x="7050943" y="1001723"/>
          <a:ext cx="3007457" cy="559894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43407">
                  <a:extLst>
                    <a:ext uri="{9D8B030D-6E8A-4147-A177-3AD203B41FA5}">
                      <a16:colId xmlns:a16="http://schemas.microsoft.com/office/drawing/2014/main" val="3041696817"/>
                    </a:ext>
                  </a:extLst>
                </a:gridCol>
                <a:gridCol w="1464050">
                  <a:extLst>
                    <a:ext uri="{9D8B030D-6E8A-4147-A177-3AD203B41FA5}">
                      <a16:colId xmlns:a16="http://schemas.microsoft.com/office/drawing/2014/main" val="749998270"/>
                    </a:ext>
                  </a:extLst>
                </a:gridCol>
              </a:tblGrid>
              <a:tr h="933157">
                <a:tc>
                  <a:txBody>
                    <a:bodyPr/>
                    <a:lstStyle/>
                    <a:p>
                      <a:r>
                        <a:rPr lang="en-US" dirty="0"/>
                        <a:t>Cut-off radius</a:t>
                      </a:r>
                      <a:br>
                        <a:rPr lang="en-US" dirty="0"/>
                      </a:br>
                      <a:r>
                        <a:rPr lang="en-US" dirty="0"/>
                        <a:t>/</a:t>
                      </a:r>
                      <a:r>
                        <a:rPr lang="en-US" baseline="0" dirty="0"/>
                        <a:t> m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60345435"/>
                  </a:ext>
                </a:extLst>
              </a:tr>
              <a:tr h="933157">
                <a:tc>
                  <a:txBody>
                    <a:bodyPr/>
                    <a:lstStyle/>
                    <a:p>
                      <a:r>
                        <a:rPr lang="en-GB" dirty="0"/>
                        <a:t>3e-10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42457237"/>
                  </a:ext>
                </a:extLst>
              </a:tr>
              <a:tr h="933157">
                <a:tc>
                  <a:txBody>
                    <a:bodyPr/>
                    <a:lstStyle/>
                    <a:p>
                      <a:r>
                        <a:rPr lang="en-GB" dirty="0"/>
                        <a:t>4e-10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23443781"/>
                  </a:ext>
                </a:extLst>
              </a:tr>
              <a:tr h="933157">
                <a:tc>
                  <a:txBody>
                    <a:bodyPr/>
                    <a:lstStyle/>
                    <a:p>
                      <a:r>
                        <a:rPr lang="en-GB" dirty="0"/>
                        <a:t>5e-10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21987831"/>
                  </a:ext>
                </a:extLst>
              </a:tr>
              <a:tr h="933157">
                <a:tc>
                  <a:txBody>
                    <a:bodyPr/>
                    <a:lstStyle/>
                    <a:p>
                      <a:r>
                        <a:rPr lang="en-GB" dirty="0"/>
                        <a:t>7e-10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94096912"/>
                  </a:ext>
                </a:extLst>
              </a:tr>
              <a:tr h="933157">
                <a:tc>
                  <a:txBody>
                    <a:bodyPr/>
                    <a:lstStyle/>
                    <a:p>
                      <a:r>
                        <a:rPr lang="en-GB" dirty="0"/>
                        <a:t>9e-10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9595658"/>
                  </a:ext>
                </a:extLst>
              </a:tr>
            </a:tbl>
          </a:graphicData>
        </a:graphic>
      </p:graphicFrame>
      <p:pic>
        <p:nvPicPr>
          <p:cNvPr id="30" name="Picture 29" descr="A graph of a graph&#10;&#10;Description automatically generated">
            <a:extLst>
              <a:ext uri="{FF2B5EF4-FFF2-40B4-BE49-F238E27FC236}">
                <a16:creationId xmlns:a16="http://schemas.microsoft.com/office/drawing/2014/main" id="{01AED83C-9CB7-DEB5-6B18-4F8F3321A9D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18430" y="1942842"/>
            <a:ext cx="1364009" cy="954000"/>
          </a:xfrm>
          <a:prstGeom prst="rect">
            <a:avLst/>
          </a:prstGeom>
        </p:spPr>
      </p:pic>
      <p:pic>
        <p:nvPicPr>
          <p:cNvPr id="32" name="Picture 31" descr="A graph of a graph&#10;&#10;Description automatically generated">
            <a:extLst>
              <a:ext uri="{FF2B5EF4-FFF2-40B4-BE49-F238E27FC236}">
                <a16:creationId xmlns:a16="http://schemas.microsoft.com/office/drawing/2014/main" id="{20D33974-D10A-299F-B9AD-0A936028FCDC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18430" y="3829204"/>
            <a:ext cx="1364009" cy="954000"/>
          </a:xfrm>
          <a:prstGeom prst="rect">
            <a:avLst/>
          </a:prstGeom>
        </p:spPr>
      </p:pic>
      <p:pic>
        <p:nvPicPr>
          <p:cNvPr id="34" name="Picture 33" descr="A graph of a graph&#10;&#10;Description automatically generated">
            <a:extLst>
              <a:ext uri="{FF2B5EF4-FFF2-40B4-BE49-F238E27FC236}">
                <a16:creationId xmlns:a16="http://schemas.microsoft.com/office/drawing/2014/main" id="{E706CC21-816B-F7F9-1F7D-EA13D844510E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18431" y="4759654"/>
            <a:ext cx="1364009" cy="954000"/>
          </a:xfrm>
          <a:prstGeom prst="rect">
            <a:avLst/>
          </a:prstGeom>
        </p:spPr>
      </p:pic>
      <p:pic>
        <p:nvPicPr>
          <p:cNvPr id="36" name="Picture 35" descr="A graph of a graph&#10;&#10;Description automatically generated">
            <a:extLst>
              <a:ext uri="{FF2B5EF4-FFF2-40B4-BE49-F238E27FC236}">
                <a16:creationId xmlns:a16="http://schemas.microsoft.com/office/drawing/2014/main" id="{C8E1CCA4-04BE-8C73-B9C7-477717AA7713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18431" y="5692056"/>
            <a:ext cx="1364008" cy="954000"/>
          </a:xfrm>
          <a:prstGeom prst="rect">
            <a:avLst/>
          </a:prstGeom>
        </p:spPr>
      </p:pic>
      <p:pic>
        <p:nvPicPr>
          <p:cNvPr id="38" name="Picture 37" descr="A graph of a graph&#10;&#10;Description automatically generated">
            <a:extLst>
              <a:ext uri="{FF2B5EF4-FFF2-40B4-BE49-F238E27FC236}">
                <a16:creationId xmlns:a16="http://schemas.microsoft.com/office/drawing/2014/main" id="{D3E594B0-7BC9-B254-E3D7-38554A4BDDCB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18431" y="2874248"/>
            <a:ext cx="1364008" cy="954000"/>
          </a:xfrm>
          <a:prstGeom prst="rect">
            <a:avLst/>
          </a:prstGeom>
        </p:spPr>
      </p:pic>
      <p:pic>
        <p:nvPicPr>
          <p:cNvPr id="41" name="Picture 40" descr="A graph of a graph&#10;&#10;Description automatically generated">
            <a:extLst>
              <a:ext uri="{FF2B5EF4-FFF2-40B4-BE49-F238E27FC236}">
                <a16:creationId xmlns:a16="http://schemas.microsoft.com/office/drawing/2014/main" id="{2C1A57B6-99D6-89FE-DB5B-818795A3ADB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8494" y="3794785"/>
            <a:ext cx="1364008" cy="954000"/>
          </a:xfrm>
          <a:prstGeom prst="rect">
            <a:avLst/>
          </a:prstGeom>
        </p:spPr>
      </p:pic>
      <p:graphicFrame>
        <p:nvGraphicFramePr>
          <p:cNvPr id="42" name="Table 41">
            <a:extLst>
              <a:ext uri="{FF2B5EF4-FFF2-40B4-BE49-F238E27FC236}">
                <a16:creationId xmlns:a16="http://schemas.microsoft.com/office/drawing/2014/main" id="{2EA2D8DC-63D6-889C-3C88-C6364B8D5FD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90945745"/>
              </p:ext>
            </p:extLst>
          </p:nvPr>
        </p:nvGraphicFramePr>
        <p:xfrm>
          <a:off x="10014775" y="999626"/>
          <a:ext cx="2123537" cy="559894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84770">
                  <a:extLst>
                    <a:ext uri="{9D8B030D-6E8A-4147-A177-3AD203B41FA5}">
                      <a16:colId xmlns:a16="http://schemas.microsoft.com/office/drawing/2014/main" val="3041696817"/>
                    </a:ext>
                  </a:extLst>
                </a:gridCol>
                <a:gridCol w="1338767">
                  <a:extLst>
                    <a:ext uri="{9D8B030D-6E8A-4147-A177-3AD203B41FA5}">
                      <a16:colId xmlns:a16="http://schemas.microsoft.com/office/drawing/2014/main" val="749998270"/>
                    </a:ext>
                  </a:extLst>
                </a:gridCol>
              </a:tblGrid>
              <a:tr h="933157">
                <a:tc>
                  <a:txBody>
                    <a:bodyPr/>
                    <a:lstStyle/>
                    <a:p>
                      <a:r>
                        <a:rPr lang="en-US" dirty="0" err="1"/>
                        <a:t>R_cut</a:t>
                      </a:r>
                      <a:r>
                        <a:rPr lang="en-US" dirty="0"/>
                        <a:t> /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60345435"/>
                  </a:ext>
                </a:extLst>
              </a:tr>
              <a:tr h="93315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5.64e-10</a:t>
                      </a:r>
                    </a:p>
                    <a:p>
                      <a:r>
                        <a:rPr lang="en-GB" sz="1400" dirty="0"/>
                        <a:t>(a0_CO)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42457237"/>
                  </a:ext>
                </a:extLst>
              </a:tr>
              <a:tr h="933157">
                <a:tc>
                  <a:txBody>
                    <a:bodyPr/>
                    <a:lstStyle/>
                    <a:p>
                      <a:r>
                        <a:rPr lang="en-GB" dirty="0"/>
                        <a:t>1e-1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23443781"/>
                  </a:ext>
                </a:extLst>
              </a:tr>
              <a:tr h="933157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21987831"/>
                  </a:ext>
                </a:extLst>
              </a:tr>
              <a:tr h="933157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94096912"/>
                  </a:ext>
                </a:extLst>
              </a:tr>
              <a:tr h="933157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9595658"/>
                  </a:ext>
                </a:extLst>
              </a:tr>
            </a:tbl>
          </a:graphicData>
        </a:graphic>
      </p:graphicFrame>
      <p:pic>
        <p:nvPicPr>
          <p:cNvPr id="44" name="Picture 43" descr="A graph of a graph&#10;&#10;Description automatically generated">
            <a:extLst>
              <a:ext uri="{FF2B5EF4-FFF2-40B4-BE49-F238E27FC236}">
                <a16:creationId xmlns:a16="http://schemas.microsoft.com/office/drawing/2014/main" id="{52ADE5C3-E85D-74A8-19E4-34C41AA67E52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74304" y="1942842"/>
            <a:ext cx="1364008" cy="954000"/>
          </a:xfrm>
          <a:prstGeom prst="rect">
            <a:avLst/>
          </a:prstGeom>
        </p:spPr>
      </p:pic>
      <p:pic>
        <p:nvPicPr>
          <p:cNvPr id="47" name="Picture 46" descr="A graph of a graph&#10;&#10;Description automatically generated">
            <a:extLst>
              <a:ext uri="{FF2B5EF4-FFF2-40B4-BE49-F238E27FC236}">
                <a16:creationId xmlns:a16="http://schemas.microsoft.com/office/drawing/2014/main" id="{749002CE-ACEE-FD32-4E98-989DE21CCF1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74304" y="2833766"/>
            <a:ext cx="1364008" cy="95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167308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3">
            <a:extLst>
              <a:ext uri="{FF2B5EF4-FFF2-40B4-BE49-F238E27FC236}">
                <a16:creationId xmlns:a16="http://schemas.microsoft.com/office/drawing/2014/main" id="{D6409946-0CC4-462E-8F65-F54B9D3ABA1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85689211"/>
              </p:ext>
            </p:extLst>
          </p:nvPr>
        </p:nvGraphicFramePr>
        <p:xfrm>
          <a:off x="2032000" y="719666"/>
          <a:ext cx="8128000" cy="2966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4249004514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57438203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 err="1"/>
                        <a:t>copy_size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time / </a:t>
                      </a:r>
                      <a:r>
                        <a:rPr lang="de-DE" dirty="0" err="1"/>
                        <a:t>mins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402505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24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20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281827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34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OutOfMemoryError</a:t>
                      </a:r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() 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579952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25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27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839468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After 45 min </a:t>
                      </a:r>
                      <a:r>
                        <a:rPr lang="en-US" dirty="0" err="1"/>
                        <a:t>OutOfMemoryError</a:t>
                      </a:r>
                      <a:r>
                        <a:rPr lang="en-US" dirty="0"/>
                        <a:t>()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264050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47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217852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28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OutOfMemoryError</a:t>
                      </a:r>
                      <a:r>
                        <a:rPr lang="en-US" dirty="0"/>
                        <a:t>()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162328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27, </a:t>
                      </a:r>
                      <a:r>
                        <a:rPr lang="de-DE" dirty="0" err="1"/>
                        <a:t>no</a:t>
                      </a:r>
                      <a:r>
                        <a:rPr lang="de-DE" dirty="0"/>
                        <a:t> </a:t>
                      </a:r>
                      <a:r>
                        <a:rPr lang="de-DE" dirty="0" err="1"/>
                        <a:t>boundary</a:t>
                      </a:r>
                      <a:r>
                        <a:rPr lang="de-DE" dirty="0"/>
                        <a:t> </a:t>
                      </a:r>
                      <a:r>
                        <a:rPr lang="de-DE" dirty="0" err="1"/>
                        <a:t>cond</a:t>
                      </a:r>
                      <a:r>
                        <a:rPr lang="de-DE" dirty="0"/>
                        <a:t> in z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49 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24242424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3E5E1EC7-1E6E-4CD9-B930-2A6B35FBDE28}"/>
              </a:ext>
            </a:extLst>
          </p:cNvPr>
          <p:cNvSpPr txBox="1"/>
          <p:nvPr/>
        </p:nvSpPr>
        <p:spPr>
          <a:xfrm>
            <a:off x="408397" y="277670"/>
            <a:ext cx="609771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Testing of time of force calculation</a:t>
            </a:r>
          </a:p>
        </p:txBody>
      </p:sp>
    </p:spTree>
    <p:extLst>
      <p:ext uri="{BB962C8B-B14F-4D97-AF65-F5344CB8AC3E}">
        <p14:creationId xmlns:p14="http://schemas.microsoft.com/office/powerpoint/2010/main" val="406002713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1085</Words>
  <Application>Microsoft Office PowerPoint</Application>
  <PresentationFormat>Widescreen</PresentationFormat>
  <Paragraphs>320</Paragraphs>
  <Slides>36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42" baseType="lpstr">
      <vt:lpstr>Arial</vt:lpstr>
      <vt:lpstr>Calibri</vt:lpstr>
      <vt:lpstr>Calibri Light</vt:lpstr>
      <vt:lpstr>Cambria Math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Choudhury, Arnab</dc:creator>
  <cp:lastModifiedBy>Crowley, Daniel</cp:lastModifiedBy>
  <cp:revision>133</cp:revision>
  <dcterms:created xsi:type="dcterms:W3CDTF">2024-02-27T13:40:40Z</dcterms:created>
  <dcterms:modified xsi:type="dcterms:W3CDTF">2024-12-25T10:54:56Z</dcterms:modified>
</cp:coreProperties>
</file>